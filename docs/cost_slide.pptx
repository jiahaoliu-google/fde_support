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Expected cost of the FDE Support platform (modeled estimate, +/-40%, list prices us-central1, Oct 2026).</a:t>
            </a:r>
          </a:p>
          <a:p/>
          <a:p>
            <a:r>
              <a:t>Per AI turn = $0.0352: Gemini 2.5 Pro FAQ agent (~8K input / 2K output tokens incl. thinking) $0.0300, Agent Engine sessions (~7 events at $0.25/1K) $0.0018, Agent Engine compute (4 vCPU / 4 GiB, ~10 s busy) $0.0011, Gemini 2.5 Flash sentiment (~600 in / 350 out) $0.0011, Vertex AI Search ($1.50/1K x 60% of turns) $0.0009, Cloud Run + Trace + Logging $0.0003.</a:t>
            </a:r>
          </a:p>
          <a:p/>
          <a:p>
            <a:r>
              <a:t>Per ticket = 85% non-urgent x 2.5 AI turns x $0.0352 + 15% urgent x sentiment-only = ~$0.075 ($75 per 1K tickets).</a:t>
            </a:r>
          </a:p>
          <a:p/>
          <a:p>
            <a:r>
              <a:t>Fixed: prototype $29/mo (IAP external HTTPS load balancer $18.25, Cloud SQL db-f1-micro + 10 GB $9.37, registry/GCS/secrets ~$1-2). Production $230/mo (HA Cloud SQL db-custom-2-7680 ~$197, LB, Cloud Run backend min-instance ~$10).</a:t>
            </a:r>
          </a:p>
          <a:p/>
          <a:p>
            <a:r>
              <a:t>Risks: Agent Engine idle instances are not billed in Preview; at GA the defaults (min 1 instance, 4 vCPU / 4 GiB, x2 agents) would add ~$557/mo. Nightly 100-case eval on 2.5 Pro + judge ~$105/mo. Token counts are estimates until eval metrics M3/M4 record real usage_metadata.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A1338"/>
              </a:gs>
              <a:gs pos="100000">
                <a:srgbClr val="07131C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0C1C">
                  <a:alpha val="55000"/>
                </a:srgbClr>
              </a:gs>
              <a:gs pos="100000">
                <a:srgbClr val="070B14">
                  <a:alpha val="55000"/>
                </a:srgbClr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30200"/>
            <a:ext cx="6985000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spc="300">
                <a:solidFill>
                  <a:srgbClr val="C084FC"/>
                </a:solidFill>
                <a:latin typeface="Calibri"/>
              </a:rPr>
              <a:t>FDE SUPPORT PLATFORM · COST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20700"/>
            <a:ext cx="7937500" cy="4699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Expected cost: </a:t>
            </a:r>
            <a:r>
              <a:rPr sz="2800" b="1">
                <a:solidFill>
                  <a:srgbClr val="C4B5FD"/>
                </a:solidFill>
                <a:latin typeface="Calibri"/>
              </a:rPr>
              <a:t>~$0.075 per support ticket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31200" y="711200"/>
            <a:ext cx="1905000" cy="254000"/>
          </a:xfrm>
          <a:prstGeom prst="roundRect">
            <a:avLst>
              <a:gd name="adj" fmla="val 50000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8B95AB"/>
                </a:solidFill>
                <a:latin typeface="Calibri"/>
              </a:rPr>
              <a:t>List prices · us-central1 · Oct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25100" y="711200"/>
            <a:ext cx="1409700" cy="254000"/>
          </a:xfrm>
          <a:prstGeom prst="roundRect">
            <a:avLst>
              <a:gd name="adj" fmla="val 50000"/>
            </a:avLst>
          </a:prstGeom>
          <a:solidFill>
            <a:srgbClr val="1B1A12"/>
          </a:solidFill>
          <a:ln w="9525">
            <a:solidFill>
              <a:srgbClr val="4A3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50" b="1">
                <a:solidFill>
                  <a:srgbClr val="FBBF24"/>
                </a:solidFill>
                <a:latin typeface="Calibri"/>
              </a:rPr>
              <a:t>Modeled estimate · ±40%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68400"/>
            <a:ext cx="3657600" cy="1066800"/>
          </a:xfrm>
          <a:prstGeom prst="roundRect">
            <a:avLst>
              <a:gd name="adj" fmla="val 9523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3550" y="1270000"/>
            <a:ext cx="31750" cy="8636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700" y="1320800"/>
            <a:ext cx="3340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spc="150">
                <a:solidFill>
                  <a:srgbClr val="8B95AB"/>
                </a:solidFill>
                <a:latin typeface="Calibri"/>
              </a:rPr>
              <a:t>VARIABLE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1473200"/>
            <a:ext cx="3340100" cy="482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C084FC"/>
                </a:solidFill>
                <a:latin typeface="Calibri"/>
              </a:rPr>
              <a:t>$75</a:t>
            </a:r>
            <a:r>
              <a:rPr sz="1200" b="1">
                <a:solidFill>
                  <a:srgbClr val="8B95AB"/>
                </a:solidFill>
                <a:latin typeface="Calibri"/>
              </a:rPr>
              <a:t> / 1K 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1981200"/>
            <a:ext cx="33401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8ECF5"/>
                </a:solidFill>
                <a:latin typeface="Calibri"/>
              </a:rPr>
              <a:t>~2.1 AI-answered messages per ticket at $0.035 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1168400"/>
            <a:ext cx="3657600" cy="1066800"/>
          </a:xfrm>
          <a:prstGeom prst="roundRect">
            <a:avLst>
              <a:gd name="adj" fmla="val 9523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3550" y="1270000"/>
            <a:ext cx="31750" cy="8636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7700" y="1320800"/>
            <a:ext cx="3340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spc="150">
                <a:solidFill>
                  <a:srgbClr val="8B95AB"/>
                </a:solidFill>
                <a:latin typeface="Calibri"/>
              </a:rPr>
              <a:t>FIXED PLATFORM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700" y="1473200"/>
            <a:ext cx="3340100" cy="482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38BDF8"/>
                </a:solidFill>
                <a:latin typeface="Calibri"/>
              </a:rPr>
              <a:t>$29</a:t>
            </a:r>
            <a:r>
              <a:rPr sz="1200" b="1">
                <a:solidFill>
                  <a:srgbClr val="8B95AB"/>
                </a:solidFill>
                <a:latin typeface="Calibri"/>
              </a:rPr>
              <a:t> /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7700" y="1981200"/>
            <a:ext cx="33401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8ECF5"/>
                </a:solidFill>
                <a:latin typeface="Calibri"/>
              </a:rPr>
              <a:t>Prototype. Production with HA Cloud SQL: </a:t>
            </a:r>
            <a:r>
              <a:rPr sz="900" b="1">
                <a:solidFill>
                  <a:srgbClr val="FFFFFF"/>
                </a:solidFill>
                <a:latin typeface="Calibri"/>
              </a:rPr>
              <a:t>~$230 / 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1168400"/>
            <a:ext cx="3657600" cy="1066800"/>
          </a:xfrm>
          <a:prstGeom prst="roundRect">
            <a:avLst>
              <a:gd name="adj" fmla="val 9523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83550" y="1270000"/>
            <a:ext cx="31750" cy="863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7700" y="1320800"/>
            <a:ext cx="3340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spc="150">
                <a:solidFill>
                  <a:srgbClr val="8B95AB"/>
                </a:solidFill>
                <a:latin typeface="Calibri"/>
              </a:rPr>
              <a:t>AT LAUNCH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7700" y="1473200"/>
            <a:ext cx="3340100" cy="4826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3200" b="1">
                <a:solidFill>
                  <a:srgbClr val="22D3EE"/>
                </a:solidFill>
                <a:latin typeface="Calibri"/>
              </a:rPr>
              <a:t>$780</a:t>
            </a:r>
            <a:r>
              <a:rPr sz="1200" b="1">
                <a:solidFill>
                  <a:srgbClr val="8B95AB"/>
                </a:solidFill>
                <a:latin typeface="Calibri"/>
              </a:rPr>
              <a:t> /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7700" y="1981200"/>
            <a:ext cx="33401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E8ECF5"/>
                </a:solidFill>
                <a:latin typeface="Calibri"/>
              </a:rPr>
              <a:t>10,000 tickets / month, all-in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13000"/>
            <a:ext cx="5949950" cy="3048000"/>
          </a:xfrm>
          <a:prstGeom prst="roundRect">
            <a:avLst>
              <a:gd name="adj" fmla="val 3333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400" y="2578100"/>
            <a:ext cx="554355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ECF5"/>
                </a:solidFill>
                <a:latin typeface="Calibri"/>
              </a:rPr>
              <a:t>Where each AI turn's $0.035 goes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400" y="2806700"/>
            <a:ext cx="55435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8B95AB"/>
                </a:solidFill>
                <a:latin typeface="Calibri"/>
              </a:rPr>
              <a:t>One customer message answered by the AI (sentiment agent + FAQ agent)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400" y="3073400"/>
            <a:ext cx="4724616" cy="279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5016" y="3073400"/>
            <a:ext cx="283477" cy="2794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8493" y="3073400"/>
            <a:ext cx="173236" cy="2794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41729" y="3073400"/>
            <a:ext cx="173236" cy="2794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14965" y="3073400"/>
            <a:ext cx="141738" cy="279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6704" y="3073400"/>
            <a:ext cx="47246" cy="2794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60400" y="35560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900" y="3492500"/>
            <a:ext cx="3556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75" b="0">
                <a:solidFill>
                  <a:srgbClr val="E8ECF5"/>
                </a:solidFill>
                <a:latin typeface="Calibri"/>
              </a:rPr>
              <a:t>Gemini 2.5 Pro · FAQ agent (8K in / 2K out)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6450" y="34925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E8ECF5"/>
                </a:solidFill>
                <a:latin typeface="Consolas"/>
              </a:rPr>
              <a:t>$0.0300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32450" y="3492500"/>
            <a:ext cx="571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8B95AB"/>
                </a:solidFill>
                <a:latin typeface="Consolas"/>
              </a:rPr>
              <a:t>85%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0400" y="37846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900" y="3721100"/>
            <a:ext cx="3556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75" b="0">
                <a:solidFill>
                  <a:srgbClr val="E8ECF5"/>
                </a:solidFill>
                <a:latin typeface="Calibri"/>
              </a:rPr>
              <a:t>Agent Engine sessions (~7 events)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6450" y="37211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E8ECF5"/>
                </a:solidFill>
                <a:latin typeface="Consolas"/>
              </a:rPr>
              <a:t>$0.0018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32450" y="3721100"/>
            <a:ext cx="571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8B95AB"/>
                </a:solidFill>
                <a:latin typeface="Consolas"/>
              </a:rPr>
              <a:t>5%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0400" y="40132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900" y="3949700"/>
            <a:ext cx="3556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75" b="0">
                <a:solidFill>
                  <a:srgbClr val="E8ECF5"/>
                </a:solidFill>
                <a:latin typeface="Calibri"/>
              </a:rPr>
              <a:t>Agent Engine compute (4 vCPU, ~10 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6450" y="39497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E8ECF5"/>
                </a:solidFill>
                <a:latin typeface="Consolas"/>
              </a:rPr>
              <a:t>$0.0011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2450" y="3949700"/>
            <a:ext cx="571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8B95AB"/>
                </a:solidFill>
                <a:latin typeface="Consolas"/>
              </a:rPr>
              <a:t>3%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0400" y="42418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900" y="4178300"/>
            <a:ext cx="3556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75" b="0">
                <a:solidFill>
                  <a:srgbClr val="E8ECF5"/>
                </a:solidFill>
                <a:latin typeface="Calibri"/>
              </a:rPr>
              <a:t>Gemini 2.5 Flash · sentiment agent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16450" y="41783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E8ECF5"/>
                </a:solidFill>
                <a:latin typeface="Consolas"/>
              </a:rPr>
              <a:t>$0.0011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32450" y="4178300"/>
            <a:ext cx="571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8B95AB"/>
                </a:solidFill>
                <a:latin typeface="Consolas"/>
              </a:rPr>
              <a:t>3%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0400" y="44704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0900" y="4406900"/>
            <a:ext cx="3556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75" b="0">
                <a:solidFill>
                  <a:srgbClr val="E8ECF5"/>
                </a:solidFill>
                <a:latin typeface="Calibri"/>
              </a:rPr>
              <a:t>Vertex AI Search (60% of turns)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6450" y="44069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E8ECF5"/>
                </a:solidFill>
                <a:latin typeface="Consolas"/>
              </a:rPr>
              <a:t>$0.0009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2450" y="4406900"/>
            <a:ext cx="571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8B95AB"/>
                </a:solidFill>
                <a:latin typeface="Consolas"/>
              </a:rPr>
              <a:t>3%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0400" y="4699000"/>
            <a:ext cx="95250" cy="95250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900" y="4635500"/>
            <a:ext cx="3556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75" b="0">
                <a:solidFill>
                  <a:srgbClr val="E8ECF5"/>
                </a:solidFill>
                <a:latin typeface="Calibri"/>
              </a:rPr>
              <a:t>Cloud Run · Trace · Logging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6450" y="46355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E8ECF5"/>
                </a:solidFill>
                <a:latin typeface="Consolas"/>
              </a:rPr>
              <a:t>$0.0003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2450" y="4635500"/>
            <a:ext cx="571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8B95AB"/>
                </a:solidFill>
                <a:latin typeface="Consolas"/>
              </a:rPr>
              <a:t>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0400" y="4914900"/>
            <a:ext cx="5543550" cy="9525"/>
          </a:xfrm>
          <a:prstGeom prst="rect">
            <a:avLst/>
          </a:prstGeom>
          <a:solidFill>
            <a:srgbClr val="1E2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900" y="4965700"/>
            <a:ext cx="35560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Total per AI turn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6450" y="4965700"/>
            <a:ext cx="952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Consolas"/>
              </a:rPr>
              <a:t>$0.0352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32450" y="4965700"/>
            <a:ext cx="57150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8B95AB"/>
                </a:solidFill>
                <a:latin typeface="Consolas"/>
              </a:rPr>
              <a:t>100%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59550" y="2413000"/>
            <a:ext cx="5175250" cy="3048000"/>
          </a:xfrm>
          <a:prstGeom prst="roundRect">
            <a:avLst>
              <a:gd name="adj" fmla="val 3333"/>
            </a:avLst>
          </a:prstGeom>
          <a:solidFill>
            <a:srgbClr val="10141D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62750" y="2578100"/>
            <a:ext cx="476885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E8ECF5"/>
                </a:solidFill>
                <a:latin typeface="Calibri"/>
              </a:rPr>
              <a:t>Expected monthly cost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62750" y="2806700"/>
            <a:ext cx="4768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25" b="0">
                <a:solidFill>
                  <a:srgbClr val="8B95AB"/>
                </a:solidFill>
                <a:latin typeface="Calibri"/>
              </a:rPr>
              <a:t>Variable + fixed. Production infrastructure assumed at 100K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6762750" y="3060700"/>
          <a:ext cx="4768850" cy="1447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5000"/>
                <a:gridCol w="952500"/>
                <a:gridCol w="825500"/>
                <a:gridCol w="1085850"/>
              </a:tblGrid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725" b="1" spc="120">
                          <a:solidFill>
                            <a:srgbClr val="8B95AB"/>
                          </a:solidFill>
                          <a:latin typeface="Calibri"/>
                        </a:rPr>
                        <a:t>TICKETS / MONTH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5" b="1" spc="120">
                          <a:solidFill>
                            <a:srgbClr val="8B95AB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5" b="1" spc="120">
                          <a:solidFill>
                            <a:srgbClr val="8B95AB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25" b="1" spc="120">
                          <a:solidFill>
                            <a:srgbClr val="8B95A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5"/>
                          </a:solidFill>
                          <a:latin typeface="Calibri"/>
                        </a:rPr>
                        <a:t>1,000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8B95AB"/>
                          </a:solidFill>
                          <a:latin typeface="Calibri"/>
                        </a:rPr>
                        <a:t>Pilot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8B95AB"/>
                          </a:solidFill>
                          <a:latin typeface="Consolas"/>
                        </a:rPr>
                        <a:t>$75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8B95AB"/>
                          </a:solidFill>
                          <a:latin typeface="Consolas"/>
                        </a:rPr>
                        <a:t>$29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C084FC"/>
                          </a:solidFill>
                          <a:latin typeface="Consolas"/>
                        </a:rPr>
                        <a:t>$105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5"/>
                          </a:solidFill>
                          <a:latin typeface="Calibri"/>
                        </a:rPr>
                        <a:t>10,000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8B95AB"/>
                          </a:solidFill>
                          <a:latin typeface="Calibri"/>
                        </a:rPr>
                        <a:t>Launch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8B95AB"/>
                          </a:solidFill>
                          <a:latin typeface="Consolas"/>
                        </a:rPr>
                        <a:t>$750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8B95AB"/>
                          </a:solidFill>
                          <a:latin typeface="Consolas"/>
                        </a:rPr>
                        <a:t>$29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C084FC"/>
                          </a:solidFill>
                          <a:latin typeface="Consolas"/>
                        </a:rPr>
                        <a:t>$780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1E232D"/>
                      </a:solidFill>
                    </a:lnB>
                    <a:solidFill>
                      <a:srgbClr val="10141D"/>
                    </a:solidFill>
                  </a:tcPr>
                </a:tc>
              </a:tr>
              <a:tr h="4064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CF5"/>
                          </a:solidFill>
                          <a:latin typeface="Calibri"/>
                        </a:rPr>
                        <a:t>100,000</a:t>
                      </a:r>
                    </a:p>
                    <a:p>
                      <a:pPr algn="l"/>
                      <a:r>
                        <a:rPr sz="750" b="0">
                          <a:solidFill>
                            <a:srgbClr val="8B95AB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8B95AB"/>
                          </a:solidFill>
                          <a:latin typeface="Consolas"/>
                        </a:rPr>
                        <a:t>$7,500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8B95AB"/>
                          </a:solidFill>
                          <a:latin typeface="Consolas"/>
                        </a:rPr>
                        <a:t>$230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4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50" b="1">
                          <a:solidFill>
                            <a:srgbClr val="C084FC"/>
                          </a:solidFill>
                          <a:latin typeface="Consolas"/>
                        </a:rPr>
                        <a:t>$7,730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0141D"/>
                    </a:solidFill>
                  </a:tcPr>
                </a:tc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6762750" y="4572000"/>
            <a:ext cx="2339975" cy="711200"/>
          </a:xfrm>
          <a:prstGeom prst="roundRect">
            <a:avLst>
              <a:gd name="adj" fmla="val 10714"/>
            </a:avLst>
          </a:prstGeom>
          <a:solidFill>
            <a:srgbClr val="141820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64350" y="4648200"/>
            <a:ext cx="2136775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5" b="1" spc="120">
                <a:solidFill>
                  <a:srgbClr val="5D6780"/>
                </a:solidFill>
                <a:latin typeface="Calibri"/>
              </a:rPr>
              <a:t>FIXED · PROTOTYPE</a:t>
            </a:r>
          </a:p>
          <a:p>
            <a:pPr algn="l"/>
            <a:r>
              <a:rPr sz="1100" b="1">
                <a:solidFill>
                  <a:srgbClr val="E8ECF5"/>
                </a:solidFill>
                <a:latin typeface="Consolas"/>
              </a:rPr>
              <a:t>$29 / mo</a:t>
            </a:r>
          </a:p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IAP LB $18 · SQL f1-micro $9 · misc $2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91625" y="4572000"/>
            <a:ext cx="2339975" cy="711200"/>
          </a:xfrm>
          <a:prstGeom prst="roundRect">
            <a:avLst>
              <a:gd name="adj" fmla="val 10714"/>
            </a:avLst>
          </a:prstGeom>
          <a:solidFill>
            <a:srgbClr val="141820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93225" y="4648200"/>
            <a:ext cx="2136775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25" b="1" spc="120">
                <a:solidFill>
                  <a:srgbClr val="5D6780"/>
                </a:solidFill>
                <a:latin typeface="Calibri"/>
              </a:rPr>
              <a:t>FIXED · PRODUCTION</a:t>
            </a:r>
          </a:p>
          <a:p>
            <a:pPr algn="l"/>
            <a:r>
              <a:rPr sz="1100" b="1">
                <a:solidFill>
                  <a:srgbClr val="E8ECF5"/>
                </a:solidFill>
                <a:latin typeface="Consolas"/>
              </a:rPr>
              <a:t>$230 / mo</a:t>
            </a:r>
          </a:p>
          <a:p>
            <a:pPr algn="l"/>
            <a:r>
              <a:rPr sz="750" b="0">
                <a:solidFill>
                  <a:srgbClr val="8B95AB"/>
                </a:solidFill>
                <a:latin typeface="Calibri"/>
              </a:rPr>
              <a:t>HA SQL $197 · LB $18 · Cloud Run $10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5638800"/>
            <a:ext cx="6673850" cy="889000"/>
          </a:xfrm>
          <a:prstGeom prst="roundRect">
            <a:avLst>
              <a:gd name="adj" fmla="val 10000"/>
            </a:avLst>
          </a:prstGeom>
          <a:solidFill>
            <a:srgbClr val="0D1119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09600" y="5740400"/>
            <a:ext cx="254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spc="200">
                <a:solidFill>
                  <a:srgbClr val="8B95AB"/>
                </a:solidFill>
                <a:latin typeface="Calibri"/>
              </a:rPr>
              <a:t>KEY ASSUMPTIONS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9600" y="5918200"/>
            <a:ext cx="31115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D6780"/>
                </a:solidFill>
                <a:latin typeface="Calibri"/>
              </a:rPr>
              <a:t>▸  </a:t>
            </a:r>
            <a:r>
              <a:rPr sz="800" b="1">
                <a:solidFill>
                  <a:srgbClr val="FFFFFF"/>
                </a:solidFill>
                <a:latin typeface="Calibri"/>
              </a:rPr>
              <a:t>3</a:t>
            </a:r>
            <a:r>
              <a:rPr sz="800" b="0">
                <a:solidFill>
                  <a:srgbClr val="E8ECF5"/>
                </a:solidFill>
                <a:latin typeface="Calibri"/>
              </a:rPr>
              <a:t> customer messages / ticket</a:t>
            </a:r>
          </a:p>
          <a:p>
            <a:pPr algn="l">
              <a:lnSpc>
                <a:spcPct val="112000"/>
              </a:lnSpc>
            </a:pPr>
            <a:r>
              <a:rPr sz="750" b="0">
                <a:solidFill>
                  <a:srgbClr val="5D6780"/>
                </a:solidFill>
                <a:latin typeface="Calibri"/>
              </a:rPr>
              <a:t>▸  </a:t>
            </a:r>
            <a:r>
              <a:rPr sz="800" b="1">
                <a:solidFill>
                  <a:srgbClr val="FFFFFF"/>
                </a:solidFill>
                <a:latin typeface="Calibri"/>
              </a:rPr>
              <a:t>15%</a:t>
            </a:r>
            <a:r>
              <a:rPr sz="800" b="0">
                <a:solidFill>
                  <a:srgbClr val="E8ECF5"/>
                </a:solidFill>
                <a:latin typeface="Calibri"/>
              </a:rPr>
              <a:t> urgent → human on 1st message</a:t>
            </a:r>
          </a:p>
          <a:p>
            <a:pPr algn="l">
              <a:lnSpc>
                <a:spcPct val="112000"/>
              </a:lnSpc>
            </a:pPr>
            <a:r>
              <a:rPr sz="750" b="0">
                <a:solidFill>
                  <a:srgbClr val="5D6780"/>
                </a:solidFill>
                <a:latin typeface="Calibri"/>
              </a:rPr>
              <a:t>▸  </a:t>
            </a:r>
            <a:r>
              <a:rPr sz="800" b="1">
                <a:solidFill>
                  <a:srgbClr val="FFFFFF"/>
                </a:solidFill>
                <a:latin typeface="Calibri"/>
              </a:rPr>
              <a:t>2.5</a:t>
            </a:r>
            <a:r>
              <a:rPr sz="800" b="0">
                <a:solidFill>
                  <a:srgbClr val="E8ECF5"/>
                </a:solidFill>
                <a:latin typeface="Calibri"/>
              </a:rPr>
              <a:t> AI turns per non-urgent ticket</a:t>
            </a:r>
          </a:p>
          <a:p>
            <a:pPr algn="l">
              <a:lnSpc>
                <a:spcPct val="112000"/>
              </a:lnSpc>
            </a:pPr>
            <a:r>
              <a:rPr sz="750" b="0">
                <a:solidFill>
                  <a:srgbClr val="5D6780"/>
                </a:solidFill>
                <a:latin typeface="Calibri"/>
              </a:rPr>
              <a:t>▸  </a:t>
            </a:r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  <a:r>
              <a:rPr sz="800" b="0">
                <a:solidFill>
                  <a:srgbClr val="E8ECF5"/>
                </a:solidFill>
                <a:latin typeface="Calibri"/>
              </a:rPr>
              <a:t>Follow-ups on escalated tickets skip the LLM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4600" y="5918200"/>
            <a:ext cx="311150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5D6780"/>
                </a:solidFill>
                <a:latin typeface="Calibri"/>
              </a:rPr>
              <a:t>▸  </a:t>
            </a:r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  <a:r>
              <a:rPr sz="800" b="0">
                <a:solidFill>
                  <a:srgbClr val="E8ECF5"/>
                </a:solidFill>
                <a:latin typeface="Calibri"/>
              </a:rPr>
              <a:t>Pro $1.25 / $10, Flash $0.30 / $2.50 per 1M tokens</a:t>
            </a:r>
          </a:p>
          <a:p>
            <a:pPr algn="l">
              <a:lnSpc>
                <a:spcPct val="112000"/>
              </a:lnSpc>
            </a:pPr>
            <a:r>
              <a:rPr sz="750" b="0">
                <a:solidFill>
                  <a:srgbClr val="5D6780"/>
                </a:solidFill>
                <a:latin typeface="Calibri"/>
              </a:rPr>
              <a:t>▸  </a:t>
            </a:r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  <a:r>
              <a:rPr sz="800" b="0">
                <a:solidFill>
                  <a:srgbClr val="E8ECF5"/>
                </a:solidFill>
                <a:latin typeface="Calibri"/>
              </a:rPr>
              <a:t>Search $1.50 / 1K · Sessions $0.25 / 1K events</a:t>
            </a:r>
          </a:p>
          <a:p>
            <a:pPr algn="l">
              <a:lnSpc>
                <a:spcPct val="112000"/>
              </a:lnSpc>
            </a:pPr>
            <a:r>
              <a:rPr sz="750" b="0">
                <a:solidFill>
                  <a:srgbClr val="5D6780"/>
                </a:solidFill>
                <a:latin typeface="Calibri"/>
              </a:rPr>
              <a:t>▸  </a:t>
            </a:r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  <a:r>
              <a:rPr sz="800" b="0">
                <a:solidFill>
                  <a:srgbClr val="E8ECF5"/>
                </a:solidFill>
                <a:latin typeface="Calibri"/>
              </a:rPr>
              <a:t>No free tiers or committed-use discounts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83450" y="5638800"/>
            <a:ext cx="4451350" cy="889000"/>
          </a:xfrm>
          <a:prstGeom prst="roundRect">
            <a:avLst>
              <a:gd name="adj" fmla="val 10000"/>
            </a:avLst>
          </a:prstGeom>
          <a:solidFill>
            <a:srgbClr val="0D1119"/>
          </a:solidFill>
          <a:ln w="9525">
            <a:solidFill>
              <a:srgbClr val="1E2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35850" y="5740400"/>
            <a:ext cx="25400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 spc="200">
                <a:solidFill>
                  <a:srgbClr val="FB7185"/>
                </a:solidFill>
                <a:latin typeface="Calibri"/>
              </a:rPr>
              <a:t>COST RISKS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35850" y="5918200"/>
            <a:ext cx="4146550" cy="55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750" b="0">
                <a:solidFill>
                  <a:srgbClr val="FB7185"/>
                </a:solidFill>
                <a:latin typeface="Calibri"/>
              </a:rPr>
              <a:t>▸  </a:t>
            </a:r>
            <a:r>
              <a:rPr sz="800" b="0">
                <a:solidFill>
                  <a:srgbClr val="E8ECF5"/>
                </a:solidFill>
                <a:latin typeface="Calibri"/>
              </a:rPr>
              <a:t>Agent Engine idle billing at GA: </a:t>
            </a:r>
            <a:r>
              <a:rPr sz="800" b="1">
                <a:solidFill>
                  <a:srgbClr val="FFFFFF"/>
                </a:solidFill>
                <a:latin typeface="Calibri"/>
              </a:rPr>
              <a:t>+$557 / mo</a:t>
            </a:r>
          </a:p>
          <a:p>
            <a:pPr algn="l">
              <a:lnSpc>
                <a:spcPct val="112000"/>
              </a:lnSpc>
            </a:pPr>
            <a:r>
              <a:rPr sz="750" b="0">
                <a:solidFill>
                  <a:srgbClr val="FB7185"/>
                </a:solidFill>
                <a:latin typeface="Calibri"/>
              </a:rPr>
              <a:t>▸  </a:t>
            </a:r>
            <a:r>
              <a:rPr sz="800" b="0">
                <a:solidFill>
                  <a:srgbClr val="E8ECF5"/>
                </a:solidFill>
                <a:latin typeface="Calibri"/>
              </a:rPr>
              <a:t>Nightly eval runs: </a:t>
            </a:r>
            <a:r>
              <a:rPr sz="800" b="1">
                <a:solidFill>
                  <a:srgbClr val="FFFFFF"/>
                </a:solidFill>
                <a:latin typeface="Calibri"/>
              </a:rPr>
              <a:t>~$105 / mo</a:t>
            </a:r>
          </a:p>
          <a:p>
            <a:pPr algn="l">
              <a:lnSpc>
                <a:spcPct val="112000"/>
              </a:lnSpc>
            </a:pPr>
            <a:r>
              <a:rPr sz="750" b="0">
                <a:solidFill>
                  <a:srgbClr val="FB7185"/>
                </a:solidFill>
                <a:latin typeface="Calibri"/>
              </a:rPr>
              <a:t>▸  </a:t>
            </a:r>
            <a:r>
              <a:rPr sz="800" b="0">
                <a:solidFill>
                  <a:srgbClr val="E8ECF5"/>
                </a:solidFill>
                <a:latin typeface="Calibri"/>
              </a:rPr>
              <a:t>Pro thinking tokens can 2× on hard queries</a:t>
            </a:r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750" b="0">
                <a:solidFill>
                  <a:srgbClr val="FB7185"/>
                </a:solidFill>
                <a:latin typeface="Calibri"/>
              </a:rPr>
              <a:t>▸  </a:t>
            </a:r>
            <a:r>
              <a:rPr sz="800" b="0">
                <a:solidFill>
                  <a:srgbClr val="E8ECF5"/>
                </a:solidFill>
                <a:latin typeface="Calibri"/>
              </a:rPr>
              <a:t>Token counts not yet measured (eval M3/M4)</a:t>
            </a:r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