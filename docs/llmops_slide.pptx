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LLMOps, evaluation framework and observability (source: docs/EVALUATION_PLAN.md).</a:t>
            </a:r>
          </a:p>
          <a:p/>
          <a:p>
            <a:r>
              <a:t>Offline: one versioned 100-ticket golden set taken from records in the RAG datastore, so every expected answer traces to a document ID. Composition: 45 search-ready in corpus, 25 urgent/frustrated, 15 vague single-turn, 10 multi-turn, 5 out of corpus. Scorers: deterministic metrics (routing F1, ROUGE-L, BLEU, search gating, latency, token accounting), an LLM judge (grounding recall, faithfulness) and per-case dynamic rubrics.</a:t>
            </a:r>
          </a:p>
          <a:p/>
          <a:p>
            <a:r>
              <a:t>Gates: PR mode runs deterministic KPIs and blocks merges; nightly adds LLM-judged KPIs and failure analysis. Latency and error targets are proposed project targets (the TDD sets none).</a:t>
            </a:r>
          </a:p>
          <a:p/>
          <a:p>
            <a:r>
              <a:t>Online: OpenTelemetry instrumentation of the FastAPI backend and httpx calls exports to Cloud Trace; Cloud Logging sinks to BigQuery Agent Analytics; sampled live traces are scored asynchronously; Model Armor / Cloud DLP redacts PII before it reaches agents or logs; the circuit breaker opens after 3 failures and retries after 30 s.</a:t>
            </a:r>
          </a:p>
          <a:p/>
          <a:p>
            <a:r>
              <a:t>Status: framework and static rubric evaluator are built; the first baseline run has not happened yet, so no measured KPI values are shown.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A1338"/>
              </a:gs>
              <a:gs pos="100000">
                <a:srgbClr val="07131C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0C1C">
                  <a:alpha val="55000"/>
                </a:srgbClr>
              </a:gs>
              <a:gs pos="100000">
                <a:srgbClr val="070B14">
                  <a:alpha val="55000"/>
                </a:srgbClr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30200"/>
            <a:ext cx="6985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300">
                <a:solidFill>
                  <a:srgbClr val="C084FC"/>
                </a:solidFill>
                <a:latin typeface="Calibri"/>
              </a:rPr>
              <a:t>FDE SUPPORT PLATFORM ·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0700"/>
            <a:ext cx="8255000" cy="4699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LLMOps, </a:t>
            </a:r>
            <a:r>
              <a:rPr sz="2700" b="1">
                <a:solidFill>
                  <a:srgbClr val="C4B5FD"/>
                </a:solidFill>
                <a:latin typeface="Calibri"/>
              </a:rPr>
              <a:t>Evaluation Framework &amp;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52500"/>
            <a:ext cx="825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B95AB"/>
                </a:solidFill>
                <a:latin typeface="Calibri"/>
              </a:rPr>
              <a:t>Every release is gated on a 100-ticket golden set; production is watched by traces, logs and sampled judges.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94800" y="711200"/>
            <a:ext cx="2540000" cy="254000"/>
          </a:xfrm>
          <a:prstGeom prst="roundRect">
            <a:avLst>
              <a:gd name="adj" fmla="val 50000"/>
            </a:avLst>
          </a:prstGeom>
          <a:solidFill>
            <a:srgbClr val="1B1A12"/>
          </a:solidFill>
          <a:ln w="9525">
            <a:solidFill>
              <a:srgbClr val="4A3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BBF24"/>
                </a:solidFill>
                <a:latin typeface="Calibri"/>
              </a:rPr>
              <a:t>Status: framework built · baseline run pending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5400"/>
            <a:ext cx="3429000" cy="4191000"/>
          </a:xfrm>
          <a:prstGeom prst="roundRect">
            <a:avLst>
              <a:gd name="adj" fmla="val 2962"/>
            </a:avLst>
          </a:prstGeom>
          <a:solidFill>
            <a:srgbClr val="10141D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000" y="1447800"/>
            <a:ext cx="215900" cy="215900"/>
          </a:xfrm>
          <a:prstGeom prst="roundRect">
            <a:avLst>
              <a:gd name="adj" fmla="val 26470"/>
            </a:avLst>
          </a:prstGeom>
          <a:solidFill>
            <a:srgbClr val="1C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C084FC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" y="1447800"/>
            <a:ext cx="27940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ECF5"/>
                </a:solidFill>
                <a:latin typeface="Calibri"/>
              </a:rPr>
              <a:t>Offline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727200"/>
            <a:ext cx="3073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B95AB"/>
                </a:solidFill>
                <a:latin typeface="Calibri"/>
              </a:rPr>
              <a:t>Golden set: 100 tickets sourced from the RAG corpus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1981200"/>
            <a:ext cx="1383030" cy="2286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8030" y="1981200"/>
            <a:ext cx="768350" cy="2286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6380" y="1981200"/>
            <a:ext cx="461010" cy="2286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7390" y="1981200"/>
            <a:ext cx="307340" cy="2286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54730" y="1981200"/>
            <a:ext cx="153670" cy="2286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000" y="2368550"/>
            <a:ext cx="88900" cy="88900"/>
          </a:xfrm>
          <a:prstGeom prst="roundRect">
            <a:avLst>
              <a:gd name="adj" fmla="val 21428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" y="2311400"/>
            <a:ext cx="1587500" cy="2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75" b="0">
                <a:solidFill>
                  <a:srgbClr val="E8ECF5"/>
                </a:solidFill>
                <a:latin typeface="Calibri"/>
              </a:rPr>
              <a:t>Search-ready, in corpus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9500" y="2311400"/>
            <a:ext cx="1041400" cy="2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8B95AB"/>
                </a:solidFill>
                <a:latin typeface="Calibri"/>
              </a:rPr>
              <a:t>grounded answers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0900" y="2311400"/>
            <a:ext cx="317500" cy="2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75" b="1">
                <a:solidFill>
                  <a:srgbClr val="E8ECF5"/>
                </a:solidFill>
                <a:latin typeface="Consolas"/>
              </a:rPr>
              <a:t>45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000" y="2578100"/>
            <a:ext cx="88900" cy="88900"/>
          </a:xfrm>
          <a:prstGeom prst="roundRect">
            <a:avLst>
              <a:gd name="adj" fmla="val 21428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" y="2520950"/>
            <a:ext cx="1587500" cy="2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75" b="0">
                <a:solidFill>
                  <a:srgbClr val="E8ECF5"/>
                </a:solidFill>
                <a:latin typeface="Calibri"/>
              </a:rPr>
              <a:t>Urgent / frustrated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9500" y="2520950"/>
            <a:ext cx="1041400" cy="2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8B95AB"/>
                </a:solidFill>
                <a:latin typeface="Calibri"/>
              </a:rPr>
              <a:t>human handoff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90900" y="2520950"/>
            <a:ext cx="317500" cy="2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75" b="1">
                <a:solidFill>
                  <a:srgbClr val="E8ECF5"/>
                </a:solidFill>
                <a:latin typeface="Consolas"/>
              </a:rPr>
              <a:t>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000" y="2787650"/>
            <a:ext cx="88900" cy="88900"/>
          </a:xfrm>
          <a:prstGeom prst="roundRect">
            <a:avLst>
              <a:gd name="adj" fmla="val 21428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" y="2730500"/>
            <a:ext cx="1587500" cy="2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75" b="0">
                <a:solidFill>
                  <a:srgbClr val="E8ECF5"/>
                </a:solidFill>
                <a:latin typeface="Calibri"/>
              </a:rPr>
              <a:t>Vague, single 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9500" y="2730500"/>
            <a:ext cx="1041400" cy="2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8B95AB"/>
                </a:solidFill>
                <a:latin typeface="Calibri"/>
              </a:rPr>
              <a:t>clarify, no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90900" y="2730500"/>
            <a:ext cx="317500" cy="2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75" b="1">
                <a:solidFill>
                  <a:srgbClr val="E8ECF5"/>
                </a:solidFill>
                <a:latin typeface="Consolas"/>
              </a:rPr>
              <a:t>15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000" y="2997200"/>
            <a:ext cx="88900" cy="88900"/>
          </a:xfrm>
          <a:prstGeom prst="roundRect">
            <a:avLst>
              <a:gd name="adj" fmla="val 21428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" y="2940050"/>
            <a:ext cx="1587500" cy="2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75" b="0">
                <a:solidFill>
                  <a:srgbClr val="E8ECF5"/>
                </a:solidFill>
                <a:latin typeface="Calibri"/>
              </a:rPr>
              <a:t>Multi-turn, vague → clear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49500" y="2940050"/>
            <a:ext cx="1041400" cy="2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8B95AB"/>
                </a:solidFill>
                <a:latin typeface="Calibri"/>
              </a:rPr>
              <a:t>gating over turns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90900" y="2940050"/>
            <a:ext cx="317500" cy="2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75" b="1">
                <a:solidFill>
                  <a:srgbClr val="E8ECF5"/>
                </a:solidFill>
                <a:latin typeface="Consolas"/>
              </a:rPr>
              <a:t>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000" y="3206750"/>
            <a:ext cx="88900" cy="88900"/>
          </a:xfrm>
          <a:prstGeom prst="roundRect">
            <a:avLst>
              <a:gd name="adj" fmla="val 21428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" y="3149600"/>
            <a:ext cx="1587500" cy="2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75" b="0">
                <a:solidFill>
                  <a:srgbClr val="E8ECF5"/>
                </a:solidFill>
                <a:latin typeface="Calibri"/>
              </a:rPr>
              <a:t>Out of corpus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49500" y="3149600"/>
            <a:ext cx="1041400" cy="2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8B95AB"/>
                </a:solidFill>
                <a:latin typeface="Calibri"/>
              </a:rPr>
              <a:t>no hallucination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90900" y="3149600"/>
            <a:ext cx="317500" cy="20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75" b="1">
                <a:solidFill>
                  <a:srgbClr val="E8ECF5"/>
                </a:solidFill>
                <a:latin typeface="Consolas"/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3448050"/>
            <a:ext cx="3073400" cy="9525"/>
          </a:xfrm>
          <a:prstGeom prst="rect">
            <a:avLst/>
          </a:prstGeom>
          <a:solidFill>
            <a:srgbClr val="1E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000" y="3536950"/>
            <a:ext cx="30734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75" b="1" spc="150">
                <a:solidFill>
                  <a:srgbClr val="8B95AB"/>
                </a:solidFill>
                <a:latin typeface="Calibri"/>
              </a:rPr>
              <a:t>THREE SCORER TYPES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727450"/>
            <a:ext cx="30734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75" b="1">
                <a:solidFill>
                  <a:srgbClr val="FFFFFF"/>
                </a:solidFill>
                <a:latin typeface="Calibri"/>
              </a:rPr>
              <a:t>Deterministic</a:t>
            </a:r>
          </a:p>
          <a:p>
            <a:pPr algn="l"/>
            <a:r>
              <a:rPr sz="750" b="0">
                <a:solidFill>
                  <a:srgbClr val="8B95AB"/>
                </a:solidFill>
                <a:latin typeface="Calibri"/>
              </a:rPr>
              <a:t>F1, ROUGE-L, BLEU, search gating, latency, tokens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000" y="4070350"/>
            <a:ext cx="30734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75" b="1">
                <a:solidFill>
                  <a:srgbClr val="FFFFFF"/>
                </a:solidFill>
                <a:latin typeface="Calibri"/>
              </a:rPr>
              <a:t>LLM judge</a:t>
            </a:r>
          </a:p>
          <a:p>
            <a:pPr algn="l"/>
            <a:r>
              <a:rPr sz="750" b="0">
                <a:solidFill>
                  <a:srgbClr val="8B95AB"/>
                </a:solidFill>
                <a:latin typeface="Calibri"/>
              </a:rPr>
              <a:t>Gemini Flash: grounding recall, faithfulness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4413250"/>
            <a:ext cx="30734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75" b="1">
                <a:solidFill>
                  <a:srgbClr val="FFFFFF"/>
                </a:solidFill>
                <a:latin typeface="Calibri"/>
              </a:rPr>
              <a:t>Dynamic rubrics</a:t>
            </a:r>
          </a:p>
          <a:p>
            <a:pPr algn="l"/>
            <a:r>
              <a:rPr sz="750" b="0">
                <a:solidFill>
                  <a:srgbClr val="8B95AB"/>
                </a:solidFill>
                <a:latin typeface="Calibri"/>
              </a:rPr>
              <a:t>Per-case criteria for clarifying questions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38600" y="1295400"/>
            <a:ext cx="4064000" cy="4191000"/>
          </a:xfrm>
          <a:prstGeom prst="roundRect">
            <a:avLst>
              <a:gd name="adj" fmla="val 2500"/>
            </a:avLst>
          </a:prstGeom>
          <a:solidFill>
            <a:srgbClr val="10141D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216400" y="1447800"/>
            <a:ext cx="215900" cy="215900"/>
          </a:xfrm>
          <a:prstGeom prst="roundRect">
            <a:avLst>
              <a:gd name="adj" fmla="val 26470"/>
            </a:avLst>
          </a:prstGeom>
          <a:solidFill>
            <a:srgbClr val="1C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C084FC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1200" y="1447800"/>
            <a:ext cx="34290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ECF5"/>
                </a:solidFill>
                <a:latin typeface="Calibri"/>
              </a:rPr>
              <a:t>Release quality gates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16400" y="1727200"/>
            <a:ext cx="3708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B95AB"/>
                </a:solidFill>
                <a:latin typeface="Calibri"/>
              </a:rPr>
              <a:t>PR gate = minutes, deterministic · Nightly = LLM-judged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4216400" y="1955800"/>
          <a:ext cx="3708400" cy="3200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57400"/>
                <a:gridCol w="889000"/>
                <a:gridCol w="762000"/>
              </a:tblGrid>
              <a:tr h="215900">
                <a:tc>
                  <a:txBody>
                    <a:bodyPr wrap="square"/>
                    <a:lstStyle/>
                    <a:p>
                      <a:pPr algn="l"/>
                      <a:r>
                        <a:rPr sz="675" b="1" spc="150">
                          <a:solidFill>
                            <a:srgbClr val="8B95AB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75" b="1" spc="150">
                          <a:solidFill>
                            <a:srgbClr val="8B95AB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75" b="1" spc="150">
                          <a:solidFill>
                            <a:srgbClr val="8B95AB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E8ECF5"/>
                          </a:solidFill>
                          <a:latin typeface="Calibri"/>
                        </a:rPr>
                        <a:t>Routing accuracy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onsolas"/>
                        </a:rPr>
                        <a:t>≥ 95%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22D3EE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E8ECF5"/>
                          </a:solidFill>
                          <a:latin typeface="Calibri"/>
                        </a:rPr>
                        <a:t>Urgent / frustrated F1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onsolas"/>
                        </a:rPr>
                        <a:t>≥ 0.95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22D3EE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E8ECF5"/>
                          </a:solidFill>
                          <a:latin typeface="Calibri"/>
                        </a:rPr>
                        <a:t>Urgent tickets bypass RAG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onsolas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22D3EE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E8ECF5"/>
                          </a:solidFill>
                          <a:latin typeface="Calibri"/>
                        </a:rPr>
                        <a:t>Search gating (vague / specific)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onsolas"/>
                        </a:rPr>
                        <a:t>≥ 95%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22D3EE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E8ECF5"/>
                          </a:solidFill>
                          <a:latin typeface="Calibri"/>
                        </a:rPr>
                        <a:t>ROUGE-L vs. brand reply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onsolas"/>
                        </a:rPr>
                        <a:t>≥ 0.35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22D3EE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E8ECF5"/>
                          </a:solidFill>
                          <a:latin typeface="Calibri"/>
                        </a:rPr>
                        <a:t>BLEU-4 vs. brand reply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onsolas"/>
                        </a:rPr>
                        <a:t>≥ 0.30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22D3EE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E8ECF5"/>
                          </a:solidFill>
                          <a:latin typeface="Calibri"/>
                        </a:rPr>
                        <a:t>API error / timeout rate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onsolas"/>
                        </a:rPr>
                        <a:t>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22D3EE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E8ECF5"/>
                          </a:solidFill>
                          <a:latin typeface="Calibri"/>
                        </a:rPr>
                        <a:t>Grounding recall (key facts)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onsolas"/>
                        </a:rPr>
                        <a:t>≥ 85%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084FC"/>
                          </a:solidFill>
                          <a:latin typeface="Calibri"/>
                        </a:rPr>
                        <a:t>Nightly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E8ECF5"/>
                          </a:solidFill>
                          <a:latin typeface="Calibri"/>
                        </a:rPr>
                        <a:t>RAG faithfulness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onsolas"/>
                        </a:rPr>
                        <a:t>≥ 90%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084FC"/>
                          </a:solidFill>
                          <a:latin typeface="Calibri"/>
                        </a:rPr>
                        <a:t>Nightly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E8ECF5"/>
                          </a:solidFill>
                          <a:latin typeface="Calibri"/>
                        </a:rPr>
                        <a:t>P95 end-to-end latency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onsolas"/>
                        </a:rPr>
                        <a:t>≤ 3.0 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22D3EE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0141D"/>
                    </a:solidFill>
                  </a:tcPr>
                </a:tc>
              </a:tr>
            </a:tbl>
          </a:graphicData>
        </a:graphic>
      </p:graphicFrame>
      <p:sp>
        <p:nvSpPr>
          <p:cNvPr id="47" name="Rounded Rectangle 46"/>
          <p:cNvSpPr/>
          <p:nvPr/>
        </p:nvSpPr>
        <p:spPr>
          <a:xfrm>
            <a:off x="8255000" y="1295400"/>
            <a:ext cx="3479800" cy="4191000"/>
          </a:xfrm>
          <a:prstGeom prst="roundRect">
            <a:avLst>
              <a:gd name="adj" fmla="val 2919"/>
            </a:avLst>
          </a:prstGeom>
          <a:solidFill>
            <a:srgbClr val="10141D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32800" y="1447800"/>
            <a:ext cx="215900" cy="215900"/>
          </a:xfrm>
          <a:prstGeom prst="roundRect">
            <a:avLst>
              <a:gd name="adj" fmla="val 26470"/>
            </a:avLst>
          </a:prstGeom>
          <a:solidFill>
            <a:srgbClr val="1C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C084FC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7600" y="1447800"/>
            <a:ext cx="28448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ECF5"/>
                </a:solidFill>
                <a:latin typeface="Calibri"/>
              </a:rPr>
              <a:t>Online observability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1727200"/>
            <a:ext cx="3124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B95AB"/>
                </a:solidFill>
                <a:latin typeface="Calibri"/>
              </a:rPr>
              <a:t>Production telemetry on Google Cloud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32800" y="2006600"/>
            <a:ext cx="31750" cy="3937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59800" y="1981200"/>
            <a:ext cx="29972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75" b="1">
                <a:solidFill>
                  <a:srgbClr val="FFFFFF"/>
                </a:solidFill>
                <a:latin typeface="Calibri"/>
              </a:rPr>
              <a:t>Distributed tracing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8B95AB"/>
                </a:solidFill>
                <a:latin typeface="Calibri"/>
              </a:rPr>
              <a:t>OpenTelemetry (FastAPI + httpx) → Cloud Trace: P95 / P99 per hop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32800" y="2527300"/>
            <a:ext cx="31750" cy="3937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59800" y="2501900"/>
            <a:ext cx="29972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75" b="1">
                <a:solidFill>
                  <a:srgbClr val="FFFFFF"/>
                </a:solidFill>
                <a:latin typeface="Calibri"/>
              </a:rPr>
              <a:t>Structured logs → BigQuery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8B95AB"/>
                </a:solidFill>
                <a:latin typeface="Calibri"/>
              </a:rPr>
              <a:t>Cloud Logging sink feeds Agent Analytics: routes, tokens, cost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32800" y="3048000"/>
            <a:ext cx="31750" cy="39370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59800" y="3022600"/>
            <a:ext cx="29972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75" b="1">
                <a:solidFill>
                  <a:srgbClr val="FFFFFF"/>
                </a:solidFill>
                <a:latin typeface="Calibri"/>
              </a:rPr>
              <a:t>Online quality sampling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8B95AB"/>
                </a:solidFill>
                <a:latin typeface="Calibri"/>
              </a:rPr>
              <a:t>Async LLM judge on sampled live traces + escalation rate, CSAT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32800" y="3568700"/>
            <a:ext cx="31750" cy="3937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59800" y="3543300"/>
            <a:ext cx="29972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75" b="1">
                <a:solidFill>
                  <a:srgbClr val="FFFFFF"/>
                </a:solidFill>
                <a:latin typeface="Calibri"/>
              </a:rPr>
              <a:t>PII-safe telemetry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8B95AB"/>
                </a:solidFill>
                <a:latin typeface="Calibri"/>
              </a:rPr>
              <a:t>Model Armor / Cloud DLP redacts input before agents and logs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32800" y="4089400"/>
            <a:ext cx="31750" cy="3937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59800" y="4064000"/>
            <a:ext cx="29972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75" b="1">
                <a:solidFill>
                  <a:srgbClr val="FFFFFF"/>
                </a:solidFill>
                <a:latin typeface="Calibri"/>
              </a:rPr>
              <a:t>Resilience signals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8B95AB"/>
                </a:solidFill>
                <a:latin typeface="Calibri"/>
              </a:rPr>
              <a:t>Circuit breaker (3 failures / 30 s) and 4xx, 5xx, 429 counters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32800" y="4610100"/>
            <a:ext cx="31750" cy="3937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59800" y="4584700"/>
            <a:ext cx="29972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75" b="1">
                <a:solidFill>
                  <a:srgbClr val="FFFFFF"/>
                </a:solidFill>
                <a:latin typeface="Calibri"/>
              </a:rPr>
              <a:t>Alerting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8B95AB"/>
                </a:solidFill>
                <a:latin typeface="Calibri"/>
              </a:rPr>
              <a:t>SLO breaches page on-call (PagerDuty)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5638800"/>
            <a:ext cx="11277600" cy="889000"/>
          </a:xfrm>
          <a:prstGeom prst="roundRect">
            <a:avLst>
              <a:gd name="adj" fmla="val 10000"/>
            </a:avLst>
          </a:prstGeom>
          <a:solidFill>
            <a:srgbClr val="0D1119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9600" y="5740400"/>
            <a:ext cx="38100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spc="200">
                <a:solidFill>
                  <a:srgbClr val="8B95AB"/>
                </a:solidFill>
                <a:latin typeface="Calibri"/>
              </a:rPr>
              <a:t>LLMOPS LIFECYCLE · CONTINUOUS QUALITY FLYWHEEL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9600" y="5943600"/>
            <a:ext cx="1648883" cy="469900"/>
          </a:xfrm>
          <a:prstGeom prst="roundRect">
            <a:avLst>
              <a:gd name="adj" fmla="val 13513"/>
            </a:avLst>
          </a:prstGeom>
          <a:solidFill>
            <a:srgbClr val="141820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" y="5943600"/>
            <a:ext cx="31750" cy="4699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900" y="5981700"/>
            <a:ext cx="1483783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1">
                <a:solidFill>
                  <a:srgbClr val="94A3B8"/>
                </a:solidFill>
                <a:latin typeface="Consolas"/>
              </a:rPr>
              <a:t>1  </a:t>
            </a:r>
            <a:r>
              <a:rPr sz="900" b="1">
                <a:solidFill>
                  <a:srgbClr val="FFFFFF"/>
                </a:solidFill>
                <a:latin typeface="Calibri"/>
              </a:rPr>
              <a:t>Change</a:t>
            </a:r>
          </a:p>
          <a:p>
            <a:pPr algn="l"/>
            <a:r>
              <a:rPr sz="725" b="0">
                <a:solidFill>
                  <a:srgbClr val="8B95AB"/>
                </a:solidFill>
                <a:latin typeface="Calibri"/>
              </a:rPr>
              <a:t>Prompt, model, tool, code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2309283" y="6121400"/>
            <a:ext cx="114300" cy="114300"/>
          </a:xfrm>
          <a:prstGeom prst="rightArrow">
            <a:avLst/>
          </a:prstGeom>
          <a:solidFill>
            <a:srgbClr val="5D6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2474383" y="5943600"/>
            <a:ext cx="1648883" cy="469900"/>
          </a:xfrm>
          <a:prstGeom prst="roundRect">
            <a:avLst>
              <a:gd name="adj" fmla="val 13513"/>
            </a:avLst>
          </a:prstGeom>
          <a:solidFill>
            <a:srgbClr val="141820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474383" y="5943600"/>
            <a:ext cx="31750" cy="4699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88683" y="5981700"/>
            <a:ext cx="1483783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1">
                <a:solidFill>
                  <a:srgbClr val="22D3EE"/>
                </a:solidFill>
                <a:latin typeface="Consolas"/>
              </a:rPr>
              <a:t>2  </a:t>
            </a:r>
            <a:r>
              <a:rPr sz="900" b="1">
                <a:solidFill>
                  <a:srgbClr val="FFFFFF"/>
                </a:solidFill>
                <a:latin typeface="Calibri"/>
              </a:rPr>
              <a:t>PR gate</a:t>
            </a:r>
          </a:p>
          <a:p>
            <a:pPr algn="l"/>
            <a:r>
              <a:rPr sz="725" b="0">
                <a:solidFill>
                  <a:srgbClr val="8B95AB"/>
                </a:solidFill>
                <a:latin typeface="Calibri"/>
              </a:rPr>
              <a:t>Deterministic KPIs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4174067" y="6121400"/>
            <a:ext cx="114300" cy="114300"/>
          </a:xfrm>
          <a:prstGeom prst="rightArrow">
            <a:avLst/>
          </a:prstGeom>
          <a:solidFill>
            <a:srgbClr val="5D6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339167" y="5943600"/>
            <a:ext cx="1648883" cy="469900"/>
          </a:xfrm>
          <a:prstGeom prst="roundRect">
            <a:avLst>
              <a:gd name="adj" fmla="val 13513"/>
            </a:avLst>
          </a:prstGeom>
          <a:solidFill>
            <a:srgbClr val="141820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39167" y="5943600"/>
            <a:ext cx="31750" cy="46990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53467" y="5981700"/>
            <a:ext cx="1483783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1">
                <a:solidFill>
                  <a:srgbClr val="C084FC"/>
                </a:solidFill>
                <a:latin typeface="Consolas"/>
              </a:rPr>
              <a:t>3  </a:t>
            </a:r>
            <a:r>
              <a:rPr sz="900" b="1">
                <a:solidFill>
                  <a:srgbClr val="FFFFFF"/>
                </a:solidFill>
                <a:latin typeface="Calibri"/>
              </a:rPr>
              <a:t>Nightly</a:t>
            </a:r>
          </a:p>
          <a:p>
            <a:pPr algn="l"/>
            <a:r>
              <a:rPr sz="725" b="0">
                <a:solidFill>
                  <a:srgbClr val="8B95AB"/>
                </a:solidFill>
                <a:latin typeface="Calibri"/>
              </a:rPr>
              <a:t>LLM judges + rubrics</a:t>
            </a:r>
          </a:p>
        </p:txBody>
      </p:sp>
      <p:sp>
        <p:nvSpPr>
          <p:cNvPr id="76" name="Right Arrow 75"/>
          <p:cNvSpPr/>
          <p:nvPr/>
        </p:nvSpPr>
        <p:spPr>
          <a:xfrm>
            <a:off x="6038850" y="6121400"/>
            <a:ext cx="114300" cy="114300"/>
          </a:xfrm>
          <a:prstGeom prst="rightArrow">
            <a:avLst/>
          </a:prstGeom>
          <a:solidFill>
            <a:srgbClr val="5D6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203950" y="5943600"/>
            <a:ext cx="1648883" cy="469900"/>
          </a:xfrm>
          <a:prstGeom prst="roundRect">
            <a:avLst>
              <a:gd name="adj" fmla="val 13513"/>
            </a:avLst>
          </a:prstGeom>
          <a:solidFill>
            <a:srgbClr val="141820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03950" y="5943600"/>
            <a:ext cx="31750" cy="4699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18250" y="5981700"/>
            <a:ext cx="1483783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1">
                <a:solidFill>
                  <a:srgbClr val="38BDF8"/>
                </a:solidFill>
                <a:latin typeface="Consolas"/>
              </a:rPr>
              <a:t>4  </a:t>
            </a:r>
            <a:r>
              <a:rPr sz="900" b="1">
                <a:solidFill>
                  <a:srgbClr val="FFFFFF"/>
                </a:solidFill>
                <a:latin typeface="Calibri"/>
              </a:rPr>
              <a:t>Deploy</a:t>
            </a:r>
          </a:p>
          <a:p>
            <a:pPr algn="l"/>
            <a:r>
              <a:rPr sz="725" b="0">
                <a:solidFill>
                  <a:srgbClr val="8B95AB"/>
                </a:solidFill>
                <a:latin typeface="Calibri"/>
              </a:rPr>
              <a:t>Cloud Build → Cloud Run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7903633" y="6121400"/>
            <a:ext cx="114300" cy="114300"/>
          </a:xfrm>
          <a:prstGeom prst="rightArrow">
            <a:avLst/>
          </a:prstGeom>
          <a:solidFill>
            <a:srgbClr val="5D6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068733" y="5943600"/>
            <a:ext cx="1648883" cy="469900"/>
          </a:xfrm>
          <a:prstGeom prst="roundRect">
            <a:avLst>
              <a:gd name="adj" fmla="val 13513"/>
            </a:avLst>
          </a:prstGeom>
          <a:solidFill>
            <a:srgbClr val="141820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068733" y="5943600"/>
            <a:ext cx="31750" cy="4699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183033" y="5981700"/>
            <a:ext cx="1483783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1">
                <a:solidFill>
                  <a:srgbClr val="34D399"/>
                </a:solidFill>
                <a:latin typeface="Consolas"/>
              </a:rPr>
              <a:t>5  </a:t>
            </a:r>
            <a:r>
              <a:rPr sz="900" b="1">
                <a:solidFill>
                  <a:srgbClr val="FFFFFF"/>
                </a:solidFill>
                <a:latin typeface="Calibri"/>
              </a:rPr>
              <a:t>Monitor</a:t>
            </a:r>
          </a:p>
          <a:p>
            <a:pPr algn="l"/>
            <a:r>
              <a:rPr sz="725" b="0">
                <a:solidFill>
                  <a:srgbClr val="8B95AB"/>
                </a:solidFill>
                <a:latin typeface="Calibri"/>
              </a:rPr>
              <a:t>Traces, logs, alerts</a:t>
            </a:r>
          </a:p>
        </p:txBody>
      </p:sp>
      <p:sp>
        <p:nvSpPr>
          <p:cNvPr id="84" name="Right Arrow 83"/>
          <p:cNvSpPr/>
          <p:nvPr/>
        </p:nvSpPr>
        <p:spPr>
          <a:xfrm>
            <a:off x="9768417" y="6121400"/>
            <a:ext cx="114300" cy="114300"/>
          </a:xfrm>
          <a:prstGeom prst="rightArrow">
            <a:avLst/>
          </a:prstGeom>
          <a:solidFill>
            <a:srgbClr val="5D6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9933517" y="5943600"/>
            <a:ext cx="1648883" cy="469900"/>
          </a:xfrm>
          <a:prstGeom prst="roundRect">
            <a:avLst>
              <a:gd name="adj" fmla="val 13513"/>
            </a:avLst>
          </a:prstGeom>
          <a:solidFill>
            <a:srgbClr val="141820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933517" y="5943600"/>
            <a:ext cx="31750" cy="4699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047817" y="5981700"/>
            <a:ext cx="1483783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1">
                <a:solidFill>
                  <a:srgbClr val="FBBF24"/>
                </a:solidFill>
                <a:latin typeface="Consolas"/>
              </a:rPr>
              <a:t>6  </a:t>
            </a:r>
            <a:r>
              <a:rPr sz="900" b="1">
                <a:solidFill>
                  <a:srgbClr val="FFFFFF"/>
                </a:solidFill>
                <a:latin typeface="Calibri"/>
              </a:rPr>
              <a:t>Learn</a:t>
            </a:r>
          </a:p>
          <a:p>
            <a:pPr algn="l"/>
            <a:r>
              <a:rPr sz="725" b="0">
                <a:solidFill>
                  <a:srgbClr val="8B95AB"/>
                </a:solidFill>
                <a:latin typeface="Calibri"/>
              </a:rPr>
              <a:t>Failures → golden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