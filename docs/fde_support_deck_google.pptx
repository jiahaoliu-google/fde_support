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Speaker Track (~1 min 15 sec):</a:t>
            </a:r>
          </a:p>
          <a:p/>
          <a:p>
            <a:r>
              <a:t>Thank you everyone for joining today's end-of-build presentation. When we started this project, your team shared a clear challenge: during busy retail moments, ticket volume jumps 300%. Frustrated customers with urgent problems get stuck waiting behind routine questions, your human specialists spend nearly half their day answering repetitive FAQs, and customers often type sensitive credit card numbers right into the chat box.</a:t>
            </a:r>
          </a:p>
          <a:p/>
          <a:p>
            <a:r>
              <a:t>Over this build, we created a Smart Support Router and Assistant tailored for Global Retail Hub. In our 100-ticket test exam, it caught 100% of frustrated customers to fast-track them to a human specialist, answered routine questions with 99.4% factual accuracy from your official support records, and runs for roughly 1.2 cents per ticket all-in.</a:t>
            </a:r>
          </a:p>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Speaker Track (~1 min 30 sec):</a:t>
            </a:r>
          </a:p>
          <a:p/>
          <a:p>
            <a:r>
              <a:t>Let's walk through what the product actually does when a customer reaches out. First, an Automatic Privacy Shield scrubs out credit card numbers, Social Security numbers, and emails before anything is saved or sent to the AI.</a:t>
            </a:r>
          </a:p>
          <a:p/>
          <a:p>
            <a:r>
              <a:t>Second, our Mood and Urgency Check reads the message in about two seconds: if the customer is frustrated, we don't force them to argue with a chatbot—the system immediately routes their ticket to a human specialist and pauses the AI even if the customer sends follow-up notes while waiting.</a:t>
            </a:r>
          </a:p>
          <a:p/>
          <a:p>
            <a:r>
              <a:t>Third, if it's a normal question, our Assistant checks your order system and searches 100,000 real past support records. If a customer asks something too vague—like 'I need help with my phone'—the AI is trained to ask one polite clarifying question rather than guessing. Finally, every AI answer is displayed alongside the exact source record it used in a clean web workspace.</a:t>
            </a:r>
          </a:p>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3 Speaker Track (~1 min 30 sec):</a:t>
            </a:r>
          </a:p>
          <a:p/>
          <a:p>
            <a:r>
              <a:t>To make the system fast, affordable, and easy to manage, we organized it like a well-run hotel concierge desk. When a customer signs in at the Front Door Security Gate, their message goes to our Central Coordinator.</a:t>
            </a:r>
          </a:p>
          <a:p/>
          <a:p>
            <a:r>
              <a:t>Instead of using one giant, expensive AI brain for everything, we use two specialists. First, a fast, lightweight Triage AI checks the customer's mood in about two seconds. If they're upset, the Coordinator files the ticket straight to a human.</a:t>
            </a:r>
          </a:p>
          <a:p/>
          <a:p>
            <a:r>
              <a:t>Only when the question is calm and factual does the Coordinator bring in our Research Specialist AI, which looks up your 100,000 official support records and order tracker to craft a verified reply. Everything is saved in a secure filing cabinet so your team always sees the full story.</a:t>
            </a:r>
          </a:p>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4 Speaker Track (~1 min 30 sec):</a:t>
            </a:r>
          </a:p>
          <a:p/>
          <a:p>
            <a:r>
              <a:t>Beyond features, we know a support system has to be trustworthy on your busiest days. We built in three non-negotiable guardrails. First, strict privacy: customers can only ever access their own tickets, and personal numbers are scrubbed at the door.</a:t>
            </a:r>
          </a:p>
          <a:p/>
          <a:p>
            <a:r>
              <a:t>Second, an automatic Safety Fuse. If the AI ever gets overloaded during a holiday rush, the fuse flips after three hiccups and routes customers straight to your human team in less than a hundredth of a second, so no customer ever sees an error screen.</a:t>
            </a:r>
          </a:p>
          <a:p/>
          <a:p>
            <a:r>
              <a:t>Third, a 'never guess' rule that hands the ticket to a person whenever an answer isn't in your official records. We tested the system against 100 realistic support scenarios and beat every single goal—catching 100% of frustrated customers and achieving 99.4% factual accuracy.</a:t>
            </a:r>
          </a:p>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5 Speaker Track (~1 min 30 sec):</a:t>
            </a:r>
          </a:p>
          <a:p/>
          <a:p>
            <a:r>
              <a:t>Let's look at exactly what the platform costs by module, based on our latest 100-ticket evaluation. A typical human-handled retail ticket costs $5 to $15. Before we ran our evaluation, we budgeted a conservative ceiling of 7.5 cents per ticket. However, in our actual 100-ticket evaluation, automatic prompt caching and concise AI responses brought our measured AI and search cost down to just $8.87 per 1,000 tickets—or $11.55 per 1,000 tickets (about 1.2 cents per ticket) when you include every live cloud module.</a:t>
            </a:r>
          </a:p>
          <a:p/>
          <a:p>
            <a:r>
              <a:t>Looking module by module: about 65% goes to our Research Specialist AI, 13% to Conversation Memory, 10% to Knowledge Library Search, 8% to active AI server time, and under 3% each to our Central Coordinator and Fast Triage AI, while our Privacy Shield costs less than a penny per thousand tickets. Urgent tickets cost just 0.03 cents because they skip the Research AI entirely.</a:t>
            </a:r>
          </a:p>
          <a:p/>
          <a:p>
            <a:r>
              <a:t>Combined with our $29-a-month prototype base, a 1,000-ticket pilot costs about $41 a month, and even 100,000 tickets on a 24/7 backup-protected enterprise database runs around $1,385 a month.</a:t>
            </a:r>
          </a:p>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6 Speaker Track (~1 min 30 sec):</a:t>
            </a:r>
          </a:p>
          <a:p/>
          <a:p>
            <a:r>
              <a:t>Every project involves practical trade-offs, and we want to share the five biggest decisions we made on your behalf. First, instead of running our most expensive AI model on every single message, we paired a fast, low-cost Triage model with a deeper Research model—slashing the cost of urgent escalations while keeping 99.4% accuracy on policy answers.</a:t>
            </a:r>
          </a:p>
          <a:p/>
          <a:p>
            <a:r>
              <a:t>Second, we chose on-demand servers and a starter database to keep your prototype bill at $29 a month, while designing the platform so we can flip a switch to a 24/7 backup database when you launch.</a:t>
            </a:r>
          </a:p>
          <a:p/>
          <a:p>
            <a:r>
              <a:t>Third, we decided to mask credit cards and emails before saving messages to storage, trading away raw text in logs for ironclad privacy protection. Fourth, we trained the AI to ask one clarifying question when a customer is vague rather than guessing. And fifth, we gave the policy assistant full conversation memory while keeping the mood-checker fresh on every turn.</a:t>
            </a:r>
          </a:p>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7 Speaker Track (~1 min 15 sec):</a:t>
            </a:r>
          </a:p>
          <a:p/>
          <a:p>
            <a:r>
              <a:t>Finally, we want to share how we built and verified so much in such a short window. We used an AI-Driven Delivery approach guided by a simple rule: 'AI does the heavy lifting, and humans verify and approve.'</a:t>
            </a:r>
          </a:p>
          <a:p/>
          <a:p>
            <a:r>
              <a:t>We used AI to conduct a 32-point security and quality audit, build the support workspace, and run over 200 automated safety checks.</a:t>
            </a:r>
          </a:p>
          <a:p/>
          <a:p>
            <a:r>
              <a:t>More importantly, we put strict guardrails in place: every single update has to pass a 5-step automated pre-flight checklist—including our 100-ticket final exam and a silent 'test flight' on a hidden preview server—before it ever reaches your customers. If any step falls short, the system automatically rolls back to the last safe version. Thank you—we'd love to open the floor for your questions!</a:t>
            </a:r>
          </a:p>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2"/>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Shape 3"/>
          <p:cNvSpPr/>
          <p:nvPr/>
        </p:nvSpPr>
        <p:spPr>
          <a:xfrm>
            <a:off x="457200" y="279400"/>
            <a:ext cx="114300" cy="38100"/>
          </a:xfrm>
          <a:prstGeom prst="roundRect">
            <a:avLst>
              <a:gd name="adj" fmla="val 50000"/>
            </a:avLst>
          </a:prstGeom>
          <a:solidFill>
            <a:srgbClr val="1A73E8"/>
          </a:solidFill>
          <a:ln>
            <a:noFill/>
          </a:ln>
          <a:effectLst/>
        </p:spPr>
        <p:txBody>
          <a:bodyPr rtlCol="0" anchor="ctr"/>
          <a:lstStyle/>
          <a:p>
            <a:pPr algn="ctr"/>
          </a:p>
        </p:txBody>
      </p:sp>
      <p:sp>
        <p:nvSpPr>
          <p:cNvPr id="4" name="Shape 4"/>
          <p:cNvSpPr/>
          <p:nvPr/>
        </p:nvSpPr>
        <p:spPr>
          <a:xfrm>
            <a:off x="596900" y="279400"/>
            <a:ext cx="114300" cy="38100"/>
          </a:xfrm>
          <a:prstGeom prst="roundRect">
            <a:avLst>
              <a:gd name="adj" fmla="val 50000"/>
            </a:avLst>
          </a:prstGeom>
          <a:solidFill>
            <a:srgbClr val="EA4335"/>
          </a:solidFill>
          <a:ln>
            <a:noFill/>
          </a:ln>
          <a:effectLst/>
        </p:spPr>
        <p:txBody>
          <a:bodyPr rtlCol="0" anchor="ctr"/>
          <a:lstStyle/>
          <a:p>
            <a:pPr algn="ctr"/>
          </a:p>
        </p:txBody>
      </p:sp>
      <p:sp>
        <p:nvSpPr>
          <p:cNvPr id="5" name="Shape 5"/>
          <p:cNvSpPr/>
          <p:nvPr/>
        </p:nvSpPr>
        <p:spPr>
          <a:xfrm>
            <a:off x="736600" y="279400"/>
            <a:ext cx="114300" cy="38100"/>
          </a:xfrm>
          <a:prstGeom prst="roundRect">
            <a:avLst>
              <a:gd name="adj" fmla="val 50000"/>
            </a:avLst>
          </a:prstGeom>
          <a:solidFill>
            <a:srgbClr val="FBBC04"/>
          </a:solidFill>
          <a:ln>
            <a:noFill/>
          </a:ln>
          <a:effectLst/>
        </p:spPr>
        <p:txBody>
          <a:bodyPr rtlCol="0" anchor="ctr"/>
          <a:lstStyle/>
          <a:p>
            <a:pPr algn="ctr"/>
          </a:p>
        </p:txBody>
      </p:sp>
      <p:sp>
        <p:nvSpPr>
          <p:cNvPr id="6" name="Shape 6"/>
          <p:cNvSpPr/>
          <p:nvPr/>
        </p:nvSpPr>
        <p:spPr>
          <a:xfrm>
            <a:off x="876300" y="279400"/>
            <a:ext cx="114300" cy="38100"/>
          </a:xfrm>
          <a:prstGeom prst="roundRect">
            <a:avLst>
              <a:gd name="adj" fmla="val 50000"/>
            </a:avLst>
          </a:prstGeom>
          <a:solidFill>
            <a:srgbClr val="34A853"/>
          </a:solidFill>
          <a:ln>
            <a:noFill/>
          </a:ln>
          <a:effectLst/>
        </p:spPr>
        <p:txBody>
          <a:bodyPr rtlCol="0" anchor="ctr"/>
          <a:lstStyle/>
          <a:p>
            <a:pPr algn="ctr"/>
          </a:p>
        </p:txBody>
      </p:sp>
      <p:sp>
        <p:nvSpPr>
          <p:cNvPr id="7" name="TextBox 7"/>
          <p:cNvSpPr txBox="1"/>
          <p:nvPr/>
        </p:nvSpPr>
        <p:spPr>
          <a:xfrm>
            <a:off x="1066800" y="241300"/>
            <a:ext cx="7620000" cy="152400"/>
          </a:xfrm>
          <a:prstGeom prst="rect">
            <a:avLst/>
          </a:prstGeom>
          <a:noFill/>
        </p:spPr>
        <p:txBody>
          <a:bodyPr wrap="square" anchor="t" lIns="0" rIns="0" tIns="0" bIns="0"/>
          <a:lstStyle/>
          <a:p>
            <a:pPr algn="l">
              <a:lnSpc>
                <a:spcPct val="120000"/>
              </a:lnSpc>
            </a:pPr>
            <a:r>
              <a:rPr lang="en-US" sz="950" b="1" dirty="0">
                <a:solidFill>
                  <a:srgbClr val="1A73E8"/>
                </a:solidFill>
                <a:latin typeface="Roboto"/>
                <a:ea typeface="Roboto"/>
                <a:cs typeface="Roboto"/>
              </a:rPr>
              <a:t>01 / BUSINESS CHALLENGE &amp; EXECUTIVE SUMMARY</a:t>
            </a:r>
          </a:p>
        </p:txBody>
      </p:sp>
      <p:sp>
        <p:nvSpPr>
          <p:cNvPr id="8" name="TextBox 8"/>
          <p:cNvSpPr txBox="1"/>
          <p:nvPr/>
        </p:nvSpPr>
        <p:spPr>
          <a:xfrm>
            <a:off x="10477500" y="241300"/>
            <a:ext cx="1257300" cy="152400"/>
          </a:xfrm>
          <a:prstGeom prst="rect">
            <a:avLst/>
          </a:prstGeom>
          <a:noFill/>
        </p:spPr>
        <p:txBody>
          <a:bodyPr wrap="square" anchor="t" lIns="0" rIns="0" tIns="0" bIns="0"/>
          <a:lstStyle/>
          <a:p>
            <a:pPr algn="r">
              <a:lnSpc>
                <a:spcPct val="120000"/>
              </a:lnSpc>
            </a:pPr>
            <a:r>
              <a:rPr lang="en-US" sz="950" b="1" dirty="0">
                <a:solidFill>
                  <a:srgbClr val="80868B"/>
                </a:solidFill>
                <a:latin typeface="Roboto"/>
                <a:ea typeface="Roboto"/>
                <a:cs typeface="Roboto"/>
              </a:rPr>
              <a:t>SLIDE 01 / 07</a:t>
            </a:r>
          </a:p>
        </p:txBody>
      </p:sp>
      <p:sp>
        <p:nvSpPr>
          <p:cNvPr id="9" name="TextBox 9"/>
          <p:cNvSpPr txBox="1"/>
          <p:nvPr/>
        </p:nvSpPr>
        <p:spPr>
          <a:xfrm>
            <a:off x="457200" y="431800"/>
            <a:ext cx="11277600" cy="292100"/>
          </a:xfrm>
          <a:prstGeom prst="rect">
            <a:avLst/>
          </a:prstGeom>
          <a:noFill/>
        </p:spPr>
        <p:txBody>
          <a:bodyPr wrap="square" anchor="t" lIns="0" rIns="0" tIns="0" bIns="0"/>
          <a:lstStyle/>
          <a:p>
            <a:pPr algn="l">
              <a:lnSpc>
                <a:spcPct val="120000"/>
              </a:lnSpc>
            </a:pPr>
            <a:r>
              <a:rPr lang="en-US" sz="2400" b="1" dirty="0">
                <a:solidFill>
                  <a:srgbClr val="202124"/>
                </a:solidFill>
                <a:latin typeface="Roboto"/>
                <a:ea typeface="Roboto"/>
                <a:cs typeface="Roboto"/>
              </a:rPr>
              <a:t>Giving Every Customer Fast, Accurate Help — Without Burning Out Your Team</a:t>
            </a:r>
          </a:p>
        </p:txBody>
      </p:sp>
      <p:sp>
        <p:nvSpPr>
          <p:cNvPr id="10" name="TextBox 10"/>
          <p:cNvSpPr txBox="1"/>
          <p:nvPr/>
        </p:nvSpPr>
        <p:spPr>
          <a:xfrm>
            <a:off x="457200" y="736600"/>
            <a:ext cx="11277600" cy="190500"/>
          </a:xfrm>
          <a:prstGeom prst="rect">
            <a:avLst/>
          </a:prstGeom>
          <a:noFill/>
        </p:spPr>
        <p:txBody>
          <a:bodyPr wrap="square" anchor="t" lIns="0" rIns="0" tIns="0" bIns="0"/>
          <a:lstStyle/>
          <a:p>
            <a:pPr algn="l">
              <a:lnSpc>
                <a:spcPct val="120000"/>
              </a:lnSpc>
            </a:pPr>
            <a:r>
              <a:rPr lang="en-US" sz="1200" dirty="0">
                <a:solidFill>
                  <a:srgbClr val="5F6368"/>
                </a:solidFill>
                <a:latin typeface="Roboto"/>
                <a:ea typeface="Roboto"/>
                <a:cs typeface="Roboto"/>
              </a:rPr>
              <a:t>Solving peak retail support surges by answering routine questions instantly and fast-tracking frustrated shoppers to human specialists.</a:t>
            </a:r>
          </a:p>
        </p:txBody>
      </p:sp>
      <p:sp>
        <p:nvSpPr>
          <p:cNvPr id="11" name="Shape 11"/>
          <p:cNvSpPr/>
          <p:nvPr/>
        </p:nvSpPr>
        <p:spPr>
          <a:xfrm>
            <a:off x="457200" y="6515100"/>
            <a:ext cx="11277600" cy="6350"/>
          </a:xfrm>
          <a:prstGeom prst="rect">
            <a:avLst/>
          </a:prstGeom>
          <a:solidFill>
            <a:srgbClr val="DADCE0"/>
          </a:solidFill>
          <a:ln>
            <a:noFill/>
          </a:ln>
          <a:effectLst/>
        </p:spPr>
        <p:txBody>
          <a:bodyPr rtlCol="0" anchor="ctr"/>
          <a:lstStyle/>
          <a:p>
            <a:pPr algn="ctr"/>
          </a:p>
        </p:txBody>
      </p:sp>
      <p:sp>
        <p:nvSpPr>
          <p:cNvPr id="12" name="TextBox 12"/>
          <p:cNvSpPr txBox="1"/>
          <p:nvPr/>
        </p:nvSpPr>
        <p:spPr>
          <a:xfrm>
            <a:off x="457200" y="6565900"/>
            <a:ext cx="8572500" cy="152400"/>
          </a:xfrm>
          <a:prstGeom prst="rect">
            <a:avLst/>
          </a:prstGeom>
          <a:noFill/>
        </p:spPr>
        <p:txBody>
          <a:bodyPr wrap="square" anchor="t" lIns="0" rIns="0" tIns="0" bIns="0"/>
          <a:lstStyle/>
          <a:p>
            <a:pPr algn="l">
              <a:lnSpc>
                <a:spcPct val="120000"/>
              </a:lnSpc>
            </a:pPr>
            <a:r>
              <a:rPr lang="en-US" sz="850" dirty="0">
                <a:solidFill>
                  <a:srgbClr val="80868B"/>
                </a:solidFill>
                <a:latin typeface="Roboto"/>
                <a:ea typeface="Roboto"/>
                <a:cs typeface="Roboto"/>
              </a:rPr>
              <a:t>Timing: ~1 min 15 sec  ·  Target Audience: Executive Sponsors, Customer Experience &amp; Support Operations Leaders</a:t>
            </a:r>
          </a:p>
        </p:txBody>
      </p:sp>
      <p:sp>
        <p:nvSpPr>
          <p:cNvPr id="13" name="TextBox 13"/>
          <p:cNvSpPr txBox="1"/>
          <p:nvPr/>
        </p:nvSpPr>
        <p:spPr>
          <a:xfrm>
            <a:off x="9017000" y="6565900"/>
            <a:ext cx="2717800" cy="152400"/>
          </a:xfrm>
          <a:prstGeom prst="rect">
            <a:avLst/>
          </a:prstGeom>
          <a:noFill/>
        </p:spPr>
        <p:txBody>
          <a:bodyPr wrap="square" anchor="t" lIns="0" rIns="0" tIns="0" bIns="0"/>
          <a:lstStyle/>
          <a:p>
            <a:pPr algn="r">
              <a:lnSpc>
                <a:spcPct val="120000"/>
              </a:lnSpc>
            </a:pPr>
            <a:r>
              <a:rPr lang="en-US" sz="850" dirty="0">
                <a:solidFill>
                  <a:srgbClr val="80868B"/>
                </a:solidFill>
                <a:latin typeface="Roboto"/>
                <a:ea typeface="Roboto"/>
                <a:cs typeface="Roboto"/>
              </a:rPr>
              <a:t>Global Retail Hub · Customer Build Readout</a:t>
            </a:r>
          </a:p>
        </p:txBody>
      </p:sp>
      <p:sp>
        <p:nvSpPr>
          <p:cNvPr id="14" name="Shape 14"/>
          <p:cNvSpPr/>
          <p:nvPr/>
        </p:nvSpPr>
        <p:spPr>
          <a:xfrm>
            <a:off x="457200" y="1041400"/>
            <a:ext cx="2705100" cy="12446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15" name="Shape 15"/>
          <p:cNvSpPr/>
          <p:nvPr/>
        </p:nvSpPr>
        <p:spPr>
          <a:xfrm>
            <a:off x="457200" y="1041400"/>
            <a:ext cx="2705100" cy="38100"/>
          </a:xfrm>
          <a:prstGeom prst="rect">
            <a:avLst/>
          </a:prstGeom>
          <a:solidFill>
            <a:srgbClr val="EA4335"/>
          </a:solidFill>
          <a:ln>
            <a:noFill/>
          </a:ln>
          <a:effectLst/>
        </p:spPr>
        <p:txBody>
          <a:bodyPr rtlCol="0" anchor="ctr"/>
          <a:lstStyle/>
          <a:p>
            <a:pPr algn="ctr"/>
          </a:p>
        </p:txBody>
      </p:sp>
      <p:sp>
        <p:nvSpPr>
          <p:cNvPr id="16" name="Shape 16"/>
          <p:cNvSpPr/>
          <p:nvPr/>
        </p:nvSpPr>
        <p:spPr>
          <a:xfrm>
            <a:off x="584200" y="1168400"/>
            <a:ext cx="920750" cy="152400"/>
          </a:xfrm>
          <a:prstGeom prst="roundRect">
            <a:avLst>
              <a:gd name="adj" fmla="val 50000"/>
            </a:avLst>
          </a:prstGeom>
          <a:solidFill>
            <a:srgbClr val="FCE8E6"/>
          </a:solidFill>
          <a:ln>
            <a:noFill/>
          </a:ln>
          <a:effectLst/>
        </p:spPr>
        <p:txBody>
          <a:bodyPr rtlCol="0" anchor="ctr"/>
          <a:lstStyle/>
          <a:p>
            <a:pPr algn="ctr"/>
          </a:p>
        </p:txBody>
      </p:sp>
      <p:sp>
        <p:nvSpPr>
          <p:cNvPr id="17" name="TextBox 17"/>
          <p:cNvSpPr txBox="1"/>
          <p:nvPr/>
        </p:nvSpPr>
        <p:spPr>
          <a:xfrm>
            <a:off x="584200" y="1168400"/>
            <a:ext cx="920750" cy="152400"/>
          </a:xfrm>
          <a:prstGeom prst="rect">
            <a:avLst/>
          </a:prstGeom>
          <a:noFill/>
        </p:spPr>
        <p:txBody>
          <a:bodyPr wrap="square" anchor="ctr" lIns="0" rIns="0" tIns="0" bIns="0"/>
          <a:lstStyle/>
          <a:p>
            <a:pPr algn="ctr">
              <a:lnSpc>
                <a:spcPct val="120000"/>
              </a:lnSpc>
            </a:pPr>
            <a:r>
              <a:rPr lang="en-US" sz="800" b="1" dirty="0">
                <a:solidFill>
                  <a:srgbClr val="EA4335"/>
                </a:solidFill>
                <a:latin typeface="Roboto"/>
                <a:ea typeface="Roboto"/>
                <a:cs typeface="Roboto"/>
              </a:rPr>
              <a:t>THE CHALLENGE</a:t>
            </a:r>
          </a:p>
        </p:txBody>
      </p:sp>
      <p:sp>
        <p:nvSpPr>
          <p:cNvPr id="18" name="TextBox 18"/>
          <p:cNvSpPr txBox="1"/>
          <p:nvPr/>
        </p:nvSpPr>
        <p:spPr>
          <a:xfrm>
            <a:off x="584200" y="1358900"/>
            <a:ext cx="2451100" cy="355600"/>
          </a:xfrm>
          <a:prstGeom prst="rect">
            <a:avLst/>
          </a:prstGeom>
          <a:noFill/>
        </p:spPr>
        <p:txBody>
          <a:bodyPr wrap="square" anchor="t" lIns="0" rIns="0" tIns="0" bIns="0"/>
          <a:lstStyle/>
          <a:p>
            <a:pPr algn="l">
              <a:lnSpc>
                <a:spcPct val="120000"/>
              </a:lnSpc>
            </a:pPr>
            <a:r>
              <a:rPr lang="en-US" sz="3000" b="1" dirty="0">
                <a:solidFill>
                  <a:srgbClr val="EA4335"/>
                </a:solidFill>
                <a:latin typeface="Roboto"/>
                <a:ea typeface="Roboto"/>
                <a:cs typeface="Roboto"/>
              </a:rPr>
              <a:t>300%</a:t>
            </a:r>
          </a:p>
        </p:txBody>
      </p:sp>
      <p:sp>
        <p:nvSpPr>
          <p:cNvPr id="19" name="TextBox 19"/>
          <p:cNvSpPr txBox="1"/>
          <p:nvPr/>
        </p:nvSpPr>
        <p:spPr>
          <a:xfrm>
            <a:off x="584200" y="1727200"/>
            <a:ext cx="2451100" cy="165100"/>
          </a:xfrm>
          <a:prstGeom prst="rect">
            <a:avLst/>
          </a:prstGeom>
          <a:noFill/>
        </p:spPr>
        <p:txBody>
          <a:bodyPr wrap="square" anchor="t" lIns="0" rIns="0" tIns="0" bIns="0"/>
          <a:lstStyle/>
          <a:p>
            <a:pPr algn="l">
              <a:lnSpc>
                <a:spcPct val="120000"/>
              </a:lnSpc>
            </a:pPr>
            <a:r>
              <a:rPr lang="en-US" sz="1250" b="1" dirty="0">
                <a:solidFill>
                  <a:srgbClr val="202124"/>
                </a:solidFill>
                <a:latin typeface="Roboto"/>
                <a:ea typeface="Roboto"/>
                <a:cs typeface="Roboto"/>
              </a:rPr>
              <a:t>Peak Traffic Surges</a:t>
            </a:r>
          </a:p>
        </p:txBody>
      </p:sp>
      <p:sp>
        <p:nvSpPr>
          <p:cNvPr id="20" name="TextBox 20"/>
          <p:cNvSpPr txBox="1"/>
          <p:nvPr/>
        </p:nvSpPr>
        <p:spPr>
          <a:xfrm>
            <a:off x="584200" y="1905000"/>
            <a:ext cx="2451100" cy="3175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Flash sales and holiday rushes triple daily support volume overnight.</a:t>
            </a:r>
          </a:p>
        </p:txBody>
      </p:sp>
      <p:sp>
        <p:nvSpPr>
          <p:cNvPr id="21" name="Shape 21"/>
          <p:cNvSpPr/>
          <p:nvPr/>
        </p:nvSpPr>
        <p:spPr>
          <a:xfrm>
            <a:off x="3314700" y="1041400"/>
            <a:ext cx="2705100" cy="12446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22" name="Shape 22"/>
          <p:cNvSpPr/>
          <p:nvPr/>
        </p:nvSpPr>
        <p:spPr>
          <a:xfrm>
            <a:off x="3314700" y="1041400"/>
            <a:ext cx="2705100" cy="38100"/>
          </a:xfrm>
          <a:prstGeom prst="rect">
            <a:avLst/>
          </a:prstGeom>
          <a:solidFill>
            <a:srgbClr val="B06000"/>
          </a:solidFill>
          <a:ln>
            <a:noFill/>
          </a:ln>
          <a:effectLst/>
        </p:spPr>
        <p:txBody>
          <a:bodyPr rtlCol="0" anchor="ctr"/>
          <a:lstStyle/>
          <a:p>
            <a:pPr algn="ctr"/>
          </a:p>
        </p:txBody>
      </p:sp>
      <p:sp>
        <p:nvSpPr>
          <p:cNvPr id="23" name="Shape 23"/>
          <p:cNvSpPr/>
          <p:nvPr/>
        </p:nvSpPr>
        <p:spPr>
          <a:xfrm>
            <a:off x="3441700" y="1168400"/>
            <a:ext cx="920750" cy="152400"/>
          </a:xfrm>
          <a:prstGeom prst="roundRect">
            <a:avLst>
              <a:gd name="adj" fmla="val 50000"/>
            </a:avLst>
          </a:prstGeom>
          <a:solidFill>
            <a:srgbClr val="FEF7E0"/>
          </a:solidFill>
          <a:ln>
            <a:noFill/>
          </a:ln>
          <a:effectLst/>
        </p:spPr>
        <p:txBody>
          <a:bodyPr rtlCol="0" anchor="ctr"/>
          <a:lstStyle/>
          <a:p>
            <a:pPr algn="ctr"/>
          </a:p>
        </p:txBody>
      </p:sp>
      <p:sp>
        <p:nvSpPr>
          <p:cNvPr id="24" name="TextBox 24"/>
          <p:cNvSpPr txBox="1"/>
          <p:nvPr/>
        </p:nvSpPr>
        <p:spPr>
          <a:xfrm>
            <a:off x="3441700" y="1168400"/>
            <a:ext cx="920750" cy="152400"/>
          </a:xfrm>
          <a:prstGeom prst="rect">
            <a:avLst/>
          </a:prstGeom>
          <a:noFill/>
        </p:spPr>
        <p:txBody>
          <a:bodyPr wrap="square" anchor="ctr" lIns="0" rIns="0" tIns="0" bIns="0"/>
          <a:lstStyle/>
          <a:p>
            <a:pPr algn="ctr">
              <a:lnSpc>
                <a:spcPct val="120000"/>
              </a:lnSpc>
            </a:pPr>
            <a:r>
              <a:rPr lang="en-US" sz="800" b="1" dirty="0">
                <a:solidFill>
                  <a:srgbClr val="B06000"/>
                </a:solidFill>
                <a:latin typeface="Roboto"/>
                <a:ea typeface="Roboto"/>
                <a:cs typeface="Roboto"/>
              </a:rPr>
              <a:t>AGENT WORKLOAD</a:t>
            </a:r>
          </a:p>
        </p:txBody>
      </p:sp>
      <p:sp>
        <p:nvSpPr>
          <p:cNvPr id="25" name="TextBox 25"/>
          <p:cNvSpPr txBox="1"/>
          <p:nvPr/>
        </p:nvSpPr>
        <p:spPr>
          <a:xfrm>
            <a:off x="3441700" y="1358900"/>
            <a:ext cx="2451100" cy="355600"/>
          </a:xfrm>
          <a:prstGeom prst="rect">
            <a:avLst/>
          </a:prstGeom>
          <a:noFill/>
        </p:spPr>
        <p:txBody>
          <a:bodyPr wrap="square" anchor="t" lIns="0" rIns="0" tIns="0" bIns="0"/>
          <a:lstStyle/>
          <a:p>
            <a:pPr algn="l">
              <a:lnSpc>
                <a:spcPct val="120000"/>
              </a:lnSpc>
            </a:pPr>
            <a:r>
              <a:rPr lang="en-US" sz="3000" b="1" dirty="0">
                <a:solidFill>
                  <a:srgbClr val="B06000"/>
                </a:solidFill>
                <a:latin typeface="Roboto"/>
                <a:ea typeface="Roboto"/>
                <a:cs typeface="Roboto"/>
              </a:rPr>
              <a:t>40%+</a:t>
            </a:r>
          </a:p>
        </p:txBody>
      </p:sp>
      <p:sp>
        <p:nvSpPr>
          <p:cNvPr id="26" name="TextBox 26"/>
          <p:cNvSpPr txBox="1"/>
          <p:nvPr/>
        </p:nvSpPr>
        <p:spPr>
          <a:xfrm>
            <a:off x="3441700" y="1727200"/>
            <a:ext cx="2451100" cy="165100"/>
          </a:xfrm>
          <a:prstGeom prst="rect">
            <a:avLst/>
          </a:prstGeom>
          <a:noFill/>
        </p:spPr>
        <p:txBody>
          <a:bodyPr wrap="square" anchor="t" lIns="0" rIns="0" tIns="0" bIns="0"/>
          <a:lstStyle/>
          <a:p>
            <a:pPr algn="l">
              <a:lnSpc>
                <a:spcPct val="120000"/>
              </a:lnSpc>
            </a:pPr>
            <a:r>
              <a:rPr lang="en-US" sz="1250" b="1" dirty="0">
                <a:solidFill>
                  <a:srgbClr val="202124"/>
                </a:solidFill>
                <a:latin typeface="Roboto"/>
                <a:ea typeface="Roboto"/>
                <a:cs typeface="Roboto"/>
              </a:rPr>
              <a:t>Repetitive Questions</a:t>
            </a:r>
          </a:p>
        </p:txBody>
      </p:sp>
      <p:sp>
        <p:nvSpPr>
          <p:cNvPr id="27" name="TextBox 27"/>
          <p:cNvSpPr txBox="1"/>
          <p:nvPr/>
        </p:nvSpPr>
        <p:spPr>
          <a:xfrm>
            <a:off x="3441700" y="1905000"/>
            <a:ext cx="2451100" cy="3175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Nearly half of daily inquiries ask standard return, shipping, or policy rules.</a:t>
            </a:r>
          </a:p>
        </p:txBody>
      </p:sp>
      <p:sp>
        <p:nvSpPr>
          <p:cNvPr id="28" name="Shape 28"/>
          <p:cNvSpPr/>
          <p:nvPr/>
        </p:nvSpPr>
        <p:spPr>
          <a:xfrm>
            <a:off x="6172200" y="1041400"/>
            <a:ext cx="2705100" cy="12446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29" name="Shape 29"/>
          <p:cNvSpPr/>
          <p:nvPr/>
        </p:nvSpPr>
        <p:spPr>
          <a:xfrm>
            <a:off x="6172200" y="1041400"/>
            <a:ext cx="2705100" cy="38100"/>
          </a:xfrm>
          <a:prstGeom prst="rect">
            <a:avLst/>
          </a:prstGeom>
          <a:solidFill>
            <a:srgbClr val="137333"/>
          </a:solidFill>
          <a:ln>
            <a:noFill/>
          </a:ln>
          <a:effectLst/>
        </p:spPr>
        <p:txBody>
          <a:bodyPr rtlCol="0" anchor="ctr"/>
          <a:lstStyle/>
          <a:p>
            <a:pPr algn="ctr"/>
          </a:p>
        </p:txBody>
      </p:sp>
      <p:sp>
        <p:nvSpPr>
          <p:cNvPr id="30" name="Shape 30"/>
          <p:cNvSpPr/>
          <p:nvPr/>
        </p:nvSpPr>
        <p:spPr>
          <a:xfrm>
            <a:off x="6299200" y="1168400"/>
            <a:ext cx="920750" cy="152400"/>
          </a:xfrm>
          <a:prstGeom prst="roundRect">
            <a:avLst>
              <a:gd name="adj" fmla="val 50000"/>
            </a:avLst>
          </a:prstGeom>
          <a:solidFill>
            <a:srgbClr val="E6F4EA"/>
          </a:solidFill>
          <a:ln>
            <a:noFill/>
          </a:ln>
          <a:effectLst/>
        </p:spPr>
        <p:txBody>
          <a:bodyPr rtlCol="0" anchor="ctr"/>
          <a:lstStyle/>
          <a:p>
            <a:pPr algn="ctr"/>
          </a:p>
        </p:txBody>
      </p:sp>
      <p:sp>
        <p:nvSpPr>
          <p:cNvPr id="31" name="TextBox 31"/>
          <p:cNvSpPr txBox="1"/>
          <p:nvPr/>
        </p:nvSpPr>
        <p:spPr>
          <a:xfrm>
            <a:off x="6299200" y="1168400"/>
            <a:ext cx="920750" cy="152400"/>
          </a:xfrm>
          <a:prstGeom prst="rect">
            <a:avLst/>
          </a:prstGeom>
          <a:noFill/>
        </p:spPr>
        <p:txBody>
          <a:bodyPr wrap="square" anchor="ctr" lIns="0" rIns="0" tIns="0" bIns="0"/>
          <a:lstStyle/>
          <a:p>
            <a:pPr algn="ctr">
              <a:lnSpc>
                <a:spcPct val="120000"/>
              </a:lnSpc>
            </a:pPr>
            <a:r>
              <a:rPr lang="en-US" sz="800" b="1" dirty="0">
                <a:solidFill>
                  <a:srgbClr val="137333"/>
                </a:solidFill>
                <a:latin typeface="Roboto"/>
                <a:ea typeface="Roboto"/>
                <a:cs typeface="Roboto"/>
              </a:rPr>
              <a:t>VERIFIED RESULT</a:t>
            </a:r>
          </a:p>
        </p:txBody>
      </p:sp>
      <p:sp>
        <p:nvSpPr>
          <p:cNvPr id="32" name="TextBox 32"/>
          <p:cNvSpPr txBox="1"/>
          <p:nvPr/>
        </p:nvSpPr>
        <p:spPr>
          <a:xfrm>
            <a:off x="6299200" y="1358900"/>
            <a:ext cx="2451100" cy="355600"/>
          </a:xfrm>
          <a:prstGeom prst="rect">
            <a:avLst/>
          </a:prstGeom>
          <a:noFill/>
        </p:spPr>
        <p:txBody>
          <a:bodyPr wrap="square" anchor="t" lIns="0" rIns="0" tIns="0" bIns="0"/>
          <a:lstStyle/>
          <a:p>
            <a:pPr algn="l">
              <a:lnSpc>
                <a:spcPct val="120000"/>
              </a:lnSpc>
            </a:pPr>
            <a:r>
              <a:rPr lang="en-US" sz="3000" b="1" dirty="0">
                <a:solidFill>
                  <a:srgbClr val="137333"/>
                </a:solidFill>
                <a:latin typeface="Roboto"/>
                <a:ea typeface="Roboto"/>
                <a:cs typeface="Roboto"/>
              </a:rPr>
              <a:t>100%</a:t>
            </a:r>
          </a:p>
        </p:txBody>
      </p:sp>
      <p:sp>
        <p:nvSpPr>
          <p:cNvPr id="33" name="TextBox 33"/>
          <p:cNvSpPr txBox="1"/>
          <p:nvPr/>
        </p:nvSpPr>
        <p:spPr>
          <a:xfrm>
            <a:off x="6299200" y="1727200"/>
            <a:ext cx="2451100" cy="165100"/>
          </a:xfrm>
          <a:prstGeom prst="rect">
            <a:avLst/>
          </a:prstGeom>
          <a:noFill/>
        </p:spPr>
        <p:txBody>
          <a:bodyPr wrap="square" anchor="t" lIns="0" rIns="0" tIns="0" bIns="0"/>
          <a:lstStyle/>
          <a:p>
            <a:pPr algn="l">
              <a:lnSpc>
                <a:spcPct val="120000"/>
              </a:lnSpc>
            </a:pPr>
            <a:r>
              <a:rPr lang="en-US" sz="1250" b="1" dirty="0">
                <a:solidFill>
                  <a:srgbClr val="202124"/>
                </a:solidFill>
                <a:latin typeface="Roboto"/>
                <a:ea typeface="Roboto"/>
                <a:cs typeface="Roboto"/>
              </a:rPr>
              <a:t>Upset Shoppers Caught</a:t>
            </a:r>
          </a:p>
        </p:txBody>
      </p:sp>
      <p:sp>
        <p:nvSpPr>
          <p:cNvPr id="34" name="TextBox 34"/>
          <p:cNvSpPr txBox="1"/>
          <p:nvPr/>
        </p:nvSpPr>
        <p:spPr>
          <a:xfrm>
            <a:off x="6299200" y="1905000"/>
            <a:ext cx="2451100" cy="3175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Every frustrated customer in our 100-ticket exam was routed to a human.</a:t>
            </a:r>
          </a:p>
        </p:txBody>
      </p:sp>
      <p:sp>
        <p:nvSpPr>
          <p:cNvPr id="35" name="Shape 35"/>
          <p:cNvSpPr/>
          <p:nvPr/>
        </p:nvSpPr>
        <p:spPr>
          <a:xfrm>
            <a:off x="9029700" y="1041400"/>
            <a:ext cx="2705100" cy="12446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36" name="Shape 36"/>
          <p:cNvSpPr/>
          <p:nvPr/>
        </p:nvSpPr>
        <p:spPr>
          <a:xfrm>
            <a:off x="9029700" y="1041400"/>
            <a:ext cx="2705100" cy="38100"/>
          </a:xfrm>
          <a:prstGeom prst="rect">
            <a:avLst/>
          </a:prstGeom>
          <a:solidFill>
            <a:srgbClr val="1A73E8"/>
          </a:solidFill>
          <a:ln>
            <a:noFill/>
          </a:ln>
          <a:effectLst/>
        </p:spPr>
        <p:txBody>
          <a:bodyPr rtlCol="0" anchor="ctr"/>
          <a:lstStyle/>
          <a:p>
            <a:pPr algn="ctr"/>
          </a:p>
        </p:txBody>
      </p:sp>
      <p:sp>
        <p:nvSpPr>
          <p:cNvPr id="37" name="Shape 37"/>
          <p:cNvSpPr/>
          <p:nvPr/>
        </p:nvSpPr>
        <p:spPr>
          <a:xfrm>
            <a:off x="9156700" y="1168400"/>
            <a:ext cx="920750" cy="152400"/>
          </a:xfrm>
          <a:prstGeom prst="roundRect">
            <a:avLst>
              <a:gd name="adj" fmla="val 50000"/>
            </a:avLst>
          </a:prstGeom>
          <a:solidFill>
            <a:srgbClr val="E8F0FE"/>
          </a:solidFill>
          <a:ln>
            <a:noFill/>
          </a:ln>
          <a:effectLst/>
        </p:spPr>
        <p:txBody>
          <a:bodyPr rtlCol="0" anchor="ctr"/>
          <a:lstStyle/>
          <a:p>
            <a:pPr algn="ctr"/>
          </a:p>
        </p:txBody>
      </p:sp>
      <p:sp>
        <p:nvSpPr>
          <p:cNvPr id="38" name="TextBox 38"/>
          <p:cNvSpPr txBox="1"/>
          <p:nvPr/>
        </p:nvSpPr>
        <p:spPr>
          <a:xfrm>
            <a:off x="9156700" y="1168400"/>
            <a:ext cx="920750" cy="152400"/>
          </a:xfrm>
          <a:prstGeom prst="rect">
            <a:avLst/>
          </a:prstGeom>
          <a:noFill/>
        </p:spPr>
        <p:txBody>
          <a:bodyPr wrap="square" anchor="ctr" lIns="0" rIns="0" tIns="0" bIns="0"/>
          <a:lstStyle/>
          <a:p>
            <a:pPr algn="ctr">
              <a:lnSpc>
                <a:spcPct val="120000"/>
              </a:lnSpc>
            </a:pPr>
            <a:r>
              <a:rPr lang="en-US" sz="800" b="1" dirty="0">
                <a:solidFill>
                  <a:srgbClr val="1A73E8"/>
                </a:solidFill>
                <a:latin typeface="Roboto"/>
                <a:ea typeface="Roboto"/>
                <a:cs typeface="Roboto"/>
              </a:rPr>
              <a:t>&gt;99% SAVINGS</a:t>
            </a:r>
          </a:p>
        </p:txBody>
      </p:sp>
      <p:sp>
        <p:nvSpPr>
          <p:cNvPr id="39" name="TextBox 39"/>
          <p:cNvSpPr txBox="1"/>
          <p:nvPr/>
        </p:nvSpPr>
        <p:spPr>
          <a:xfrm>
            <a:off x="9156700" y="1358900"/>
            <a:ext cx="2451100" cy="355600"/>
          </a:xfrm>
          <a:prstGeom prst="rect">
            <a:avLst/>
          </a:prstGeom>
          <a:noFill/>
        </p:spPr>
        <p:txBody>
          <a:bodyPr wrap="square" anchor="t" lIns="0" rIns="0" tIns="0" bIns="0"/>
          <a:lstStyle/>
          <a:p>
            <a:pPr algn="l">
              <a:lnSpc>
                <a:spcPct val="120000"/>
              </a:lnSpc>
            </a:pPr>
            <a:r>
              <a:rPr lang="en-US" sz="3000" b="1" dirty="0">
                <a:solidFill>
                  <a:srgbClr val="1A73E8"/>
                </a:solidFill>
                <a:latin typeface="Roboto"/>
                <a:ea typeface="Roboto"/>
                <a:cs typeface="Roboto"/>
              </a:rPr>
              <a:t>~$0.012</a:t>
            </a:r>
          </a:p>
        </p:txBody>
      </p:sp>
      <p:sp>
        <p:nvSpPr>
          <p:cNvPr id="40" name="TextBox 40"/>
          <p:cNvSpPr txBox="1"/>
          <p:nvPr/>
        </p:nvSpPr>
        <p:spPr>
          <a:xfrm>
            <a:off x="9156700" y="1727200"/>
            <a:ext cx="2451100" cy="165100"/>
          </a:xfrm>
          <a:prstGeom prst="rect">
            <a:avLst/>
          </a:prstGeom>
          <a:noFill/>
        </p:spPr>
        <p:txBody>
          <a:bodyPr wrap="square" anchor="t" lIns="0" rIns="0" tIns="0" bIns="0"/>
          <a:lstStyle/>
          <a:p>
            <a:pPr algn="l">
              <a:lnSpc>
                <a:spcPct val="120000"/>
              </a:lnSpc>
            </a:pPr>
            <a:r>
              <a:rPr lang="en-US" sz="1250" b="1" dirty="0">
                <a:solidFill>
                  <a:srgbClr val="202124"/>
                </a:solidFill>
                <a:latin typeface="Roboto"/>
                <a:ea typeface="Roboto"/>
                <a:cs typeface="Roboto"/>
              </a:rPr>
              <a:t>All-In Cost / Ticket</a:t>
            </a:r>
          </a:p>
        </p:txBody>
      </p:sp>
      <p:sp>
        <p:nvSpPr>
          <p:cNvPr id="41" name="TextBox 41"/>
          <p:cNvSpPr txBox="1"/>
          <p:nvPr/>
        </p:nvSpPr>
        <p:spPr>
          <a:xfrm>
            <a:off x="9156700" y="1905000"/>
            <a:ext cx="2451100" cy="3175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$8.87/1k in AI &amp; search ($11.55/1k all-in) vs. $5–$15 for manual triage.</a:t>
            </a:r>
          </a:p>
        </p:txBody>
      </p:sp>
      <p:sp>
        <p:nvSpPr>
          <p:cNvPr id="42" name="TextBox 42"/>
          <p:cNvSpPr txBox="1"/>
          <p:nvPr/>
        </p:nvSpPr>
        <p:spPr>
          <a:xfrm>
            <a:off x="457200" y="2425700"/>
            <a:ext cx="11277600" cy="165100"/>
          </a:xfrm>
          <a:prstGeom prst="rect">
            <a:avLst/>
          </a:prstGeom>
          <a:noFill/>
        </p:spPr>
        <p:txBody>
          <a:bodyPr wrap="square" anchor="t" lIns="0" rIns="0" tIns="0" bIns="0"/>
          <a:lstStyle/>
          <a:p>
            <a:pPr algn="l">
              <a:lnSpc>
                <a:spcPct val="120000"/>
              </a:lnSpc>
            </a:pPr>
            <a:r>
              <a:rPr lang="en-US" sz="1050" b="1" dirty="0">
                <a:solidFill>
                  <a:srgbClr val="5F6368"/>
                </a:solidFill>
                <a:latin typeface="Roboto"/>
                <a:ea typeface="Roboto"/>
                <a:cs typeface="Roboto"/>
              </a:rPr>
              <a:t>FOUR BUSINESS CHALLENGES FACING GLOBAL RETAIL HUB</a:t>
            </a:r>
          </a:p>
        </p:txBody>
      </p:sp>
      <p:sp>
        <p:nvSpPr>
          <p:cNvPr id="43" name="Shape 43"/>
          <p:cNvSpPr/>
          <p:nvPr/>
        </p:nvSpPr>
        <p:spPr>
          <a:xfrm>
            <a:off x="457200" y="2628900"/>
            <a:ext cx="5562600" cy="136525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44" name="Shape 44"/>
          <p:cNvSpPr/>
          <p:nvPr/>
        </p:nvSpPr>
        <p:spPr>
          <a:xfrm>
            <a:off x="457200" y="2628900"/>
            <a:ext cx="38100" cy="1365250"/>
          </a:xfrm>
          <a:prstGeom prst="rect">
            <a:avLst/>
          </a:prstGeom>
          <a:solidFill>
            <a:srgbClr val="EA4335"/>
          </a:solidFill>
          <a:ln>
            <a:noFill/>
          </a:ln>
          <a:effectLst/>
        </p:spPr>
        <p:txBody>
          <a:bodyPr rtlCol="0" anchor="ctr"/>
          <a:lstStyle/>
          <a:p>
            <a:pPr algn="ctr"/>
          </a:p>
        </p:txBody>
      </p:sp>
      <p:sp>
        <p:nvSpPr>
          <p:cNvPr id="45" name="TextBox 45"/>
          <p:cNvSpPr txBox="1"/>
          <p:nvPr/>
        </p:nvSpPr>
        <p:spPr>
          <a:xfrm>
            <a:off x="609600" y="2730500"/>
            <a:ext cx="3937000" cy="1778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1. Upset Customers Wait in the Wrong Line</a:t>
            </a:r>
          </a:p>
        </p:txBody>
      </p:sp>
      <p:sp>
        <p:nvSpPr>
          <p:cNvPr id="46" name="Shape 46"/>
          <p:cNvSpPr/>
          <p:nvPr/>
        </p:nvSpPr>
        <p:spPr>
          <a:xfrm>
            <a:off x="4781550" y="2730500"/>
            <a:ext cx="1111250" cy="152400"/>
          </a:xfrm>
          <a:prstGeom prst="roundRect">
            <a:avLst>
              <a:gd name="adj" fmla="val 50000"/>
            </a:avLst>
          </a:prstGeom>
          <a:solidFill>
            <a:srgbClr val="FCE8E6"/>
          </a:solidFill>
          <a:ln>
            <a:noFill/>
          </a:ln>
          <a:effectLst/>
        </p:spPr>
        <p:txBody>
          <a:bodyPr rtlCol="0" anchor="ctr"/>
          <a:lstStyle/>
          <a:p>
            <a:pPr algn="ctr"/>
          </a:p>
        </p:txBody>
      </p:sp>
      <p:sp>
        <p:nvSpPr>
          <p:cNvPr id="47" name="TextBox 47"/>
          <p:cNvSpPr txBox="1"/>
          <p:nvPr/>
        </p:nvSpPr>
        <p:spPr>
          <a:xfrm>
            <a:off x="4781550" y="2730500"/>
            <a:ext cx="1111250" cy="152400"/>
          </a:xfrm>
          <a:prstGeom prst="rect">
            <a:avLst/>
          </a:prstGeom>
          <a:noFill/>
        </p:spPr>
        <p:txBody>
          <a:bodyPr wrap="square" anchor="ctr" lIns="0" rIns="0" tIns="0" bIns="0"/>
          <a:lstStyle/>
          <a:p>
            <a:pPr algn="ctr">
              <a:lnSpc>
                <a:spcPct val="120000"/>
              </a:lnSpc>
            </a:pPr>
            <a:r>
              <a:rPr lang="en-US" sz="800" b="1" dirty="0">
                <a:solidFill>
                  <a:srgbClr val="EA4335"/>
                </a:solidFill>
                <a:latin typeface="Roboto"/>
                <a:ea typeface="Roboto"/>
                <a:cs typeface="Roboto"/>
              </a:rPr>
              <a:t>HIGH CHURN RISK</a:t>
            </a:r>
          </a:p>
        </p:txBody>
      </p:sp>
      <p:sp>
        <p:nvSpPr>
          <p:cNvPr id="48" name="TextBox 48"/>
          <p:cNvSpPr txBox="1"/>
          <p:nvPr/>
        </p:nvSpPr>
        <p:spPr>
          <a:xfrm>
            <a:off x="609600" y="2959100"/>
            <a:ext cx="5257800" cy="508000"/>
          </a:xfrm>
          <a:prstGeom prst="rect">
            <a:avLst/>
          </a:prstGeom>
          <a:noFill/>
        </p:spPr>
        <p:txBody>
          <a:bodyPr wrap="square" anchor="t" lIns="0" rIns="0" tIns="0" bIns="0"/>
          <a:lstStyle/>
          <a:p>
            <a:pPr algn="l">
              <a:lnSpc>
                <a:spcPct val="120000"/>
              </a:lnSpc>
            </a:pPr>
            <a:r>
              <a:rPr lang="en-US" sz="1050" dirty="0">
                <a:solidFill>
                  <a:srgbClr val="5F6368"/>
                </a:solidFill>
                <a:latin typeface="Roboto"/>
                <a:ea typeface="Roboto"/>
                <a:cs typeface="Roboto"/>
              </a:rPr>
              <a:t>When thousands of inquiries arrive at once, an angry shopper with a missing or broken order waits in the exact same queue as someone asking 'What is your return window?'</a:t>
            </a:r>
          </a:p>
        </p:txBody>
      </p:sp>
      <p:sp>
        <p:nvSpPr>
          <p:cNvPr id="49" name="Shape 49"/>
          <p:cNvSpPr/>
          <p:nvPr/>
        </p:nvSpPr>
        <p:spPr>
          <a:xfrm>
            <a:off x="609600" y="3517900"/>
            <a:ext cx="5257800" cy="3556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50" name="TextBox 50"/>
          <p:cNvSpPr txBox="1"/>
          <p:nvPr/>
        </p:nvSpPr>
        <p:spPr>
          <a:xfrm>
            <a:off x="698500" y="3581400"/>
            <a:ext cx="5080000" cy="254000"/>
          </a:xfrm>
          <a:prstGeom prst="rect">
            <a:avLst/>
          </a:prstGeom>
          <a:noFill/>
        </p:spPr>
        <p:txBody>
          <a:bodyPr wrap="square" anchor="t" lIns="0" rIns="0" tIns="0" bIns="0"/>
          <a:lstStyle/>
          <a:p>
            <a:pPr algn="l">
              <a:lnSpc>
                <a:spcPct val="120000"/>
              </a:lnSpc>
            </a:pPr>
            <a:r>
              <a:rPr lang="en-US" sz="1000" b="1" dirty="0">
                <a:solidFill>
                  <a:srgbClr val="202124"/>
                </a:solidFill>
                <a:latin typeface="Roboto"/>
                <a:ea typeface="Roboto"/>
                <a:cs typeface="Roboto"/>
              </a:rPr>
              <a:t>Outcome Delivered: Mood detection spots frustration in ~2 seconds and jumps them to the front of the human line.</a:t>
            </a:r>
          </a:p>
        </p:txBody>
      </p:sp>
      <p:sp>
        <p:nvSpPr>
          <p:cNvPr id="51" name="Shape 51"/>
          <p:cNvSpPr/>
          <p:nvPr/>
        </p:nvSpPr>
        <p:spPr>
          <a:xfrm>
            <a:off x="6172200" y="2628900"/>
            <a:ext cx="5562600" cy="136525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52" name="Shape 52"/>
          <p:cNvSpPr/>
          <p:nvPr/>
        </p:nvSpPr>
        <p:spPr>
          <a:xfrm>
            <a:off x="6172200" y="2628900"/>
            <a:ext cx="38100" cy="1365250"/>
          </a:xfrm>
          <a:prstGeom prst="rect">
            <a:avLst/>
          </a:prstGeom>
          <a:solidFill>
            <a:srgbClr val="B06000"/>
          </a:solidFill>
          <a:ln>
            <a:noFill/>
          </a:ln>
          <a:effectLst/>
        </p:spPr>
        <p:txBody>
          <a:bodyPr rtlCol="0" anchor="ctr"/>
          <a:lstStyle/>
          <a:p>
            <a:pPr algn="ctr"/>
          </a:p>
        </p:txBody>
      </p:sp>
      <p:sp>
        <p:nvSpPr>
          <p:cNvPr id="53" name="TextBox 53"/>
          <p:cNvSpPr txBox="1"/>
          <p:nvPr/>
        </p:nvSpPr>
        <p:spPr>
          <a:xfrm>
            <a:off x="6324600" y="2730500"/>
            <a:ext cx="3937000" cy="1778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2. Routine Questions Drain Your Best Specialists</a:t>
            </a:r>
          </a:p>
        </p:txBody>
      </p:sp>
      <p:sp>
        <p:nvSpPr>
          <p:cNvPr id="54" name="Shape 54"/>
          <p:cNvSpPr/>
          <p:nvPr/>
        </p:nvSpPr>
        <p:spPr>
          <a:xfrm>
            <a:off x="10496550" y="2730500"/>
            <a:ext cx="1111250" cy="152400"/>
          </a:xfrm>
          <a:prstGeom prst="roundRect">
            <a:avLst>
              <a:gd name="adj" fmla="val 50000"/>
            </a:avLst>
          </a:prstGeom>
          <a:solidFill>
            <a:srgbClr val="FEF7E0"/>
          </a:solidFill>
          <a:ln>
            <a:noFill/>
          </a:ln>
          <a:effectLst/>
        </p:spPr>
        <p:txBody>
          <a:bodyPr rtlCol="0" anchor="ctr"/>
          <a:lstStyle/>
          <a:p>
            <a:pPr algn="ctr"/>
          </a:p>
        </p:txBody>
      </p:sp>
      <p:sp>
        <p:nvSpPr>
          <p:cNvPr id="55" name="TextBox 55"/>
          <p:cNvSpPr txBox="1"/>
          <p:nvPr/>
        </p:nvSpPr>
        <p:spPr>
          <a:xfrm>
            <a:off x="10496550" y="2730500"/>
            <a:ext cx="1111250" cy="152400"/>
          </a:xfrm>
          <a:prstGeom prst="rect">
            <a:avLst/>
          </a:prstGeom>
          <a:noFill/>
        </p:spPr>
        <p:txBody>
          <a:bodyPr wrap="square" anchor="ctr" lIns="0" rIns="0" tIns="0" bIns="0"/>
          <a:lstStyle/>
          <a:p>
            <a:pPr algn="ctr">
              <a:lnSpc>
                <a:spcPct val="120000"/>
              </a:lnSpc>
            </a:pPr>
            <a:r>
              <a:rPr lang="en-US" sz="800" b="1" dirty="0">
                <a:solidFill>
                  <a:srgbClr val="B06000"/>
                </a:solidFill>
                <a:latin typeface="Roboto"/>
                <a:ea typeface="Roboto"/>
                <a:cs typeface="Roboto"/>
              </a:rPr>
              <a:t>RISING SUPPORT COSTS</a:t>
            </a:r>
          </a:p>
        </p:txBody>
      </p:sp>
      <p:sp>
        <p:nvSpPr>
          <p:cNvPr id="56" name="TextBox 56"/>
          <p:cNvSpPr txBox="1"/>
          <p:nvPr/>
        </p:nvSpPr>
        <p:spPr>
          <a:xfrm>
            <a:off x="6324600" y="2959100"/>
            <a:ext cx="5257800" cy="508000"/>
          </a:xfrm>
          <a:prstGeom prst="rect">
            <a:avLst/>
          </a:prstGeom>
          <a:noFill/>
        </p:spPr>
        <p:txBody>
          <a:bodyPr wrap="square" anchor="t" lIns="0" rIns="0" tIns="0" bIns="0"/>
          <a:lstStyle/>
          <a:p>
            <a:pPr algn="l">
              <a:lnSpc>
                <a:spcPct val="120000"/>
              </a:lnSpc>
            </a:pPr>
            <a:r>
              <a:rPr lang="en-US" sz="1050" dirty="0">
                <a:solidFill>
                  <a:srgbClr val="5F6368"/>
                </a:solidFill>
                <a:latin typeface="Roboto"/>
                <a:ea typeface="Roboto"/>
                <a:cs typeface="Roboto"/>
              </a:rPr>
              <a:t>Over 40% of incoming tickets are repetitive policy or order-tracking questions that pull skilled human agents away from complex, high-empathy customer issues.</a:t>
            </a:r>
          </a:p>
        </p:txBody>
      </p:sp>
      <p:sp>
        <p:nvSpPr>
          <p:cNvPr id="57" name="Shape 57"/>
          <p:cNvSpPr/>
          <p:nvPr/>
        </p:nvSpPr>
        <p:spPr>
          <a:xfrm>
            <a:off x="6324600" y="3517900"/>
            <a:ext cx="5257800" cy="3556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58" name="TextBox 58"/>
          <p:cNvSpPr txBox="1"/>
          <p:nvPr/>
        </p:nvSpPr>
        <p:spPr>
          <a:xfrm>
            <a:off x="6413500" y="3581400"/>
            <a:ext cx="5080000" cy="254000"/>
          </a:xfrm>
          <a:prstGeom prst="rect">
            <a:avLst/>
          </a:prstGeom>
          <a:noFill/>
        </p:spPr>
        <p:txBody>
          <a:bodyPr wrap="square" anchor="t" lIns="0" rIns="0" tIns="0" bIns="0"/>
          <a:lstStyle/>
          <a:p>
            <a:pPr algn="l">
              <a:lnSpc>
                <a:spcPct val="120000"/>
              </a:lnSpc>
            </a:pPr>
            <a:r>
              <a:rPr lang="en-US" sz="1000" b="1" dirty="0">
                <a:solidFill>
                  <a:srgbClr val="202124"/>
                </a:solidFill>
                <a:latin typeface="Roboto"/>
                <a:ea typeface="Roboto"/>
                <a:cs typeface="Roboto"/>
              </a:rPr>
              <a:t>Outcome Delivered: Automated policy &amp; order lookup resolves routine inquiries 24/7 with 99.4% factual accuracy.</a:t>
            </a:r>
          </a:p>
        </p:txBody>
      </p:sp>
      <p:sp>
        <p:nvSpPr>
          <p:cNvPr id="59" name="Shape 59"/>
          <p:cNvSpPr/>
          <p:nvPr/>
        </p:nvSpPr>
        <p:spPr>
          <a:xfrm>
            <a:off x="457200" y="4121150"/>
            <a:ext cx="5562600" cy="136525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60" name="Shape 60"/>
          <p:cNvSpPr/>
          <p:nvPr/>
        </p:nvSpPr>
        <p:spPr>
          <a:xfrm>
            <a:off x="457200" y="4121150"/>
            <a:ext cx="38100" cy="1365250"/>
          </a:xfrm>
          <a:prstGeom prst="rect">
            <a:avLst/>
          </a:prstGeom>
          <a:solidFill>
            <a:srgbClr val="1A73E8"/>
          </a:solidFill>
          <a:ln>
            <a:noFill/>
          </a:ln>
          <a:effectLst/>
        </p:spPr>
        <p:txBody>
          <a:bodyPr rtlCol="0" anchor="ctr"/>
          <a:lstStyle/>
          <a:p>
            <a:pPr algn="ctr"/>
          </a:p>
        </p:txBody>
      </p:sp>
      <p:sp>
        <p:nvSpPr>
          <p:cNvPr id="61" name="TextBox 61"/>
          <p:cNvSpPr txBox="1"/>
          <p:nvPr/>
        </p:nvSpPr>
        <p:spPr>
          <a:xfrm>
            <a:off x="609600" y="4222750"/>
            <a:ext cx="3937000" cy="1778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3. Traditional Chatbots Freeze or Make Up Rules</a:t>
            </a:r>
          </a:p>
        </p:txBody>
      </p:sp>
      <p:sp>
        <p:nvSpPr>
          <p:cNvPr id="62" name="Shape 62"/>
          <p:cNvSpPr/>
          <p:nvPr/>
        </p:nvSpPr>
        <p:spPr>
          <a:xfrm>
            <a:off x="4781550" y="4222750"/>
            <a:ext cx="1111250" cy="152400"/>
          </a:xfrm>
          <a:prstGeom prst="roundRect">
            <a:avLst>
              <a:gd name="adj" fmla="val 50000"/>
            </a:avLst>
          </a:prstGeom>
          <a:solidFill>
            <a:srgbClr val="E8F0FE"/>
          </a:solidFill>
          <a:ln>
            <a:noFill/>
          </a:ln>
          <a:effectLst/>
        </p:spPr>
        <p:txBody>
          <a:bodyPr rtlCol="0" anchor="ctr"/>
          <a:lstStyle/>
          <a:p>
            <a:pPr algn="ctr"/>
          </a:p>
        </p:txBody>
      </p:sp>
      <p:sp>
        <p:nvSpPr>
          <p:cNvPr id="63" name="TextBox 63"/>
          <p:cNvSpPr txBox="1"/>
          <p:nvPr/>
        </p:nvSpPr>
        <p:spPr>
          <a:xfrm>
            <a:off x="4781550" y="4222750"/>
            <a:ext cx="1111250" cy="152400"/>
          </a:xfrm>
          <a:prstGeom prst="rect">
            <a:avLst/>
          </a:prstGeom>
          <a:noFill/>
        </p:spPr>
        <p:txBody>
          <a:bodyPr wrap="square" anchor="ctr" lIns="0" rIns="0" tIns="0" bIns="0"/>
          <a:lstStyle/>
          <a:p>
            <a:pPr algn="ctr">
              <a:lnSpc>
                <a:spcPct val="120000"/>
              </a:lnSpc>
            </a:pPr>
            <a:r>
              <a:rPr lang="en-US" sz="800" b="1" dirty="0">
                <a:solidFill>
                  <a:srgbClr val="1A73E8"/>
                </a:solidFill>
                <a:latin typeface="Roboto"/>
                <a:ea typeface="Roboto"/>
                <a:cs typeface="Roboto"/>
              </a:rPr>
              <a:t>BRAND &amp; REFUND RISK</a:t>
            </a:r>
          </a:p>
        </p:txBody>
      </p:sp>
      <p:sp>
        <p:nvSpPr>
          <p:cNvPr id="64" name="TextBox 64"/>
          <p:cNvSpPr txBox="1"/>
          <p:nvPr/>
        </p:nvSpPr>
        <p:spPr>
          <a:xfrm>
            <a:off x="609600" y="4451350"/>
            <a:ext cx="5257800" cy="508000"/>
          </a:xfrm>
          <a:prstGeom prst="rect">
            <a:avLst/>
          </a:prstGeom>
          <a:noFill/>
        </p:spPr>
        <p:txBody>
          <a:bodyPr wrap="square" anchor="t" lIns="0" rIns="0" tIns="0" bIns="0"/>
          <a:lstStyle/>
          <a:p>
            <a:pPr algn="l">
              <a:lnSpc>
                <a:spcPct val="120000"/>
              </a:lnSpc>
            </a:pPr>
            <a:r>
              <a:rPr lang="en-US" sz="1050" dirty="0">
                <a:solidFill>
                  <a:srgbClr val="5F6368"/>
                </a:solidFill>
                <a:latin typeface="Roboto"/>
                <a:ea typeface="Roboto"/>
                <a:cs typeface="Roboto"/>
              </a:rPr>
              <a:t>During peak traffic spikes, older chatbots either slow to a crawl or guess wrong store policies—creating customer frustration, costly refunds, and compliance issues.</a:t>
            </a:r>
          </a:p>
        </p:txBody>
      </p:sp>
      <p:sp>
        <p:nvSpPr>
          <p:cNvPr id="65" name="Shape 65"/>
          <p:cNvSpPr/>
          <p:nvPr/>
        </p:nvSpPr>
        <p:spPr>
          <a:xfrm>
            <a:off x="609600" y="5010150"/>
            <a:ext cx="5257800" cy="3556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66" name="TextBox 66"/>
          <p:cNvSpPr txBox="1"/>
          <p:nvPr/>
        </p:nvSpPr>
        <p:spPr>
          <a:xfrm>
            <a:off x="698500" y="5073650"/>
            <a:ext cx="5080000" cy="254000"/>
          </a:xfrm>
          <a:prstGeom prst="rect">
            <a:avLst/>
          </a:prstGeom>
          <a:noFill/>
        </p:spPr>
        <p:txBody>
          <a:bodyPr wrap="square" anchor="t" lIns="0" rIns="0" tIns="0" bIns="0"/>
          <a:lstStyle/>
          <a:p>
            <a:pPr algn="l">
              <a:lnSpc>
                <a:spcPct val="120000"/>
              </a:lnSpc>
            </a:pPr>
            <a:r>
              <a:rPr lang="en-US" sz="1000" b="1" dirty="0">
                <a:solidFill>
                  <a:srgbClr val="202124"/>
                </a:solidFill>
                <a:latin typeface="Roboto"/>
                <a:ea typeface="Roboto"/>
                <a:cs typeface="Roboto"/>
              </a:rPr>
              <a:t>Outcome Delivered: Grounded strictly in 100,000 official support records with an automatic safety fuse for peak traffic.</a:t>
            </a:r>
          </a:p>
        </p:txBody>
      </p:sp>
      <p:sp>
        <p:nvSpPr>
          <p:cNvPr id="67" name="Shape 67"/>
          <p:cNvSpPr/>
          <p:nvPr/>
        </p:nvSpPr>
        <p:spPr>
          <a:xfrm>
            <a:off x="6172200" y="4121150"/>
            <a:ext cx="5562600" cy="136525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68" name="Shape 68"/>
          <p:cNvSpPr/>
          <p:nvPr/>
        </p:nvSpPr>
        <p:spPr>
          <a:xfrm>
            <a:off x="6172200" y="4121150"/>
            <a:ext cx="38100" cy="1365250"/>
          </a:xfrm>
          <a:prstGeom prst="rect">
            <a:avLst/>
          </a:prstGeom>
          <a:solidFill>
            <a:srgbClr val="137333"/>
          </a:solidFill>
          <a:ln>
            <a:noFill/>
          </a:ln>
          <a:effectLst/>
        </p:spPr>
        <p:txBody>
          <a:bodyPr rtlCol="0" anchor="ctr"/>
          <a:lstStyle/>
          <a:p>
            <a:pPr algn="ctr"/>
          </a:p>
        </p:txBody>
      </p:sp>
      <p:sp>
        <p:nvSpPr>
          <p:cNvPr id="69" name="TextBox 69"/>
          <p:cNvSpPr txBox="1"/>
          <p:nvPr/>
        </p:nvSpPr>
        <p:spPr>
          <a:xfrm>
            <a:off x="6324600" y="4222750"/>
            <a:ext cx="3937000" cy="1778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4. Customers Type Sensitive Numbers into Chat</a:t>
            </a:r>
          </a:p>
        </p:txBody>
      </p:sp>
      <p:sp>
        <p:nvSpPr>
          <p:cNvPr id="70" name="Shape 70"/>
          <p:cNvSpPr/>
          <p:nvPr/>
        </p:nvSpPr>
        <p:spPr>
          <a:xfrm>
            <a:off x="10496550" y="4222750"/>
            <a:ext cx="1111250" cy="152400"/>
          </a:xfrm>
          <a:prstGeom prst="roundRect">
            <a:avLst>
              <a:gd name="adj" fmla="val 50000"/>
            </a:avLst>
          </a:prstGeom>
          <a:solidFill>
            <a:srgbClr val="E6F4EA"/>
          </a:solidFill>
          <a:ln>
            <a:noFill/>
          </a:ln>
          <a:effectLst/>
        </p:spPr>
        <p:txBody>
          <a:bodyPr rtlCol="0" anchor="ctr"/>
          <a:lstStyle/>
          <a:p>
            <a:pPr algn="ctr"/>
          </a:p>
        </p:txBody>
      </p:sp>
      <p:sp>
        <p:nvSpPr>
          <p:cNvPr id="71" name="TextBox 71"/>
          <p:cNvSpPr txBox="1"/>
          <p:nvPr/>
        </p:nvSpPr>
        <p:spPr>
          <a:xfrm>
            <a:off x="10496550" y="4222750"/>
            <a:ext cx="1111250" cy="152400"/>
          </a:xfrm>
          <a:prstGeom prst="rect">
            <a:avLst/>
          </a:prstGeom>
          <a:noFill/>
        </p:spPr>
        <p:txBody>
          <a:bodyPr wrap="square" anchor="ctr" lIns="0" rIns="0" tIns="0" bIns="0"/>
          <a:lstStyle/>
          <a:p>
            <a:pPr algn="ctr">
              <a:lnSpc>
                <a:spcPct val="120000"/>
              </a:lnSpc>
            </a:pPr>
            <a:r>
              <a:rPr lang="en-US" sz="800" b="1" dirty="0">
                <a:solidFill>
                  <a:srgbClr val="137333"/>
                </a:solidFill>
                <a:latin typeface="Roboto"/>
                <a:ea typeface="Roboto"/>
                <a:cs typeface="Roboto"/>
              </a:rPr>
              <a:t>PRIVACY EXPOSURE</a:t>
            </a:r>
          </a:p>
        </p:txBody>
      </p:sp>
      <p:sp>
        <p:nvSpPr>
          <p:cNvPr id="72" name="TextBox 72"/>
          <p:cNvSpPr txBox="1"/>
          <p:nvPr/>
        </p:nvSpPr>
        <p:spPr>
          <a:xfrm>
            <a:off x="6324600" y="4451350"/>
            <a:ext cx="5257800" cy="508000"/>
          </a:xfrm>
          <a:prstGeom prst="rect">
            <a:avLst/>
          </a:prstGeom>
          <a:noFill/>
        </p:spPr>
        <p:txBody>
          <a:bodyPr wrap="square" anchor="t" lIns="0" rIns="0" tIns="0" bIns="0"/>
          <a:lstStyle/>
          <a:p>
            <a:pPr algn="l">
              <a:lnSpc>
                <a:spcPct val="120000"/>
              </a:lnSpc>
            </a:pPr>
            <a:r>
              <a:rPr lang="en-US" sz="1050" dirty="0">
                <a:solidFill>
                  <a:srgbClr val="5F6368"/>
                </a:solidFill>
                <a:latin typeface="Roboto"/>
                <a:ea typeface="Roboto"/>
                <a:cs typeface="Roboto"/>
              </a:rPr>
              <a:t>Shoppers regularly paste credit card numbers, Social Security numbers, and personal email addresses directly into support messages, creating compliance risk.</a:t>
            </a:r>
          </a:p>
        </p:txBody>
      </p:sp>
      <p:sp>
        <p:nvSpPr>
          <p:cNvPr id="73" name="Shape 73"/>
          <p:cNvSpPr/>
          <p:nvPr/>
        </p:nvSpPr>
        <p:spPr>
          <a:xfrm>
            <a:off x="6324600" y="5010150"/>
            <a:ext cx="5257800" cy="3556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74" name="TextBox 74"/>
          <p:cNvSpPr txBox="1"/>
          <p:nvPr/>
        </p:nvSpPr>
        <p:spPr>
          <a:xfrm>
            <a:off x="6413500" y="5073650"/>
            <a:ext cx="5080000" cy="254000"/>
          </a:xfrm>
          <a:prstGeom prst="rect">
            <a:avLst/>
          </a:prstGeom>
          <a:noFill/>
        </p:spPr>
        <p:txBody>
          <a:bodyPr wrap="square" anchor="t" lIns="0" rIns="0" tIns="0" bIns="0"/>
          <a:lstStyle/>
          <a:p>
            <a:pPr algn="l">
              <a:lnSpc>
                <a:spcPct val="120000"/>
              </a:lnSpc>
            </a:pPr>
            <a:r>
              <a:rPr lang="en-US" sz="1000" b="1" dirty="0">
                <a:solidFill>
                  <a:srgbClr val="202124"/>
                </a:solidFill>
                <a:latin typeface="Roboto"/>
                <a:ea typeface="Roboto"/>
                <a:cs typeface="Roboto"/>
              </a:rPr>
              <a:t>Outcome Delivered: Automatic Privacy Shield replaces sensitive data with [REDACTED] before AI processing or storage.</a:t>
            </a:r>
          </a:p>
        </p:txBody>
      </p:sp>
      <p:sp>
        <p:nvSpPr>
          <p:cNvPr id="75" name="Shape 75"/>
          <p:cNvSpPr/>
          <p:nvPr/>
        </p:nvSpPr>
        <p:spPr>
          <a:xfrm>
            <a:off x="457200" y="5638800"/>
            <a:ext cx="11277600" cy="749300"/>
          </a:xfrm>
          <a:prstGeom prst="roundRect">
            <a:avLst>
              <a:gd name="adj" fmla="val 3000"/>
            </a:avLst>
          </a:prstGeom>
          <a:solidFill>
            <a:srgbClr val="E8F0FE"/>
          </a:solidFill>
          <a:ln w="12700">
            <a:solidFill>
              <a:srgbClr val="1A73E8"/>
            </a:solidFill>
          </a:ln>
          <a:effectLst/>
        </p:spPr>
        <p:txBody>
          <a:bodyPr rtlCol="0" anchor="ctr"/>
          <a:lstStyle/>
          <a:p>
            <a:pPr algn="ctr"/>
          </a:p>
        </p:txBody>
      </p:sp>
      <p:sp>
        <p:nvSpPr>
          <p:cNvPr id="76" name="Shape 76"/>
          <p:cNvSpPr/>
          <p:nvPr/>
        </p:nvSpPr>
        <p:spPr>
          <a:xfrm>
            <a:off x="457200" y="5638800"/>
            <a:ext cx="38100" cy="749300"/>
          </a:xfrm>
          <a:prstGeom prst="rect">
            <a:avLst/>
          </a:prstGeom>
          <a:solidFill>
            <a:srgbClr val="1A73E8"/>
          </a:solidFill>
          <a:ln>
            <a:noFill/>
          </a:ln>
          <a:effectLst/>
        </p:spPr>
        <p:txBody>
          <a:bodyPr rtlCol="0" anchor="ctr"/>
          <a:lstStyle/>
          <a:p>
            <a:pPr algn="ctr"/>
          </a:p>
        </p:txBody>
      </p:sp>
      <p:sp>
        <p:nvSpPr>
          <p:cNvPr id="77" name="TextBox 77"/>
          <p:cNvSpPr txBox="1"/>
          <p:nvPr/>
        </p:nvSpPr>
        <p:spPr>
          <a:xfrm>
            <a:off x="635000" y="5727700"/>
            <a:ext cx="10922000" cy="165100"/>
          </a:xfrm>
          <a:prstGeom prst="rect">
            <a:avLst/>
          </a:prstGeom>
          <a:noFill/>
        </p:spPr>
        <p:txBody>
          <a:bodyPr wrap="square" anchor="t" lIns="0" rIns="0" tIns="0" bIns="0"/>
          <a:lstStyle/>
          <a:p>
            <a:pPr algn="l">
              <a:lnSpc>
                <a:spcPct val="120000"/>
              </a:lnSpc>
            </a:pPr>
            <a:r>
              <a:rPr lang="en-US" sz="1050" b="1" dirty="0">
                <a:solidFill>
                  <a:srgbClr val="174EA6"/>
                </a:solidFill>
                <a:latin typeface="Roboto"/>
                <a:ea typeface="Roboto"/>
                <a:cs typeface="Roboto"/>
              </a:rPr>
              <a:t>WHAT WE DELIVERED AT THE END OF THIS BUILD</a:t>
            </a:r>
          </a:p>
        </p:txBody>
      </p:sp>
      <p:sp>
        <p:nvSpPr>
          <p:cNvPr id="78" name="TextBox 78"/>
          <p:cNvSpPr txBox="1"/>
          <p:nvPr/>
        </p:nvSpPr>
        <p:spPr>
          <a:xfrm>
            <a:off x="635000" y="5905500"/>
            <a:ext cx="10922000" cy="406400"/>
          </a:xfrm>
          <a:prstGeom prst="rect">
            <a:avLst/>
          </a:prstGeom>
          <a:noFill/>
        </p:spPr>
        <p:txBody>
          <a:bodyPr wrap="square" anchor="t" lIns="0" rIns="0" tIns="0" bIns="0"/>
          <a:lstStyle/>
          <a:p>
            <a:pPr algn="l">
              <a:lnSpc>
                <a:spcPct val="120000"/>
              </a:lnSpc>
            </a:pPr>
            <a:r>
              <a:rPr lang="en-US" sz="1150" dirty="0">
                <a:solidFill>
                  <a:srgbClr val="202124"/>
                </a:solidFill>
                <a:latin typeface="Roboto"/>
                <a:ea typeface="Roboto"/>
                <a:cs typeface="Roboto"/>
              </a:rPr>
              <a:t>A complete Smart Support Router &amp; Assistant on Google Cloud that protects customer privacy at the front door, catches 100% of frustrated shoppers for immediate human care, answers calm questions from 100,000 official records with 99.4% accuracy, and operates for ~1.2 cents per ticket all-in ($8.87/1k in AI &amp; search).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2"/>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Shape 3"/>
          <p:cNvSpPr/>
          <p:nvPr/>
        </p:nvSpPr>
        <p:spPr>
          <a:xfrm>
            <a:off x="457200" y="279400"/>
            <a:ext cx="114300" cy="38100"/>
          </a:xfrm>
          <a:prstGeom prst="roundRect">
            <a:avLst>
              <a:gd name="adj" fmla="val 50000"/>
            </a:avLst>
          </a:prstGeom>
          <a:solidFill>
            <a:srgbClr val="1A73E8"/>
          </a:solidFill>
          <a:ln>
            <a:noFill/>
          </a:ln>
          <a:effectLst/>
        </p:spPr>
        <p:txBody>
          <a:bodyPr rtlCol="0" anchor="ctr"/>
          <a:lstStyle/>
          <a:p>
            <a:pPr algn="ctr"/>
          </a:p>
        </p:txBody>
      </p:sp>
      <p:sp>
        <p:nvSpPr>
          <p:cNvPr id="4" name="Shape 4"/>
          <p:cNvSpPr/>
          <p:nvPr/>
        </p:nvSpPr>
        <p:spPr>
          <a:xfrm>
            <a:off x="596900" y="279400"/>
            <a:ext cx="114300" cy="38100"/>
          </a:xfrm>
          <a:prstGeom prst="roundRect">
            <a:avLst>
              <a:gd name="adj" fmla="val 50000"/>
            </a:avLst>
          </a:prstGeom>
          <a:solidFill>
            <a:srgbClr val="EA4335"/>
          </a:solidFill>
          <a:ln>
            <a:noFill/>
          </a:ln>
          <a:effectLst/>
        </p:spPr>
        <p:txBody>
          <a:bodyPr rtlCol="0" anchor="ctr"/>
          <a:lstStyle/>
          <a:p>
            <a:pPr algn="ctr"/>
          </a:p>
        </p:txBody>
      </p:sp>
      <p:sp>
        <p:nvSpPr>
          <p:cNvPr id="5" name="Shape 5"/>
          <p:cNvSpPr/>
          <p:nvPr/>
        </p:nvSpPr>
        <p:spPr>
          <a:xfrm>
            <a:off x="736600" y="279400"/>
            <a:ext cx="114300" cy="38100"/>
          </a:xfrm>
          <a:prstGeom prst="roundRect">
            <a:avLst>
              <a:gd name="adj" fmla="val 50000"/>
            </a:avLst>
          </a:prstGeom>
          <a:solidFill>
            <a:srgbClr val="FBBC04"/>
          </a:solidFill>
          <a:ln>
            <a:noFill/>
          </a:ln>
          <a:effectLst/>
        </p:spPr>
        <p:txBody>
          <a:bodyPr rtlCol="0" anchor="ctr"/>
          <a:lstStyle/>
          <a:p>
            <a:pPr algn="ctr"/>
          </a:p>
        </p:txBody>
      </p:sp>
      <p:sp>
        <p:nvSpPr>
          <p:cNvPr id="6" name="Shape 6"/>
          <p:cNvSpPr/>
          <p:nvPr/>
        </p:nvSpPr>
        <p:spPr>
          <a:xfrm>
            <a:off x="876300" y="279400"/>
            <a:ext cx="114300" cy="38100"/>
          </a:xfrm>
          <a:prstGeom prst="roundRect">
            <a:avLst>
              <a:gd name="adj" fmla="val 50000"/>
            </a:avLst>
          </a:prstGeom>
          <a:solidFill>
            <a:srgbClr val="34A853"/>
          </a:solidFill>
          <a:ln>
            <a:noFill/>
          </a:ln>
          <a:effectLst/>
        </p:spPr>
        <p:txBody>
          <a:bodyPr rtlCol="0" anchor="ctr"/>
          <a:lstStyle/>
          <a:p>
            <a:pPr algn="ctr"/>
          </a:p>
        </p:txBody>
      </p:sp>
      <p:sp>
        <p:nvSpPr>
          <p:cNvPr id="7" name="TextBox 7"/>
          <p:cNvSpPr txBox="1"/>
          <p:nvPr/>
        </p:nvSpPr>
        <p:spPr>
          <a:xfrm>
            <a:off x="1066800" y="241300"/>
            <a:ext cx="7620000" cy="152400"/>
          </a:xfrm>
          <a:prstGeom prst="rect">
            <a:avLst/>
          </a:prstGeom>
          <a:noFill/>
        </p:spPr>
        <p:txBody>
          <a:bodyPr wrap="square" anchor="t" lIns="0" rIns="0" tIns="0" bIns="0"/>
          <a:lstStyle/>
          <a:p>
            <a:pPr algn="l">
              <a:lnSpc>
                <a:spcPct val="120000"/>
              </a:lnSpc>
            </a:pPr>
            <a:r>
              <a:rPr lang="en-US" sz="950" b="1" dirty="0">
                <a:solidFill>
                  <a:srgbClr val="1A73E8"/>
                </a:solidFill>
                <a:latin typeface="Roboto"/>
                <a:ea typeface="Roboto"/>
                <a:cs typeface="Roboto"/>
              </a:rPr>
              <a:t>02 / PRODUCT CAPABILITIES &amp; CUSTOMER EXPERIENCE</a:t>
            </a:r>
          </a:p>
        </p:txBody>
      </p:sp>
      <p:sp>
        <p:nvSpPr>
          <p:cNvPr id="8" name="TextBox 8"/>
          <p:cNvSpPr txBox="1"/>
          <p:nvPr/>
        </p:nvSpPr>
        <p:spPr>
          <a:xfrm>
            <a:off x="10477500" y="241300"/>
            <a:ext cx="1257300" cy="152400"/>
          </a:xfrm>
          <a:prstGeom prst="rect">
            <a:avLst/>
          </a:prstGeom>
          <a:noFill/>
        </p:spPr>
        <p:txBody>
          <a:bodyPr wrap="square" anchor="t" lIns="0" rIns="0" tIns="0" bIns="0"/>
          <a:lstStyle/>
          <a:p>
            <a:pPr algn="r">
              <a:lnSpc>
                <a:spcPct val="120000"/>
              </a:lnSpc>
            </a:pPr>
            <a:r>
              <a:rPr lang="en-US" sz="950" b="1" dirty="0">
                <a:solidFill>
                  <a:srgbClr val="80868B"/>
                </a:solidFill>
                <a:latin typeface="Roboto"/>
                <a:ea typeface="Roboto"/>
                <a:cs typeface="Roboto"/>
              </a:rPr>
              <a:t>SLIDE 02 / 07</a:t>
            </a:r>
          </a:p>
        </p:txBody>
      </p:sp>
      <p:sp>
        <p:nvSpPr>
          <p:cNvPr id="9" name="TextBox 9"/>
          <p:cNvSpPr txBox="1"/>
          <p:nvPr/>
        </p:nvSpPr>
        <p:spPr>
          <a:xfrm>
            <a:off x="457200" y="431800"/>
            <a:ext cx="11277600" cy="292100"/>
          </a:xfrm>
          <a:prstGeom prst="rect">
            <a:avLst/>
          </a:prstGeom>
          <a:noFill/>
        </p:spPr>
        <p:txBody>
          <a:bodyPr wrap="square" anchor="t" lIns="0" rIns="0" tIns="0" bIns="0"/>
          <a:lstStyle/>
          <a:p>
            <a:pPr algn="l">
              <a:lnSpc>
                <a:spcPct val="120000"/>
              </a:lnSpc>
            </a:pPr>
            <a:r>
              <a:rPr lang="en-US" sz="2400" b="1" dirty="0">
                <a:solidFill>
                  <a:srgbClr val="202124"/>
                </a:solidFill>
                <a:latin typeface="Roboto"/>
                <a:ea typeface="Roboto"/>
                <a:cs typeface="Roboto"/>
              </a:rPr>
              <a:t>Five Everyday Capabilities That Protect Shoppers &amp; Empower Agents</a:t>
            </a:r>
          </a:p>
        </p:txBody>
      </p:sp>
      <p:sp>
        <p:nvSpPr>
          <p:cNvPr id="10" name="TextBox 10"/>
          <p:cNvSpPr txBox="1"/>
          <p:nvPr/>
        </p:nvSpPr>
        <p:spPr>
          <a:xfrm>
            <a:off x="457200" y="736600"/>
            <a:ext cx="11277600" cy="190500"/>
          </a:xfrm>
          <a:prstGeom prst="rect">
            <a:avLst/>
          </a:prstGeom>
          <a:noFill/>
        </p:spPr>
        <p:txBody>
          <a:bodyPr wrap="square" anchor="t" lIns="0" rIns="0" tIns="0" bIns="0"/>
          <a:lstStyle/>
          <a:p>
            <a:pPr algn="l">
              <a:lnSpc>
                <a:spcPct val="120000"/>
              </a:lnSpc>
            </a:pPr>
            <a:r>
              <a:rPr lang="en-US" sz="1200" dirty="0">
                <a:solidFill>
                  <a:srgbClr val="5F6368"/>
                </a:solidFill>
                <a:latin typeface="Roboto"/>
                <a:ea typeface="Roboto"/>
                <a:cs typeface="Roboto"/>
              </a:rPr>
              <a:t>Designed so every customer gets either an instant, verified answer or a warm, immediate handoff to a human specialist.</a:t>
            </a:r>
          </a:p>
        </p:txBody>
      </p:sp>
      <p:sp>
        <p:nvSpPr>
          <p:cNvPr id="11" name="Shape 11"/>
          <p:cNvSpPr/>
          <p:nvPr/>
        </p:nvSpPr>
        <p:spPr>
          <a:xfrm>
            <a:off x="457200" y="6515100"/>
            <a:ext cx="11277600" cy="6350"/>
          </a:xfrm>
          <a:prstGeom prst="rect">
            <a:avLst/>
          </a:prstGeom>
          <a:solidFill>
            <a:srgbClr val="DADCE0"/>
          </a:solidFill>
          <a:ln>
            <a:noFill/>
          </a:ln>
          <a:effectLst/>
        </p:spPr>
        <p:txBody>
          <a:bodyPr rtlCol="0" anchor="ctr"/>
          <a:lstStyle/>
          <a:p>
            <a:pPr algn="ctr"/>
          </a:p>
        </p:txBody>
      </p:sp>
      <p:sp>
        <p:nvSpPr>
          <p:cNvPr id="12" name="TextBox 12"/>
          <p:cNvSpPr txBox="1"/>
          <p:nvPr/>
        </p:nvSpPr>
        <p:spPr>
          <a:xfrm>
            <a:off x="457200" y="6565900"/>
            <a:ext cx="8572500" cy="152400"/>
          </a:xfrm>
          <a:prstGeom prst="rect">
            <a:avLst/>
          </a:prstGeom>
          <a:noFill/>
        </p:spPr>
        <p:txBody>
          <a:bodyPr wrap="square" anchor="t" lIns="0" rIns="0" tIns="0" bIns="0"/>
          <a:lstStyle/>
          <a:p>
            <a:pPr algn="l">
              <a:lnSpc>
                <a:spcPct val="120000"/>
              </a:lnSpc>
            </a:pPr>
            <a:r>
              <a:rPr lang="en-US" sz="850" dirty="0">
                <a:solidFill>
                  <a:srgbClr val="80868B"/>
                </a:solidFill>
                <a:latin typeface="Roboto"/>
                <a:ea typeface="Roboto"/>
                <a:cs typeface="Roboto"/>
              </a:rPr>
              <a:t>Timing: ~1 min 30 sec  ·  Focus: Functional capabilities experienced by customers and support teams</a:t>
            </a:r>
          </a:p>
        </p:txBody>
      </p:sp>
      <p:sp>
        <p:nvSpPr>
          <p:cNvPr id="13" name="TextBox 13"/>
          <p:cNvSpPr txBox="1"/>
          <p:nvPr/>
        </p:nvSpPr>
        <p:spPr>
          <a:xfrm>
            <a:off x="9017000" y="6565900"/>
            <a:ext cx="2717800" cy="152400"/>
          </a:xfrm>
          <a:prstGeom prst="rect">
            <a:avLst/>
          </a:prstGeom>
          <a:noFill/>
        </p:spPr>
        <p:txBody>
          <a:bodyPr wrap="square" anchor="t" lIns="0" rIns="0" tIns="0" bIns="0"/>
          <a:lstStyle/>
          <a:p>
            <a:pPr algn="r">
              <a:lnSpc>
                <a:spcPct val="120000"/>
              </a:lnSpc>
            </a:pPr>
            <a:r>
              <a:rPr lang="en-US" sz="850" dirty="0">
                <a:solidFill>
                  <a:srgbClr val="80868B"/>
                </a:solidFill>
                <a:latin typeface="Roboto"/>
                <a:ea typeface="Roboto"/>
                <a:cs typeface="Roboto"/>
              </a:rPr>
              <a:t>Global Retail Hub · Customer Build Readout</a:t>
            </a:r>
          </a:p>
        </p:txBody>
      </p:sp>
      <p:sp>
        <p:nvSpPr>
          <p:cNvPr id="14" name="Shape 14"/>
          <p:cNvSpPr/>
          <p:nvPr/>
        </p:nvSpPr>
        <p:spPr>
          <a:xfrm>
            <a:off x="457200" y="1041400"/>
            <a:ext cx="3657600" cy="24130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15" name="Shape 15"/>
          <p:cNvSpPr/>
          <p:nvPr/>
        </p:nvSpPr>
        <p:spPr>
          <a:xfrm>
            <a:off x="457200" y="1041400"/>
            <a:ext cx="3657600" cy="38100"/>
          </a:xfrm>
          <a:prstGeom prst="rect">
            <a:avLst/>
          </a:prstGeom>
          <a:solidFill>
            <a:srgbClr val="1A73E8"/>
          </a:solidFill>
          <a:ln>
            <a:noFill/>
          </a:ln>
          <a:effectLst/>
        </p:spPr>
        <p:txBody>
          <a:bodyPr rtlCol="0" anchor="ctr"/>
          <a:lstStyle/>
          <a:p>
            <a:pPr algn="ctr"/>
          </a:p>
        </p:txBody>
      </p:sp>
      <p:sp>
        <p:nvSpPr>
          <p:cNvPr id="16" name="Shape 16"/>
          <p:cNvSpPr/>
          <p:nvPr/>
        </p:nvSpPr>
        <p:spPr>
          <a:xfrm>
            <a:off x="609600" y="1193800"/>
            <a:ext cx="1016000" cy="165100"/>
          </a:xfrm>
          <a:prstGeom prst="roundRect">
            <a:avLst>
              <a:gd name="adj" fmla="val 50000"/>
            </a:avLst>
          </a:prstGeom>
          <a:solidFill>
            <a:srgbClr val="E8F0FE"/>
          </a:solidFill>
          <a:ln>
            <a:noFill/>
          </a:ln>
          <a:effectLst/>
        </p:spPr>
        <p:txBody>
          <a:bodyPr rtlCol="0" anchor="ctr"/>
          <a:lstStyle/>
          <a:p>
            <a:pPr algn="ctr"/>
          </a:p>
        </p:txBody>
      </p:sp>
      <p:sp>
        <p:nvSpPr>
          <p:cNvPr id="17" name="TextBox 17"/>
          <p:cNvSpPr txBox="1"/>
          <p:nvPr/>
        </p:nvSpPr>
        <p:spPr>
          <a:xfrm>
            <a:off x="609600" y="1193800"/>
            <a:ext cx="1016000" cy="165100"/>
          </a:xfrm>
          <a:prstGeom prst="rect">
            <a:avLst/>
          </a:prstGeom>
          <a:noFill/>
        </p:spPr>
        <p:txBody>
          <a:bodyPr wrap="square" anchor="ctr" lIns="0" rIns="0" tIns="0" bIns="0"/>
          <a:lstStyle/>
          <a:p>
            <a:pPr algn="ctr">
              <a:lnSpc>
                <a:spcPct val="120000"/>
              </a:lnSpc>
            </a:pPr>
            <a:r>
              <a:rPr lang="en-US" sz="850" b="1" dirty="0">
                <a:solidFill>
                  <a:srgbClr val="1A73E8"/>
                </a:solidFill>
                <a:latin typeface="Roboto"/>
                <a:ea typeface="Roboto"/>
                <a:cs typeface="Roboto"/>
              </a:rPr>
              <a:t>PRIVACY FIRST</a:t>
            </a:r>
          </a:p>
        </p:txBody>
      </p:sp>
      <p:sp>
        <p:nvSpPr>
          <p:cNvPr id="18" name="TextBox 18"/>
          <p:cNvSpPr txBox="1"/>
          <p:nvPr/>
        </p:nvSpPr>
        <p:spPr>
          <a:xfrm>
            <a:off x="609600" y="1435100"/>
            <a:ext cx="3352800" cy="203200"/>
          </a:xfrm>
          <a:prstGeom prst="rect">
            <a:avLst/>
          </a:prstGeom>
          <a:noFill/>
        </p:spPr>
        <p:txBody>
          <a:bodyPr wrap="square" anchor="t" lIns="0" rIns="0" tIns="0" bIns="0"/>
          <a:lstStyle/>
          <a:p>
            <a:pPr algn="l">
              <a:lnSpc>
                <a:spcPct val="120000"/>
              </a:lnSpc>
            </a:pPr>
            <a:r>
              <a:rPr lang="en-US" sz="1500" b="1" dirty="0">
                <a:solidFill>
                  <a:srgbClr val="202124"/>
                </a:solidFill>
                <a:latin typeface="Roboto"/>
                <a:ea typeface="Roboto"/>
                <a:cs typeface="Roboto"/>
              </a:rPr>
              <a:t>1. Automatic Privacy Shield</a:t>
            </a:r>
          </a:p>
        </p:txBody>
      </p:sp>
      <p:sp>
        <p:nvSpPr>
          <p:cNvPr id="19" name="TextBox 19"/>
          <p:cNvSpPr txBox="1"/>
          <p:nvPr/>
        </p:nvSpPr>
        <p:spPr>
          <a:xfrm>
            <a:off x="609600" y="1651000"/>
            <a:ext cx="3352800" cy="165100"/>
          </a:xfrm>
          <a:prstGeom prst="rect">
            <a:avLst/>
          </a:prstGeom>
          <a:noFill/>
        </p:spPr>
        <p:txBody>
          <a:bodyPr wrap="square" anchor="t" lIns="0" rIns="0" tIns="0" bIns="0"/>
          <a:lstStyle/>
          <a:p>
            <a:pPr algn="l">
              <a:lnSpc>
                <a:spcPct val="120000"/>
              </a:lnSpc>
            </a:pPr>
            <a:r>
              <a:rPr lang="en-US" sz="1100" b="1" dirty="0">
                <a:solidFill>
                  <a:srgbClr val="1A73E8"/>
                </a:solidFill>
                <a:latin typeface="Roboto"/>
                <a:ea typeface="Roboto"/>
                <a:cs typeface="Roboto"/>
              </a:rPr>
              <a:t>Protects Sensitive Data at the Door</a:t>
            </a:r>
          </a:p>
        </p:txBody>
      </p:sp>
      <p:sp>
        <p:nvSpPr>
          <p:cNvPr id="20" name="TextBox 20"/>
          <p:cNvSpPr txBox="1"/>
          <p:nvPr/>
        </p:nvSpPr>
        <p:spPr>
          <a:xfrm>
            <a:off x="609600" y="1866900"/>
            <a:ext cx="3352800" cy="889000"/>
          </a:xfrm>
          <a:prstGeom prst="rect">
            <a:avLst/>
          </a:prstGeom>
          <a:noFill/>
        </p:spPr>
        <p:txBody>
          <a:bodyPr wrap="square" anchor="t" lIns="0" rIns="0" tIns="0" bIns="0"/>
          <a:lstStyle/>
          <a:p>
            <a:pPr algn="l">
              <a:lnSpc>
                <a:spcPct val="120000"/>
              </a:lnSpc>
            </a:pPr>
            <a:r>
              <a:rPr lang="en-US" sz="1050" dirty="0">
                <a:solidFill>
                  <a:srgbClr val="5F6368"/>
                </a:solidFill>
                <a:latin typeface="Roboto"/>
                <a:ea typeface="Roboto"/>
                <a:cs typeface="Roboto"/>
              </a:rPr>
              <a:t>Automatically detects and masks credit card numbers, Social Security numbers, and email addresses as [REDACTED] before any AI reads the message or saves it to your records.</a:t>
            </a:r>
          </a:p>
        </p:txBody>
      </p:sp>
      <p:sp>
        <p:nvSpPr>
          <p:cNvPr id="21" name="Shape 21"/>
          <p:cNvSpPr/>
          <p:nvPr/>
        </p:nvSpPr>
        <p:spPr>
          <a:xfrm>
            <a:off x="609600" y="2895600"/>
            <a:ext cx="3352800" cy="419100"/>
          </a:xfrm>
          <a:prstGeom prst="roundRect">
            <a:avLst>
              <a:gd name="adj" fmla="val 4000"/>
            </a:avLst>
          </a:prstGeom>
          <a:solidFill>
            <a:srgbClr val="E8F0FE"/>
          </a:solidFill>
          <a:ln>
            <a:noFill/>
          </a:ln>
          <a:effectLst/>
        </p:spPr>
        <p:txBody>
          <a:bodyPr rtlCol="0" anchor="ctr"/>
          <a:lstStyle/>
          <a:p>
            <a:pPr algn="ctr"/>
          </a:p>
        </p:txBody>
      </p:sp>
      <p:sp>
        <p:nvSpPr>
          <p:cNvPr id="22" name="TextBox 22"/>
          <p:cNvSpPr txBox="1"/>
          <p:nvPr/>
        </p:nvSpPr>
        <p:spPr>
          <a:xfrm>
            <a:off x="698500" y="2971800"/>
            <a:ext cx="3175000" cy="279400"/>
          </a:xfrm>
          <a:prstGeom prst="rect">
            <a:avLst/>
          </a:prstGeom>
          <a:noFill/>
        </p:spPr>
        <p:txBody>
          <a:bodyPr wrap="square" anchor="t" lIns="0" rIns="0" tIns="0" bIns="0"/>
          <a:lstStyle/>
          <a:p>
            <a:pPr algn="l">
              <a:lnSpc>
                <a:spcPct val="120000"/>
              </a:lnSpc>
            </a:pPr>
            <a:r>
              <a:rPr lang="en-US" sz="1000" b="1" dirty="0">
                <a:solidFill>
                  <a:srgbClr val="1A73E8"/>
                </a:solidFill>
                <a:latin typeface="Roboto"/>
                <a:ea typeface="Roboto"/>
                <a:cs typeface="Roboto"/>
              </a:rPr>
              <a:t>Benefit: Zero raw personal numbers ever stored in chat history.</a:t>
            </a:r>
          </a:p>
        </p:txBody>
      </p:sp>
      <p:sp>
        <p:nvSpPr>
          <p:cNvPr id="23" name="Shape 23"/>
          <p:cNvSpPr/>
          <p:nvPr/>
        </p:nvSpPr>
        <p:spPr>
          <a:xfrm>
            <a:off x="4267200" y="1041400"/>
            <a:ext cx="3657600" cy="24130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24" name="Shape 24"/>
          <p:cNvSpPr/>
          <p:nvPr/>
        </p:nvSpPr>
        <p:spPr>
          <a:xfrm>
            <a:off x="4267200" y="1041400"/>
            <a:ext cx="3657600" cy="38100"/>
          </a:xfrm>
          <a:prstGeom prst="rect">
            <a:avLst/>
          </a:prstGeom>
          <a:solidFill>
            <a:srgbClr val="B06000"/>
          </a:solidFill>
          <a:ln>
            <a:noFill/>
          </a:ln>
          <a:effectLst/>
        </p:spPr>
        <p:txBody>
          <a:bodyPr rtlCol="0" anchor="ctr"/>
          <a:lstStyle/>
          <a:p>
            <a:pPr algn="ctr"/>
          </a:p>
        </p:txBody>
      </p:sp>
      <p:sp>
        <p:nvSpPr>
          <p:cNvPr id="25" name="Shape 25"/>
          <p:cNvSpPr/>
          <p:nvPr/>
        </p:nvSpPr>
        <p:spPr>
          <a:xfrm>
            <a:off x="4419600" y="1193800"/>
            <a:ext cx="1016000" cy="165100"/>
          </a:xfrm>
          <a:prstGeom prst="roundRect">
            <a:avLst>
              <a:gd name="adj" fmla="val 50000"/>
            </a:avLst>
          </a:prstGeom>
          <a:solidFill>
            <a:srgbClr val="FEF7E0"/>
          </a:solidFill>
          <a:ln>
            <a:noFill/>
          </a:ln>
          <a:effectLst/>
        </p:spPr>
        <p:txBody>
          <a:bodyPr rtlCol="0" anchor="ctr"/>
          <a:lstStyle/>
          <a:p>
            <a:pPr algn="ctr"/>
          </a:p>
        </p:txBody>
      </p:sp>
      <p:sp>
        <p:nvSpPr>
          <p:cNvPr id="26" name="TextBox 26"/>
          <p:cNvSpPr txBox="1"/>
          <p:nvPr/>
        </p:nvSpPr>
        <p:spPr>
          <a:xfrm>
            <a:off x="4419600" y="1193800"/>
            <a:ext cx="1016000" cy="165100"/>
          </a:xfrm>
          <a:prstGeom prst="rect">
            <a:avLst/>
          </a:prstGeom>
          <a:noFill/>
        </p:spPr>
        <p:txBody>
          <a:bodyPr wrap="square" anchor="ctr" lIns="0" rIns="0" tIns="0" bIns="0"/>
          <a:lstStyle/>
          <a:p>
            <a:pPr algn="ctr">
              <a:lnSpc>
                <a:spcPct val="120000"/>
              </a:lnSpc>
            </a:pPr>
            <a:r>
              <a:rPr lang="en-US" sz="850" b="1" dirty="0">
                <a:solidFill>
                  <a:srgbClr val="B06000"/>
                </a:solidFill>
                <a:latin typeface="Roboto"/>
                <a:ea typeface="Roboto"/>
                <a:cs typeface="Roboto"/>
              </a:rPr>
              <a:t>2-SECOND TRIAGE</a:t>
            </a:r>
          </a:p>
        </p:txBody>
      </p:sp>
      <p:sp>
        <p:nvSpPr>
          <p:cNvPr id="27" name="TextBox 27"/>
          <p:cNvSpPr txBox="1"/>
          <p:nvPr/>
        </p:nvSpPr>
        <p:spPr>
          <a:xfrm>
            <a:off x="4419600" y="1435100"/>
            <a:ext cx="3352800" cy="203200"/>
          </a:xfrm>
          <a:prstGeom prst="rect">
            <a:avLst/>
          </a:prstGeom>
          <a:noFill/>
        </p:spPr>
        <p:txBody>
          <a:bodyPr wrap="square" anchor="t" lIns="0" rIns="0" tIns="0" bIns="0"/>
          <a:lstStyle/>
          <a:p>
            <a:pPr algn="l">
              <a:lnSpc>
                <a:spcPct val="120000"/>
              </a:lnSpc>
            </a:pPr>
            <a:r>
              <a:rPr lang="en-US" sz="1500" b="1" dirty="0">
                <a:solidFill>
                  <a:srgbClr val="202124"/>
                </a:solidFill>
                <a:latin typeface="Roboto"/>
                <a:ea typeface="Roboto"/>
                <a:cs typeface="Roboto"/>
              </a:rPr>
              <a:t>2. Instant Mood &amp; Detail Check</a:t>
            </a:r>
          </a:p>
        </p:txBody>
      </p:sp>
      <p:sp>
        <p:nvSpPr>
          <p:cNvPr id="28" name="TextBox 28"/>
          <p:cNvSpPr txBox="1"/>
          <p:nvPr/>
        </p:nvSpPr>
        <p:spPr>
          <a:xfrm>
            <a:off x="4419600" y="1651000"/>
            <a:ext cx="3352800" cy="165100"/>
          </a:xfrm>
          <a:prstGeom prst="rect">
            <a:avLst/>
          </a:prstGeom>
          <a:noFill/>
        </p:spPr>
        <p:txBody>
          <a:bodyPr wrap="square" anchor="t" lIns="0" rIns="0" tIns="0" bIns="0"/>
          <a:lstStyle/>
          <a:p>
            <a:pPr algn="l">
              <a:lnSpc>
                <a:spcPct val="120000"/>
              </a:lnSpc>
            </a:pPr>
            <a:r>
              <a:rPr lang="en-US" sz="1100" b="1" dirty="0">
                <a:solidFill>
                  <a:srgbClr val="B06000"/>
                </a:solidFill>
                <a:latin typeface="Roboto"/>
                <a:ea typeface="Roboto"/>
                <a:cs typeface="Roboto"/>
              </a:rPr>
              <a:t>Reads Customer Tone &amp; Key Facts</a:t>
            </a:r>
          </a:p>
        </p:txBody>
      </p:sp>
      <p:sp>
        <p:nvSpPr>
          <p:cNvPr id="29" name="TextBox 29"/>
          <p:cNvSpPr txBox="1"/>
          <p:nvPr/>
        </p:nvSpPr>
        <p:spPr>
          <a:xfrm>
            <a:off x="4419600" y="1866900"/>
            <a:ext cx="3352800" cy="889000"/>
          </a:xfrm>
          <a:prstGeom prst="rect">
            <a:avLst/>
          </a:prstGeom>
          <a:noFill/>
        </p:spPr>
        <p:txBody>
          <a:bodyPr wrap="square" anchor="t" lIns="0" rIns="0" tIns="0" bIns="0"/>
          <a:lstStyle/>
          <a:p>
            <a:pPr algn="l">
              <a:lnSpc>
                <a:spcPct val="120000"/>
              </a:lnSpc>
            </a:pPr>
            <a:r>
              <a:rPr lang="en-US" sz="1050" dirty="0">
                <a:solidFill>
                  <a:srgbClr val="5F6368"/>
                </a:solidFill>
                <a:latin typeface="Roboto"/>
                <a:ea typeface="Roboto"/>
                <a:cs typeface="Roboto"/>
              </a:rPr>
              <a:t>Evaluates every incoming message in ~2 seconds to detect frustration or urgency, while automatically pulling out Order Numbers and Product Names for your team.</a:t>
            </a:r>
          </a:p>
        </p:txBody>
      </p:sp>
      <p:sp>
        <p:nvSpPr>
          <p:cNvPr id="30" name="Shape 30"/>
          <p:cNvSpPr/>
          <p:nvPr/>
        </p:nvSpPr>
        <p:spPr>
          <a:xfrm>
            <a:off x="4419600" y="2895600"/>
            <a:ext cx="3352800" cy="419100"/>
          </a:xfrm>
          <a:prstGeom prst="roundRect">
            <a:avLst>
              <a:gd name="adj" fmla="val 4000"/>
            </a:avLst>
          </a:prstGeom>
          <a:solidFill>
            <a:srgbClr val="FEF7E0"/>
          </a:solidFill>
          <a:ln>
            <a:noFill/>
          </a:ln>
          <a:effectLst/>
        </p:spPr>
        <p:txBody>
          <a:bodyPr rtlCol="0" anchor="ctr"/>
          <a:lstStyle/>
          <a:p>
            <a:pPr algn="ctr"/>
          </a:p>
        </p:txBody>
      </p:sp>
      <p:sp>
        <p:nvSpPr>
          <p:cNvPr id="31" name="TextBox 31"/>
          <p:cNvSpPr txBox="1"/>
          <p:nvPr/>
        </p:nvSpPr>
        <p:spPr>
          <a:xfrm>
            <a:off x="4508500" y="2971800"/>
            <a:ext cx="3175000" cy="279400"/>
          </a:xfrm>
          <a:prstGeom prst="rect">
            <a:avLst/>
          </a:prstGeom>
          <a:noFill/>
        </p:spPr>
        <p:txBody>
          <a:bodyPr wrap="square" anchor="t" lIns="0" rIns="0" tIns="0" bIns="0"/>
          <a:lstStyle/>
          <a:p>
            <a:pPr algn="l">
              <a:lnSpc>
                <a:spcPct val="120000"/>
              </a:lnSpc>
            </a:pPr>
            <a:r>
              <a:rPr lang="en-US" sz="1000" b="1" dirty="0">
                <a:solidFill>
                  <a:srgbClr val="B06000"/>
                </a:solidFill>
                <a:latin typeface="Roboto"/>
                <a:ea typeface="Roboto"/>
                <a:cs typeface="Roboto"/>
              </a:rPr>
              <a:t>Benefit: Human agents see the Order ID and issue summary immediately.</a:t>
            </a:r>
          </a:p>
        </p:txBody>
      </p:sp>
      <p:sp>
        <p:nvSpPr>
          <p:cNvPr id="32" name="Shape 32"/>
          <p:cNvSpPr/>
          <p:nvPr/>
        </p:nvSpPr>
        <p:spPr>
          <a:xfrm>
            <a:off x="8077200" y="1041400"/>
            <a:ext cx="3657600" cy="24130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33" name="Shape 33"/>
          <p:cNvSpPr/>
          <p:nvPr/>
        </p:nvSpPr>
        <p:spPr>
          <a:xfrm>
            <a:off x="8077200" y="1041400"/>
            <a:ext cx="3657600" cy="38100"/>
          </a:xfrm>
          <a:prstGeom prst="rect">
            <a:avLst/>
          </a:prstGeom>
          <a:solidFill>
            <a:srgbClr val="EA4335"/>
          </a:solidFill>
          <a:ln>
            <a:noFill/>
          </a:ln>
          <a:effectLst/>
        </p:spPr>
        <p:txBody>
          <a:bodyPr rtlCol="0" anchor="ctr"/>
          <a:lstStyle/>
          <a:p>
            <a:pPr algn="ctr"/>
          </a:p>
        </p:txBody>
      </p:sp>
      <p:sp>
        <p:nvSpPr>
          <p:cNvPr id="34" name="Shape 34"/>
          <p:cNvSpPr/>
          <p:nvPr/>
        </p:nvSpPr>
        <p:spPr>
          <a:xfrm>
            <a:off x="8229600" y="1193800"/>
            <a:ext cx="1016000" cy="165100"/>
          </a:xfrm>
          <a:prstGeom prst="roundRect">
            <a:avLst>
              <a:gd name="adj" fmla="val 50000"/>
            </a:avLst>
          </a:prstGeom>
          <a:solidFill>
            <a:srgbClr val="FCE8E6"/>
          </a:solidFill>
          <a:ln>
            <a:noFill/>
          </a:ln>
          <a:effectLst/>
        </p:spPr>
        <p:txBody>
          <a:bodyPr rtlCol="0" anchor="ctr"/>
          <a:lstStyle/>
          <a:p>
            <a:pPr algn="ctr"/>
          </a:p>
        </p:txBody>
      </p:sp>
      <p:sp>
        <p:nvSpPr>
          <p:cNvPr id="35" name="TextBox 35"/>
          <p:cNvSpPr txBox="1"/>
          <p:nvPr/>
        </p:nvSpPr>
        <p:spPr>
          <a:xfrm>
            <a:off x="8229600" y="1193800"/>
            <a:ext cx="1016000" cy="165100"/>
          </a:xfrm>
          <a:prstGeom prst="rect">
            <a:avLst/>
          </a:prstGeom>
          <a:noFill/>
        </p:spPr>
        <p:txBody>
          <a:bodyPr wrap="square" anchor="ctr" lIns="0" rIns="0" tIns="0" bIns="0"/>
          <a:lstStyle/>
          <a:p>
            <a:pPr algn="ctr">
              <a:lnSpc>
                <a:spcPct val="120000"/>
              </a:lnSpc>
            </a:pPr>
            <a:r>
              <a:rPr lang="en-US" sz="850" b="1" dirty="0">
                <a:solidFill>
                  <a:srgbClr val="EA4335"/>
                </a:solidFill>
                <a:latin typeface="Roboto"/>
                <a:ea typeface="Roboto"/>
                <a:cs typeface="Roboto"/>
              </a:rPr>
              <a:t>WARM HANDOFF</a:t>
            </a:r>
          </a:p>
        </p:txBody>
      </p:sp>
      <p:sp>
        <p:nvSpPr>
          <p:cNvPr id="36" name="TextBox 36"/>
          <p:cNvSpPr txBox="1"/>
          <p:nvPr/>
        </p:nvSpPr>
        <p:spPr>
          <a:xfrm>
            <a:off x="8229600" y="1435100"/>
            <a:ext cx="3352800" cy="203200"/>
          </a:xfrm>
          <a:prstGeom prst="rect">
            <a:avLst/>
          </a:prstGeom>
          <a:noFill/>
        </p:spPr>
        <p:txBody>
          <a:bodyPr wrap="square" anchor="t" lIns="0" rIns="0" tIns="0" bIns="0"/>
          <a:lstStyle/>
          <a:p>
            <a:pPr algn="l">
              <a:lnSpc>
                <a:spcPct val="120000"/>
              </a:lnSpc>
            </a:pPr>
            <a:r>
              <a:rPr lang="en-US" sz="1500" b="1" dirty="0">
                <a:solidFill>
                  <a:srgbClr val="202124"/>
                </a:solidFill>
                <a:latin typeface="Roboto"/>
                <a:ea typeface="Roboto"/>
                <a:cs typeface="Roboto"/>
              </a:rPr>
              <a:t>3. Fast-Track Human Escalation</a:t>
            </a:r>
          </a:p>
        </p:txBody>
      </p:sp>
      <p:sp>
        <p:nvSpPr>
          <p:cNvPr id="37" name="TextBox 37"/>
          <p:cNvSpPr txBox="1"/>
          <p:nvPr/>
        </p:nvSpPr>
        <p:spPr>
          <a:xfrm>
            <a:off x="8229600" y="1651000"/>
            <a:ext cx="3352800" cy="165100"/>
          </a:xfrm>
          <a:prstGeom prst="rect">
            <a:avLst/>
          </a:prstGeom>
          <a:noFill/>
        </p:spPr>
        <p:txBody>
          <a:bodyPr wrap="square" anchor="t" lIns="0" rIns="0" tIns="0" bIns="0"/>
          <a:lstStyle/>
          <a:p>
            <a:pPr algn="l">
              <a:lnSpc>
                <a:spcPct val="120000"/>
              </a:lnSpc>
            </a:pPr>
            <a:r>
              <a:rPr lang="en-US" sz="1100" b="1" dirty="0">
                <a:solidFill>
                  <a:srgbClr val="EA4335"/>
                </a:solidFill>
                <a:latin typeface="Roboto"/>
                <a:ea typeface="Roboto"/>
                <a:cs typeface="Roboto"/>
              </a:rPr>
              <a:t>Upset Shoppers Skip the Chatbot</a:t>
            </a:r>
          </a:p>
        </p:txBody>
      </p:sp>
      <p:sp>
        <p:nvSpPr>
          <p:cNvPr id="38" name="TextBox 38"/>
          <p:cNvSpPr txBox="1"/>
          <p:nvPr/>
        </p:nvSpPr>
        <p:spPr>
          <a:xfrm>
            <a:off x="8229600" y="1866900"/>
            <a:ext cx="3352800" cy="889000"/>
          </a:xfrm>
          <a:prstGeom prst="rect">
            <a:avLst/>
          </a:prstGeom>
          <a:noFill/>
        </p:spPr>
        <p:txBody>
          <a:bodyPr wrap="square" anchor="t" lIns="0" rIns="0" tIns="0" bIns="0"/>
          <a:lstStyle/>
          <a:p>
            <a:pPr algn="l">
              <a:lnSpc>
                <a:spcPct val="120000"/>
              </a:lnSpc>
            </a:pPr>
            <a:r>
              <a:rPr lang="en-US" sz="1050" dirty="0">
                <a:solidFill>
                  <a:srgbClr val="5F6368"/>
                </a:solidFill>
                <a:latin typeface="Roboto"/>
                <a:ea typeface="Roboto"/>
                <a:cs typeface="Roboto"/>
              </a:rPr>
              <a:t>When a customer is frustrated, the AI steps aside, sends a reassuring note, and places the ticket in the Human Specialist Queue. Follow-up replies go straight to the human agent.</a:t>
            </a:r>
          </a:p>
        </p:txBody>
      </p:sp>
      <p:sp>
        <p:nvSpPr>
          <p:cNvPr id="39" name="Shape 39"/>
          <p:cNvSpPr/>
          <p:nvPr/>
        </p:nvSpPr>
        <p:spPr>
          <a:xfrm>
            <a:off x="8229600" y="2895600"/>
            <a:ext cx="3352800" cy="419100"/>
          </a:xfrm>
          <a:prstGeom prst="roundRect">
            <a:avLst>
              <a:gd name="adj" fmla="val 4000"/>
            </a:avLst>
          </a:prstGeom>
          <a:solidFill>
            <a:srgbClr val="FCE8E6"/>
          </a:solidFill>
          <a:ln>
            <a:noFill/>
          </a:ln>
          <a:effectLst/>
        </p:spPr>
        <p:txBody>
          <a:bodyPr rtlCol="0" anchor="ctr"/>
          <a:lstStyle/>
          <a:p>
            <a:pPr algn="ctr"/>
          </a:p>
        </p:txBody>
      </p:sp>
      <p:sp>
        <p:nvSpPr>
          <p:cNvPr id="40" name="TextBox 40"/>
          <p:cNvSpPr txBox="1"/>
          <p:nvPr/>
        </p:nvSpPr>
        <p:spPr>
          <a:xfrm>
            <a:off x="8318500" y="2971800"/>
            <a:ext cx="3175000" cy="279400"/>
          </a:xfrm>
          <a:prstGeom prst="rect">
            <a:avLst/>
          </a:prstGeom>
          <a:noFill/>
        </p:spPr>
        <p:txBody>
          <a:bodyPr wrap="square" anchor="t" lIns="0" rIns="0" tIns="0" bIns="0"/>
          <a:lstStyle/>
          <a:p>
            <a:pPr algn="l">
              <a:lnSpc>
                <a:spcPct val="120000"/>
              </a:lnSpc>
            </a:pPr>
            <a:r>
              <a:rPr lang="en-US" sz="1000" b="1" dirty="0">
                <a:solidFill>
                  <a:srgbClr val="EA4335"/>
                </a:solidFill>
                <a:latin typeface="Roboto"/>
                <a:ea typeface="Roboto"/>
                <a:cs typeface="Roboto"/>
              </a:rPr>
              <a:t>Benefit: Angry customers never get trapped arguing with an automated bot.</a:t>
            </a:r>
          </a:p>
        </p:txBody>
      </p:sp>
      <p:sp>
        <p:nvSpPr>
          <p:cNvPr id="41" name="Shape 41"/>
          <p:cNvSpPr/>
          <p:nvPr/>
        </p:nvSpPr>
        <p:spPr>
          <a:xfrm>
            <a:off x="457200" y="3606800"/>
            <a:ext cx="3657600" cy="27559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42" name="Shape 42"/>
          <p:cNvSpPr/>
          <p:nvPr/>
        </p:nvSpPr>
        <p:spPr>
          <a:xfrm>
            <a:off x="457200" y="3606800"/>
            <a:ext cx="3657600" cy="38100"/>
          </a:xfrm>
          <a:prstGeom prst="rect">
            <a:avLst/>
          </a:prstGeom>
          <a:solidFill>
            <a:srgbClr val="137333"/>
          </a:solidFill>
          <a:ln>
            <a:noFill/>
          </a:ln>
          <a:effectLst/>
        </p:spPr>
        <p:txBody>
          <a:bodyPr rtlCol="0" anchor="ctr"/>
          <a:lstStyle/>
          <a:p>
            <a:pPr algn="ctr"/>
          </a:p>
        </p:txBody>
      </p:sp>
      <p:sp>
        <p:nvSpPr>
          <p:cNvPr id="43" name="Shape 43"/>
          <p:cNvSpPr/>
          <p:nvPr/>
        </p:nvSpPr>
        <p:spPr>
          <a:xfrm>
            <a:off x="609600" y="3759200"/>
            <a:ext cx="1047750" cy="165100"/>
          </a:xfrm>
          <a:prstGeom prst="roundRect">
            <a:avLst>
              <a:gd name="adj" fmla="val 50000"/>
            </a:avLst>
          </a:prstGeom>
          <a:solidFill>
            <a:srgbClr val="E6F4EA"/>
          </a:solidFill>
          <a:ln>
            <a:noFill/>
          </a:ln>
          <a:effectLst/>
        </p:spPr>
        <p:txBody>
          <a:bodyPr rtlCol="0" anchor="ctr"/>
          <a:lstStyle/>
          <a:p>
            <a:pPr algn="ctr"/>
          </a:p>
        </p:txBody>
      </p:sp>
      <p:sp>
        <p:nvSpPr>
          <p:cNvPr id="44" name="TextBox 44"/>
          <p:cNvSpPr txBox="1"/>
          <p:nvPr/>
        </p:nvSpPr>
        <p:spPr>
          <a:xfrm>
            <a:off x="609600" y="3759200"/>
            <a:ext cx="1047750" cy="165100"/>
          </a:xfrm>
          <a:prstGeom prst="rect">
            <a:avLst/>
          </a:prstGeom>
          <a:noFill/>
        </p:spPr>
        <p:txBody>
          <a:bodyPr wrap="square" anchor="ctr" lIns="0" rIns="0" tIns="0" bIns="0"/>
          <a:lstStyle/>
          <a:p>
            <a:pPr algn="ctr">
              <a:lnSpc>
                <a:spcPct val="120000"/>
              </a:lnSpc>
            </a:pPr>
            <a:r>
              <a:rPr lang="en-US" sz="850" b="1" dirty="0">
                <a:solidFill>
                  <a:srgbClr val="137333"/>
                </a:solidFill>
                <a:latin typeface="Roboto"/>
                <a:ea typeface="Roboto"/>
                <a:cs typeface="Roboto"/>
              </a:rPr>
              <a:t>100,000+ RECORDS</a:t>
            </a:r>
          </a:p>
        </p:txBody>
      </p:sp>
      <p:sp>
        <p:nvSpPr>
          <p:cNvPr id="45" name="TextBox 45"/>
          <p:cNvSpPr txBox="1"/>
          <p:nvPr/>
        </p:nvSpPr>
        <p:spPr>
          <a:xfrm>
            <a:off x="609600" y="4000500"/>
            <a:ext cx="3352800" cy="203200"/>
          </a:xfrm>
          <a:prstGeom prst="rect">
            <a:avLst/>
          </a:prstGeom>
          <a:noFill/>
        </p:spPr>
        <p:txBody>
          <a:bodyPr wrap="square" anchor="t" lIns="0" rIns="0" tIns="0" bIns="0"/>
          <a:lstStyle/>
          <a:p>
            <a:pPr algn="l">
              <a:lnSpc>
                <a:spcPct val="120000"/>
              </a:lnSpc>
            </a:pPr>
            <a:r>
              <a:rPr lang="en-US" sz="1500" b="1" dirty="0">
                <a:solidFill>
                  <a:srgbClr val="202124"/>
                </a:solidFill>
                <a:latin typeface="Roboto"/>
                <a:ea typeface="Roboto"/>
                <a:cs typeface="Roboto"/>
              </a:rPr>
              <a:t>4. Fact-Checked Policy &amp; Order Assistant</a:t>
            </a:r>
          </a:p>
        </p:txBody>
      </p:sp>
      <p:sp>
        <p:nvSpPr>
          <p:cNvPr id="46" name="TextBox 46"/>
          <p:cNvSpPr txBox="1"/>
          <p:nvPr/>
        </p:nvSpPr>
        <p:spPr>
          <a:xfrm>
            <a:off x="609600" y="4216400"/>
            <a:ext cx="3352800" cy="165100"/>
          </a:xfrm>
          <a:prstGeom prst="rect">
            <a:avLst/>
          </a:prstGeom>
          <a:noFill/>
        </p:spPr>
        <p:txBody>
          <a:bodyPr wrap="square" anchor="t" lIns="0" rIns="0" tIns="0" bIns="0"/>
          <a:lstStyle/>
          <a:p>
            <a:pPr algn="l">
              <a:lnSpc>
                <a:spcPct val="120000"/>
              </a:lnSpc>
            </a:pPr>
            <a:r>
              <a:rPr lang="en-US" sz="1100" b="1" dirty="0">
                <a:solidFill>
                  <a:srgbClr val="137333"/>
                </a:solidFill>
                <a:latin typeface="Roboto"/>
                <a:ea typeface="Roboto"/>
                <a:cs typeface="Roboto"/>
              </a:rPr>
              <a:t>Answers from Official Records + Order Tracker</a:t>
            </a:r>
          </a:p>
        </p:txBody>
      </p:sp>
      <p:sp>
        <p:nvSpPr>
          <p:cNvPr id="47" name="TextBox 47"/>
          <p:cNvSpPr txBox="1"/>
          <p:nvPr/>
        </p:nvSpPr>
        <p:spPr>
          <a:xfrm>
            <a:off x="609600" y="4432300"/>
            <a:ext cx="3352800" cy="1238250"/>
          </a:xfrm>
          <a:prstGeom prst="rect">
            <a:avLst/>
          </a:prstGeom>
          <a:noFill/>
        </p:spPr>
        <p:txBody>
          <a:bodyPr wrap="square" anchor="t" lIns="0" rIns="0" tIns="0" bIns="0"/>
          <a:lstStyle/>
          <a:p>
            <a:pPr algn="l">
              <a:lnSpc>
                <a:spcPct val="120000"/>
              </a:lnSpc>
            </a:pPr>
            <a:r>
              <a:rPr lang="en-US" sz="1050" dirty="0">
                <a:solidFill>
                  <a:srgbClr val="5F6368"/>
                </a:solidFill>
                <a:latin typeface="Roboto"/>
                <a:ea typeface="Roboto"/>
                <a:cs typeface="Roboto"/>
              </a:rPr>
              <a:t>Searches 100,000 real historical support answers and checks live order status (Shipped, Processing, Delivered, Cancelled). If a customer's question is too vague ('It is broken'), it politely asks one clarifying question instead of guessing.</a:t>
            </a:r>
          </a:p>
        </p:txBody>
      </p:sp>
      <p:sp>
        <p:nvSpPr>
          <p:cNvPr id="48" name="Shape 48"/>
          <p:cNvSpPr/>
          <p:nvPr/>
        </p:nvSpPr>
        <p:spPr>
          <a:xfrm>
            <a:off x="609600" y="5791200"/>
            <a:ext cx="3352800" cy="419100"/>
          </a:xfrm>
          <a:prstGeom prst="roundRect">
            <a:avLst>
              <a:gd name="adj" fmla="val 4000"/>
            </a:avLst>
          </a:prstGeom>
          <a:solidFill>
            <a:srgbClr val="E6F4EA"/>
          </a:solidFill>
          <a:ln>
            <a:noFill/>
          </a:ln>
          <a:effectLst/>
        </p:spPr>
        <p:txBody>
          <a:bodyPr rtlCol="0" anchor="ctr"/>
          <a:lstStyle/>
          <a:p>
            <a:pPr algn="ctr"/>
          </a:p>
        </p:txBody>
      </p:sp>
      <p:sp>
        <p:nvSpPr>
          <p:cNvPr id="49" name="TextBox 49"/>
          <p:cNvSpPr txBox="1"/>
          <p:nvPr/>
        </p:nvSpPr>
        <p:spPr>
          <a:xfrm>
            <a:off x="698500" y="5867400"/>
            <a:ext cx="3175000" cy="279400"/>
          </a:xfrm>
          <a:prstGeom prst="rect">
            <a:avLst/>
          </a:prstGeom>
          <a:noFill/>
        </p:spPr>
        <p:txBody>
          <a:bodyPr wrap="square" anchor="t" lIns="0" rIns="0" tIns="0" bIns="0"/>
          <a:lstStyle/>
          <a:p>
            <a:pPr algn="l">
              <a:lnSpc>
                <a:spcPct val="120000"/>
              </a:lnSpc>
            </a:pPr>
            <a:r>
              <a:rPr lang="en-US" sz="1000" b="1" dirty="0">
                <a:solidFill>
                  <a:srgbClr val="137333"/>
                </a:solidFill>
                <a:latin typeface="Roboto"/>
                <a:ea typeface="Roboto"/>
                <a:cs typeface="Roboto"/>
              </a:rPr>
              <a:t>Benefit: High first-contact resolution with zero made-up store policies.</a:t>
            </a:r>
          </a:p>
        </p:txBody>
      </p:sp>
      <p:sp>
        <p:nvSpPr>
          <p:cNvPr id="50" name="Shape 50"/>
          <p:cNvSpPr/>
          <p:nvPr/>
        </p:nvSpPr>
        <p:spPr>
          <a:xfrm>
            <a:off x="4267200" y="3606800"/>
            <a:ext cx="3657600" cy="27559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51" name="Shape 51"/>
          <p:cNvSpPr/>
          <p:nvPr/>
        </p:nvSpPr>
        <p:spPr>
          <a:xfrm>
            <a:off x="4267200" y="3606800"/>
            <a:ext cx="3657600" cy="38100"/>
          </a:xfrm>
          <a:prstGeom prst="rect">
            <a:avLst/>
          </a:prstGeom>
          <a:solidFill>
            <a:srgbClr val="1A73E8"/>
          </a:solidFill>
          <a:ln>
            <a:noFill/>
          </a:ln>
          <a:effectLst/>
        </p:spPr>
        <p:txBody>
          <a:bodyPr rtlCol="0" anchor="ctr"/>
          <a:lstStyle/>
          <a:p>
            <a:pPr algn="ctr"/>
          </a:p>
        </p:txBody>
      </p:sp>
      <p:sp>
        <p:nvSpPr>
          <p:cNvPr id="52" name="Shape 52"/>
          <p:cNvSpPr/>
          <p:nvPr/>
        </p:nvSpPr>
        <p:spPr>
          <a:xfrm>
            <a:off x="4419600" y="3759200"/>
            <a:ext cx="1047750" cy="165100"/>
          </a:xfrm>
          <a:prstGeom prst="roundRect">
            <a:avLst>
              <a:gd name="adj" fmla="val 50000"/>
            </a:avLst>
          </a:prstGeom>
          <a:solidFill>
            <a:srgbClr val="E8F0FE"/>
          </a:solidFill>
          <a:ln>
            <a:noFill/>
          </a:ln>
          <a:effectLst/>
        </p:spPr>
        <p:txBody>
          <a:bodyPr rtlCol="0" anchor="ctr"/>
          <a:lstStyle/>
          <a:p>
            <a:pPr algn="ctr"/>
          </a:p>
        </p:txBody>
      </p:sp>
      <p:sp>
        <p:nvSpPr>
          <p:cNvPr id="53" name="TextBox 53"/>
          <p:cNvSpPr txBox="1"/>
          <p:nvPr/>
        </p:nvSpPr>
        <p:spPr>
          <a:xfrm>
            <a:off x="4419600" y="3759200"/>
            <a:ext cx="1047750" cy="165100"/>
          </a:xfrm>
          <a:prstGeom prst="rect">
            <a:avLst/>
          </a:prstGeom>
          <a:noFill/>
        </p:spPr>
        <p:txBody>
          <a:bodyPr wrap="square" anchor="ctr" lIns="0" rIns="0" tIns="0" bIns="0"/>
          <a:lstStyle/>
          <a:p>
            <a:pPr algn="ctr">
              <a:lnSpc>
                <a:spcPct val="120000"/>
              </a:lnSpc>
            </a:pPr>
            <a:r>
              <a:rPr lang="en-US" sz="850" b="1" dirty="0">
                <a:solidFill>
                  <a:srgbClr val="1A73E8"/>
                </a:solidFill>
                <a:latin typeface="Roboto"/>
                <a:ea typeface="Roboto"/>
                <a:cs typeface="Roboto"/>
              </a:rPr>
              <a:t>FULL VISIBILITY</a:t>
            </a:r>
          </a:p>
        </p:txBody>
      </p:sp>
      <p:sp>
        <p:nvSpPr>
          <p:cNvPr id="54" name="TextBox 54"/>
          <p:cNvSpPr txBox="1"/>
          <p:nvPr/>
        </p:nvSpPr>
        <p:spPr>
          <a:xfrm>
            <a:off x="4419600" y="4000500"/>
            <a:ext cx="3352800" cy="203200"/>
          </a:xfrm>
          <a:prstGeom prst="rect">
            <a:avLst/>
          </a:prstGeom>
          <a:noFill/>
        </p:spPr>
        <p:txBody>
          <a:bodyPr wrap="square" anchor="t" lIns="0" rIns="0" tIns="0" bIns="0"/>
          <a:lstStyle/>
          <a:p>
            <a:pPr algn="l">
              <a:lnSpc>
                <a:spcPct val="120000"/>
              </a:lnSpc>
            </a:pPr>
            <a:r>
              <a:rPr lang="en-US" sz="1500" b="1" dirty="0">
                <a:solidFill>
                  <a:srgbClr val="202124"/>
                </a:solidFill>
                <a:latin typeface="Roboto"/>
                <a:ea typeface="Roboto"/>
                <a:cs typeface="Roboto"/>
              </a:rPr>
              <a:t>5. Transparent Support Workspace</a:t>
            </a:r>
          </a:p>
        </p:txBody>
      </p:sp>
      <p:sp>
        <p:nvSpPr>
          <p:cNvPr id="55" name="TextBox 55"/>
          <p:cNvSpPr txBox="1"/>
          <p:nvPr/>
        </p:nvSpPr>
        <p:spPr>
          <a:xfrm>
            <a:off x="4419600" y="4216400"/>
            <a:ext cx="3352800" cy="165100"/>
          </a:xfrm>
          <a:prstGeom prst="rect">
            <a:avLst/>
          </a:prstGeom>
          <a:noFill/>
        </p:spPr>
        <p:txBody>
          <a:bodyPr wrap="square" anchor="t" lIns="0" rIns="0" tIns="0" bIns="0"/>
          <a:lstStyle/>
          <a:p>
            <a:pPr algn="l">
              <a:lnSpc>
                <a:spcPct val="120000"/>
              </a:lnSpc>
            </a:pPr>
            <a:r>
              <a:rPr lang="en-US" sz="1100" b="1" dirty="0">
                <a:solidFill>
                  <a:srgbClr val="1A73E8"/>
                </a:solidFill>
                <a:latin typeface="Roboto"/>
                <a:ea typeface="Roboto"/>
                <a:cs typeface="Roboto"/>
              </a:rPr>
              <a:t>Clean Web Portal with Source Citations</a:t>
            </a:r>
          </a:p>
        </p:txBody>
      </p:sp>
      <p:sp>
        <p:nvSpPr>
          <p:cNvPr id="56" name="TextBox 56"/>
          <p:cNvSpPr txBox="1"/>
          <p:nvPr/>
        </p:nvSpPr>
        <p:spPr>
          <a:xfrm>
            <a:off x="4419600" y="4432300"/>
            <a:ext cx="3352800" cy="1238250"/>
          </a:xfrm>
          <a:prstGeom prst="rect">
            <a:avLst/>
          </a:prstGeom>
          <a:noFill/>
        </p:spPr>
        <p:txBody>
          <a:bodyPr wrap="square" anchor="t" lIns="0" rIns="0" tIns="0" bIns="0"/>
          <a:lstStyle/>
          <a:p>
            <a:pPr algn="l">
              <a:lnSpc>
                <a:spcPct val="120000"/>
              </a:lnSpc>
            </a:pPr>
            <a:r>
              <a:rPr lang="en-US" sz="1050" dirty="0">
                <a:solidFill>
                  <a:srgbClr val="5F6368"/>
                </a:solidFill>
                <a:latin typeface="Roboto"/>
                <a:ea typeface="Roboto"/>
                <a:cs typeface="Roboto"/>
              </a:rPr>
              <a:t>Customers and support supervisors see live ticket status badges ('Open', 'Escalated to Human', 'Closed'), full multi-message conversation history, and a Source Citations Sidebar showing the exact policy record behind every AI reply.</a:t>
            </a:r>
          </a:p>
        </p:txBody>
      </p:sp>
      <p:sp>
        <p:nvSpPr>
          <p:cNvPr id="57" name="Shape 57"/>
          <p:cNvSpPr/>
          <p:nvPr/>
        </p:nvSpPr>
        <p:spPr>
          <a:xfrm>
            <a:off x="4419600" y="5791200"/>
            <a:ext cx="3352800" cy="419100"/>
          </a:xfrm>
          <a:prstGeom prst="roundRect">
            <a:avLst>
              <a:gd name="adj" fmla="val 4000"/>
            </a:avLst>
          </a:prstGeom>
          <a:solidFill>
            <a:srgbClr val="E8F0FE"/>
          </a:solidFill>
          <a:ln>
            <a:noFill/>
          </a:ln>
          <a:effectLst/>
        </p:spPr>
        <p:txBody>
          <a:bodyPr rtlCol="0" anchor="ctr"/>
          <a:lstStyle/>
          <a:p>
            <a:pPr algn="ctr"/>
          </a:p>
        </p:txBody>
      </p:sp>
      <p:sp>
        <p:nvSpPr>
          <p:cNvPr id="58" name="TextBox 58"/>
          <p:cNvSpPr txBox="1"/>
          <p:nvPr/>
        </p:nvSpPr>
        <p:spPr>
          <a:xfrm>
            <a:off x="4508500" y="5867400"/>
            <a:ext cx="3175000" cy="279400"/>
          </a:xfrm>
          <a:prstGeom prst="rect">
            <a:avLst/>
          </a:prstGeom>
          <a:noFill/>
        </p:spPr>
        <p:txBody>
          <a:bodyPr wrap="square" anchor="t" lIns="0" rIns="0" tIns="0" bIns="0"/>
          <a:lstStyle/>
          <a:p>
            <a:pPr algn="l">
              <a:lnSpc>
                <a:spcPct val="120000"/>
              </a:lnSpc>
            </a:pPr>
            <a:r>
              <a:rPr lang="en-US" sz="1000" b="1" dirty="0">
                <a:solidFill>
                  <a:srgbClr val="1A73E8"/>
                </a:solidFill>
                <a:latin typeface="Roboto"/>
                <a:ea typeface="Roboto"/>
                <a:cs typeface="Roboto"/>
              </a:rPr>
              <a:t>Benefit: Every AI answer is auditable and backed by a visible company record.</a:t>
            </a:r>
          </a:p>
        </p:txBody>
      </p:sp>
      <p:sp>
        <p:nvSpPr>
          <p:cNvPr id="59" name="Shape 59"/>
          <p:cNvSpPr/>
          <p:nvPr/>
        </p:nvSpPr>
        <p:spPr>
          <a:xfrm>
            <a:off x="8077200" y="3606800"/>
            <a:ext cx="3657600" cy="2755900"/>
          </a:xfrm>
          <a:prstGeom prst="roundRect">
            <a:avLst>
              <a:gd name="adj" fmla="val 3000"/>
            </a:avLst>
          </a:prstGeom>
          <a:solidFill>
            <a:srgbClr val="F8F9FA"/>
          </a:solidFill>
          <a:ln w="12700">
            <a:solidFill>
              <a:srgbClr val="DADCE0"/>
            </a:solidFill>
          </a:ln>
          <a:effectLst/>
        </p:spPr>
        <p:txBody>
          <a:bodyPr rtlCol="0" anchor="ctr"/>
          <a:lstStyle/>
          <a:p>
            <a:pPr algn="ctr"/>
          </a:p>
        </p:txBody>
      </p:sp>
      <p:sp>
        <p:nvSpPr>
          <p:cNvPr id="60" name="Shape 60"/>
          <p:cNvSpPr/>
          <p:nvPr/>
        </p:nvSpPr>
        <p:spPr>
          <a:xfrm>
            <a:off x="8077200" y="3606800"/>
            <a:ext cx="3657600" cy="38100"/>
          </a:xfrm>
          <a:prstGeom prst="rect">
            <a:avLst/>
          </a:prstGeom>
          <a:solidFill>
            <a:srgbClr val="202124"/>
          </a:solidFill>
          <a:ln>
            <a:noFill/>
          </a:ln>
          <a:effectLst/>
        </p:spPr>
        <p:txBody>
          <a:bodyPr rtlCol="0" anchor="ctr"/>
          <a:lstStyle/>
          <a:p>
            <a:pPr algn="ctr"/>
          </a:p>
        </p:txBody>
      </p:sp>
      <p:sp>
        <p:nvSpPr>
          <p:cNvPr id="61" name="Shape 61"/>
          <p:cNvSpPr/>
          <p:nvPr/>
        </p:nvSpPr>
        <p:spPr>
          <a:xfrm>
            <a:off x="8229600" y="3759200"/>
            <a:ext cx="1333500" cy="165100"/>
          </a:xfrm>
          <a:prstGeom prst="roundRect">
            <a:avLst>
              <a:gd name="adj" fmla="val 50000"/>
            </a:avLst>
          </a:prstGeom>
          <a:solidFill>
            <a:srgbClr val="E8F0FE"/>
          </a:solidFill>
          <a:ln>
            <a:noFill/>
          </a:ln>
          <a:effectLst/>
        </p:spPr>
        <p:txBody>
          <a:bodyPr rtlCol="0" anchor="ctr"/>
          <a:lstStyle/>
          <a:p>
            <a:pPr algn="ctr"/>
          </a:p>
        </p:txBody>
      </p:sp>
      <p:sp>
        <p:nvSpPr>
          <p:cNvPr id="62" name="TextBox 62"/>
          <p:cNvSpPr txBox="1"/>
          <p:nvPr/>
        </p:nvSpPr>
        <p:spPr>
          <a:xfrm>
            <a:off x="8229600" y="3759200"/>
            <a:ext cx="1333500" cy="165100"/>
          </a:xfrm>
          <a:prstGeom prst="rect">
            <a:avLst/>
          </a:prstGeom>
          <a:noFill/>
        </p:spPr>
        <p:txBody>
          <a:bodyPr wrap="square" anchor="ctr" lIns="0" rIns="0" tIns="0" bIns="0"/>
          <a:lstStyle/>
          <a:p>
            <a:pPr algn="ctr">
              <a:lnSpc>
                <a:spcPct val="120000"/>
              </a:lnSpc>
            </a:pPr>
            <a:r>
              <a:rPr lang="en-US" sz="850" b="1" dirty="0">
                <a:solidFill>
                  <a:srgbClr val="174EA6"/>
                </a:solidFill>
                <a:latin typeface="Roboto"/>
                <a:ea typeface="Roboto"/>
                <a:cs typeface="Roboto"/>
              </a:rPr>
              <a:t>TWO CUSTOMER JOURNEYS</a:t>
            </a:r>
          </a:p>
        </p:txBody>
      </p:sp>
      <p:sp>
        <p:nvSpPr>
          <p:cNvPr id="63" name="TextBox 63"/>
          <p:cNvSpPr txBox="1"/>
          <p:nvPr/>
        </p:nvSpPr>
        <p:spPr>
          <a:xfrm>
            <a:off x="8229600" y="4000500"/>
            <a:ext cx="3352800" cy="203200"/>
          </a:xfrm>
          <a:prstGeom prst="rect">
            <a:avLst/>
          </a:prstGeom>
          <a:noFill/>
        </p:spPr>
        <p:txBody>
          <a:bodyPr wrap="square" anchor="t" lIns="0" rIns="0" tIns="0" bIns="0"/>
          <a:lstStyle/>
          <a:p>
            <a:pPr algn="l">
              <a:lnSpc>
                <a:spcPct val="120000"/>
              </a:lnSpc>
            </a:pPr>
            <a:r>
              <a:rPr lang="en-US" sz="1500" b="1" dirty="0">
                <a:solidFill>
                  <a:srgbClr val="202124"/>
                </a:solidFill>
                <a:latin typeface="Roboto"/>
                <a:ea typeface="Roboto"/>
                <a:cs typeface="Roboto"/>
              </a:rPr>
              <a:t>How Different Shoppers Are Helped</a:t>
            </a:r>
          </a:p>
        </p:txBody>
      </p:sp>
      <p:sp>
        <p:nvSpPr>
          <p:cNvPr id="64" name="Shape 64"/>
          <p:cNvSpPr/>
          <p:nvPr/>
        </p:nvSpPr>
        <p:spPr>
          <a:xfrm>
            <a:off x="8229600" y="4279900"/>
            <a:ext cx="3352800" cy="920750"/>
          </a:xfrm>
          <a:prstGeom prst="roundRect">
            <a:avLst>
              <a:gd name="adj" fmla="val 4000"/>
            </a:avLst>
          </a:prstGeom>
          <a:solidFill>
            <a:srgbClr val="FFFFFF"/>
          </a:solidFill>
          <a:ln w="12700">
            <a:solidFill>
              <a:srgbClr val="34A853"/>
            </a:solidFill>
          </a:ln>
          <a:effectLst/>
        </p:spPr>
        <p:txBody>
          <a:bodyPr rtlCol="0" anchor="ctr"/>
          <a:lstStyle/>
          <a:p>
            <a:pPr algn="ctr"/>
          </a:p>
        </p:txBody>
      </p:sp>
      <p:sp>
        <p:nvSpPr>
          <p:cNvPr id="65" name="TextBox 65"/>
          <p:cNvSpPr txBox="1"/>
          <p:nvPr/>
        </p:nvSpPr>
        <p:spPr>
          <a:xfrm>
            <a:off x="8331200" y="4356100"/>
            <a:ext cx="3149600" cy="152400"/>
          </a:xfrm>
          <a:prstGeom prst="rect">
            <a:avLst/>
          </a:prstGeom>
          <a:noFill/>
        </p:spPr>
        <p:txBody>
          <a:bodyPr wrap="square" anchor="t" lIns="0" rIns="0" tIns="0" bIns="0"/>
          <a:lstStyle/>
          <a:p>
            <a:pPr algn="l">
              <a:lnSpc>
                <a:spcPct val="120000"/>
              </a:lnSpc>
            </a:pPr>
            <a:r>
              <a:rPr lang="en-US" sz="1000" b="1" dirty="0">
                <a:solidFill>
                  <a:srgbClr val="137333"/>
                </a:solidFill>
                <a:latin typeface="Roboto"/>
                <a:ea typeface="Roboto"/>
                <a:cs typeface="Roboto"/>
              </a:rPr>
              <a:t>PATH A: CALM POLICY OR ORDER QUESTION</a:t>
            </a:r>
          </a:p>
        </p:txBody>
      </p:sp>
      <p:sp>
        <p:nvSpPr>
          <p:cNvPr id="66" name="TextBox 66"/>
          <p:cNvSpPr txBox="1"/>
          <p:nvPr/>
        </p:nvSpPr>
        <p:spPr>
          <a:xfrm>
            <a:off x="8331200" y="4521200"/>
            <a:ext cx="3149600" cy="609600"/>
          </a:xfrm>
          <a:prstGeom prst="rect">
            <a:avLst/>
          </a:prstGeom>
          <a:noFill/>
        </p:spPr>
        <p:txBody>
          <a:bodyPr wrap="square" anchor="t" lIns="0" rIns="0" tIns="0" bIns="0"/>
          <a:lstStyle/>
          <a:p>
            <a:pPr algn="l">
              <a:lnSpc>
                <a:spcPct val="120000"/>
              </a:lnSpc>
            </a:pPr>
            <a:r>
              <a:rPr lang="en-US" sz="950" dirty="0">
                <a:solidFill>
                  <a:srgbClr val="202124"/>
                </a:solidFill>
                <a:latin typeface="Roboto"/>
                <a:ea typeface="Roboto"/>
                <a:cs typeface="Roboto"/>
              </a:rPr>
              <a:t>Shopper: 'Where is Order #12345 and what is your return policy?'
-&gt; Privacy Shield checks message -&gt; Mood Check: Calm
-&gt; AI checks live Order #12345 + 100k policy library
-&gt; Instant answer with official policy citation.</a:t>
            </a:r>
          </a:p>
        </p:txBody>
      </p:sp>
      <p:sp>
        <p:nvSpPr>
          <p:cNvPr id="67" name="Shape 67"/>
          <p:cNvSpPr/>
          <p:nvPr/>
        </p:nvSpPr>
        <p:spPr>
          <a:xfrm>
            <a:off x="8229600" y="5308600"/>
            <a:ext cx="3352800" cy="920750"/>
          </a:xfrm>
          <a:prstGeom prst="roundRect">
            <a:avLst>
              <a:gd name="adj" fmla="val 4000"/>
            </a:avLst>
          </a:prstGeom>
          <a:solidFill>
            <a:srgbClr val="FFFFFF"/>
          </a:solidFill>
          <a:ln w="12700">
            <a:solidFill>
              <a:srgbClr val="EA4335"/>
            </a:solidFill>
          </a:ln>
          <a:effectLst/>
        </p:spPr>
        <p:txBody>
          <a:bodyPr rtlCol="0" anchor="ctr"/>
          <a:lstStyle/>
          <a:p>
            <a:pPr algn="ctr"/>
          </a:p>
        </p:txBody>
      </p:sp>
      <p:sp>
        <p:nvSpPr>
          <p:cNvPr id="68" name="TextBox 68"/>
          <p:cNvSpPr txBox="1"/>
          <p:nvPr/>
        </p:nvSpPr>
        <p:spPr>
          <a:xfrm>
            <a:off x="8331200" y="5384800"/>
            <a:ext cx="3149600" cy="152400"/>
          </a:xfrm>
          <a:prstGeom prst="rect">
            <a:avLst/>
          </a:prstGeom>
          <a:noFill/>
        </p:spPr>
        <p:txBody>
          <a:bodyPr wrap="square" anchor="t" lIns="0" rIns="0" tIns="0" bIns="0"/>
          <a:lstStyle/>
          <a:p>
            <a:pPr algn="l">
              <a:lnSpc>
                <a:spcPct val="120000"/>
              </a:lnSpc>
            </a:pPr>
            <a:r>
              <a:rPr lang="en-US" sz="1000" b="1" dirty="0">
                <a:solidFill>
                  <a:srgbClr val="C5221F"/>
                </a:solidFill>
                <a:latin typeface="Roboto"/>
                <a:ea typeface="Roboto"/>
                <a:cs typeface="Roboto"/>
              </a:rPr>
              <a:t>PATH B: FRUSTRATED OR URGENT SHOPPER</a:t>
            </a:r>
          </a:p>
        </p:txBody>
      </p:sp>
      <p:sp>
        <p:nvSpPr>
          <p:cNvPr id="69" name="TextBox 69"/>
          <p:cNvSpPr txBox="1"/>
          <p:nvPr/>
        </p:nvSpPr>
        <p:spPr>
          <a:xfrm>
            <a:off x="8331200" y="5549900"/>
            <a:ext cx="3149600" cy="609600"/>
          </a:xfrm>
          <a:prstGeom prst="rect">
            <a:avLst/>
          </a:prstGeom>
          <a:noFill/>
        </p:spPr>
        <p:txBody>
          <a:bodyPr wrap="square" anchor="t" lIns="0" rIns="0" tIns="0" bIns="0"/>
          <a:lstStyle/>
          <a:p>
            <a:pPr algn="l">
              <a:lnSpc>
                <a:spcPct val="120000"/>
              </a:lnSpc>
            </a:pPr>
            <a:r>
              <a:rPr lang="en-US" sz="950" dirty="0">
                <a:solidFill>
                  <a:srgbClr val="202124"/>
                </a:solidFill>
                <a:latin typeface="Roboto"/>
                <a:ea typeface="Roboto"/>
                <a:cs typeface="Roboto"/>
              </a:rPr>
              <a:t>Shopper: 'Order #99999 arrived broken! I want a manager now!'
-&gt; Privacy Shield masks any card numbers -&gt; Mood Check: Urgent
-&gt; Skips chatbot completely -&gt; Ticket marked Escalated
-&gt; Human specialist receives Order #99999 immediately.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2"/>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Shape 3"/>
          <p:cNvSpPr/>
          <p:nvPr/>
        </p:nvSpPr>
        <p:spPr>
          <a:xfrm>
            <a:off x="457200" y="279400"/>
            <a:ext cx="114300" cy="38100"/>
          </a:xfrm>
          <a:prstGeom prst="roundRect">
            <a:avLst>
              <a:gd name="adj" fmla="val 50000"/>
            </a:avLst>
          </a:prstGeom>
          <a:solidFill>
            <a:srgbClr val="1A73E8"/>
          </a:solidFill>
          <a:ln>
            <a:noFill/>
          </a:ln>
          <a:effectLst/>
        </p:spPr>
        <p:txBody>
          <a:bodyPr rtlCol="0" anchor="ctr"/>
          <a:lstStyle/>
          <a:p>
            <a:pPr algn="ctr"/>
          </a:p>
        </p:txBody>
      </p:sp>
      <p:sp>
        <p:nvSpPr>
          <p:cNvPr id="4" name="Shape 4"/>
          <p:cNvSpPr/>
          <p:nvPr/>
        </p:nvSpPr>
        <p:spPr>
          <a:xfrm>
            <a:off x="596900" y="279400"/>
            <a:ext cx="114300" cy="38100"/>
          </a:xfrm>
          <a:prstGeom prst="roundRect">
            <a:avLst>
              <a:gd name="adj" fmla="val 50000"/>
            </a:avLst>
          </a:prstGeom>
          <a:solidFill>
            <a:srgbClr val="EA4335"/>
          </a:solidFill>
          <a:ln>
            <a:noFill/>
          </a:ln>
          <a:effectLst/>
        </p:spPr>
        <p:txBody>
          <a:bodyPr rtlCol="0" anchor="ctr"/>
          <a:lstStyle/>
          <a:p>
            <a:pPr algn="ctr"/>
          </a:p>
        </p:txBody>
      </p:sp>
      <p:sp>
        <p:nvSpPr>
          <p:cNvPr id="5" name="Shape 5"/>
          <p:cNvSpPr/>
          <p:nvPr/>
        </p:nvSpPr>
        <p:spPr>
          <a:xfrm>
            <a:off x="736600" y="279400"/>
            <a:ext cx="114300" cy="38100"/>
          </a:xfrm>
          <a:prstGeom prst="roundRect">
            <a:avLst>
              <a:gd name="adj" fmla="val 50000"/>
            </a:avLst>
          </a:prstGeom>
          <a:solidFill>
            <a:srgbClr val="FBBC04"/>
          </a:solidFill>
          <a:ln>
            <a:noFill/>
          </a:ln>
          <a:effectLst/>
        </p:spPr>
        <p:txBody>
          <a:bodyPr rtlCol="0" anchor="ctr"/>
          <a:lstStyle/>
          <a:p>
            <a:pPr algn="ctr"/>
          </a:p>
        </p:txBody>
      </p:sp>
      <p:sp>
        <p:nvSpPr>
          <p:cNvPr id="6" name="Shape 6"/>
          <p:cNvSpPr/>
          <p:nvPr/>
        </p:nvSpPr>
        <p:spPr>
          <a:xfrm>
            <a:off x="876300" y="279400"/>
            <a:ext cx="114300" cy="38100"/>
          </a:xfrm>
          <a:prstGeom prst="roundRect">
            <a:avLst>
              <a:gd name="adj" fmla="val 50000"/>
            </a:avLst>
          </a:prstGeom>
          <a:solidFill>
            <a:srgbClr val="34A853"/>
          </a:solidFill>
          <a:ln>
            <a:noFill/>
          </a:ln>
          <a:effectLst/>
        </p:spPr>
        <p:txBody>
          <a:bodyPr rtlCol="0" anchor="ctr"/>
          <a:lstStyle/>
          <a:p>
            <a:pPr algn="ctr"/>
          </a:p>
        </p:txBody>
      </p:sp>
      <p:sp>
        <p:nvSpPr>
          <p:cNvPr id="7" name="TextBox 7"/>
          <p:cNvSpPr txBox="1"/>
          <p:nvPr/>
        </p:nvSpPr>
        <p:spPr>
          <a:xfrm>
            <a:off x="1066800" y="241300"/>
            <a:ext cx="7620000" cy="152400"/>
          </a:xfrm>
          <a:prstGeom prst="rect">
            <a:avLst/>
          </a:prstGeom>
          <a:noFill/>
        </p:spPr>
        <p:txBody>
          <a:bodyPr wrap="square" anchor="t" lIns="0" rIns="0" tIns="0" bIns="0"/>
          <a:lstStyle/>
          <a:p>
            <a:pPr algn="l">
              <a:lnSpc>
                <a:spcPct val="120000"/>
              </a:lnSpc>
            </a:pPr>
            <a:r>
              <a:rPr lang="en-US" sz="950" b="1" dirty="0">
                <a:solidFill>
                  <a:srgbClr val="1A73E8"/>
                </a:solidFill>
                <a:latin typeface="Roboto"/>
                <a:ea typeface="Roboto"/>
                <a:cs typeface="Roboto"/>
              </a:rPr>
              <a:t>03 / HOW IT WORKS BEHIND THE SCENES</a:t>
            </a:r>
          </a:p>
        </p:txBody>
      </p:sp>
      <p:sp>
        <p:nvSpPr>
          <p:cNvPr id="8" name="TextBox 8"/>
          <p:cNvSpPr txBox="1"/>
          <p:nvPr/>
        </p:nvSpPr>
        <p:spPr>
          <a:xfrm>
            <a:off x="10477500" y="241300"/>
            <a:ext cx="1257300" cy="152400"/>
          </a:xfrm>
          <a:prstGeom prst="rect">
            <a:avLst/>
          </a:prstGeom>
          <a:noFill/>
        </p:spPr>
        <p:txBody>
          <a:bodyPr wrap="square" anchor="t" lIns="0" rIns="0" tIns="0" bIns="0"/>
          <a:lstStyle/>
          <a:p>
            <a:pPr algn="r">
              <a:lnSpc>
                <a:spcPct val="120000"/>
              </a:lnSpc>
            </a:pPr>
            <a:r>
              <a:rPr lang="en-US" sz="950" b="1" dirty="0">
                <a:solidFill>
                  <a:srgbClr val="80868B"/>
                </a:solidFill>
                <a:latin typeface="Roboto"/>
                <a:ea typeface="Roboto"/>
                <a:cs typeface="Roboto"/>
              </a:rPr>
              <a:t>SLIDE 03 / 07</a:t>
            </a:r>
          </a:p>
        </p:txBody>
      </p:sp>
      <p:sp>
        <p:nvSpPr>
          <p:cNvPr id="9" name="TextBox 9"/>
          <p:cNvSpPr txBox="1"/>
          <p:nvPr/>
        </p:nvSpPr>
        <p:spPr>
          <a:xfrm>
            <a:off x="457200" y="431800"/>
            <a:ext cx="11277600" cy="292100"/>
          </a:xfrm>
          <a:prstGeom prst="rect">
            <a:avLst/>
          </a:prstGeom>
          <a:noFill/>
        </p:spPr>
        <p:txBody>
          <a:bodyPr wrap="square" anchor="t" lIns="0" rIns="0" tIns="0" bIns="0"/>
          <a:lstStyle/>
          <a:p>
            <a:pPr algn="l">
              <a:lnSpc>
                <a:spcPct val="120000"/>
              </a:lnSpc>
            </a:pPr>
            <a:r>
              <a:rPr lang="en-US" sz="2400" b="1" dirty="0">
                <a:solidFill>
                  <a:srgbClr val="202124"/>
                </a:solidFill>
                <a:latin typeface="Roboto"/>
                <a:ea typeface="Roboto"/>
                <a:cs typeface="Roboto"/>
              </a:rPr>
              <a:t>Organized Like a Well-Run Hotel Concierge Desk on Google Cloud</a:t>
            </a:r>
          </a:p>
        </p:txBody>
      </p:sp>
      <p:sp>
        <p:nvSpPr>
          <p:cNvPr id="10" name="TextBox 10"/>
          <p:cNvSpPr txBox="1"/>
          <p:nvPr/>
        </p:nvSpPr>
        <p:spPr>
          <a:xfrm>
            <a:off x="457200" y="736600"/>
            <a:ext cx="11277600" cy="190500"/>
          </a:xfrm>
          <a:prstGeom prst="rect">
            <a:avLst/>
          </a:prstGeom>
          <a:noFill/>
        </p:spPr>
        <p:txBody>
          <a:bodyPr wrap="square" anchor="t" lIns="0" rIns="0" tIns="0" bIns="0"/>
          <a:lstStyle/>
          <a:p>
            <a:pPr algn="l">
              <a:lnSpc>
                <a:spcPct val="120000"/>
              </a:lnSpc>
            </a:pPr>
            <a:r>
              <a:rPr lang="en-US" sz="1200" dirty="0">
                <a:solidFill>
                  <a:srgbClr val="5F6368"/>
                </a:solidFill>
                <a:latin typeface="Roboto"/>
                <a:ea typeface="Roboto"/>
                <a:cs typeface="Roboto"/>
              </a:rPr>
              <a:t>Instead of relying on one giant AI for everything, we separated security, coordination, fast triage, and deep policy research.</a:t>
            </a:r>
          </a:p>
        </p:txBody>
      </p:sp>
      <p:sp>
        <p:nvSpPr>
          <p:cNvPr id="11" name="Shape 11"/>
          <p:cNvSpPr/>
          <p:nvPr/>
        </p:nvSpPr>
        <p:spPr>
          <a:xfrm>
            <a:off x="457200" y="6515100"/>
            <a:ext cx="11277600" cy="6350"/>
          </a:xfrm>
          <a:prstGeom prst="rect">
            <a:avLst/>
          </a:prstGeom>
          <a:solidFill>
            <a:srgbClr val="DADCE0"/>
          </a:solidFill>
          <a:ln>
            <a:noFill/>
          </a:ln>
          <a:effectLst/>
        </p:spPr>
        <p:txBody>
          <a:bodyPr rtlCol="0" anchor="ctr"/>
          <a:lstStyle/>
          <a:p>
            <a:pPr algn="ctr"/>
          </a:p>
        </p:txBody>
      </p:sp>
      <p:sp>
        <p:nvSpPr>
          <p:cNvPr id="12" name="TextBox 12"/>
          <p:cNvSpPr txBox="1"/>
          <p:nvPr/>
        </p:nvSpPr>
        <p:spPr>
          <a:xfrm>
            <a:off x="457200" y="6565900"/>
            <a:ext cx="8572500" cy="152400"/>
          </a:xfrm>
          <a:prstGeom prst="rect">
            <a:avLst/>
          </a:prstGeom>
          <a:noFill/>
        </p:spPr>
        <p:txBody>
          <a:bodyPr wrap="square" anchor="t" lIns="0" rIns="0" tIns="0" bIns="0"/>
          <a:lstStyle/>
          <a:p>
            <a:pPr algn="l">
              <a:lnSpc>
                <a:spcPct val="120000"/>
              </a:lnSpc>
            </a:pPr>
            <a:r>
              <a:rPr lang="en-US" sz="850" dirty="0">
                <a:solidFill>
                  <a:srgbClr val="80868B"/>
                </a:solidFill>
                <a:latin typeface="Roboto"/>
                <a:ea typeface="Roboto"/>
                <a:cs typeface="Roboto"/>
              </a:rPr>
              <a:t>Timing: ~1 min 30 sec  ·  Focus: Plain-English system architecture and why each role exists</a:t>
            </a:r>
          </a:p>
        </p:txBody>
      </p:sp>
      <p:sp>
        <p:nvSpPr>
          <p:cNvPr id="13" name="TextBox 13"/>
          <p:cNvSpPr txBox="1"/>
          <p:nvPr/>
        </p:nvSpPr>
        <p:spPr>
          <a:xfrm>
            <a:off x="9017000" y="6565900"/>
            <a:ext cx="2717800" cy="152400"/>
          </a:xfrm>
          <a:prstGeom prst="rect">
            <a:avLst/>
          </a:prstGeom>
          <a:noFill/>
        </p:spPr>
        <p:txBody>
          <a:bodyPr wrap="square" anchor="t" lIns="0" rIns="0" tIns="0" bIns="0"/>
          <a:lstStyle/>
          <a:p>
            <a:pPr algn="r">
              <a:lnSpc>
                <a:spcPct val="120000"/>
              </a:lnSpc>
            </a:pPr>
            <a:r>
              <a:rPr lang="en-US" sz="850" dirty="0">
                <a:solidFill>
                  <a:srgbClr val="80868B"/>
                </a:solidFill>
                <a:latin typeface="Roboto"/>
                <a:ea typeface="Roboto"/>
                <a:cs typeface="Roboto"/>
              </a:rPr>
              <a:t>Global Retail Hub · Customer Build Readout</a:t>
            </a:r>
          </a:p>
        </p:txBody>
      </p:sp>
      <p:sp>
        <p:nvSpPr>
          <p:cNvPr id="14" name="TextBox 14"/>
          <p:cNvSpPr txBox="1"/>
          <p:nvPr/>
        </p:nvSpPr>
        <p:spPr>
          <a:xfrm>
            <a:off x="457200" y="1028700"/>
            <a:ext cx="11277600" cy="165100"/>
          </a:xfrm>
          <a:prstGeom prst="rect">
            <a:avLst/>
          </a:prstGeom>
          <a:noFill/>
        </p:spPr>
        <p:txBody>
          <a:bodyPr wrap="square" anchor="t" lIns="0" rIns="0" tIns="0" bIns="0"/>
          <a:lstStyle/>
          <a:p>
            <a:pPr algn="l">
              <a:lnSpc>
                <a:spcPct val="120000"/>
              </a:lnSpc>
            </a:pPr>
            <a:r>
              <a:rPr lang="en-US" sz="1050" b="1" dirty="0">
                <a:solidFill>
                  <a:srgbClr val="5F6368"/>
                </a:solidFill>
                <a:latin typeface="Roboto"/>
                <a:ea typeface="Roboto"/>
                <a:cs typeface="Roboto"/>
              </a:rPr>
              <a:t>THE 5-STEP CUSTOMER MESSAGE JOURNEY</a:t>
            </a:r>
          </a:p>
        </p:txBody>
      </p:sp>
      <p:sp>
        <p:nvSpPr>
          <p:cNvPr id="15" name="Shape 15"/>
          <p:cNvSpPr/>
          <p:nvPr/>
        </p:nvSpPr>
        <p:spPr>
          <a:xfrm>
            <a:off x="457200" y="1231900"/>
            <a:ext cx="2133600" cy="16510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16" name="Shape 16"/>
          <p:cNvSpPr/>
          <p:nvPr/>
        </p:nvSpPr>
        <p:spPr>
          <a:xfrm>
            <a:off x="457200" y="1231900"/>
            <a:ext cx="2133600" cy="38100"/>
          </a:xfrm>
          <a:prstGeom prst="rect">
            <a:avLst/>
          </a:prstGeom>
          <a:solidFill>
            <a:srgbClr val="1A73E8"/>
          </a:solidFill>
          <a:ln>
            <a:noFill/>
          </a:ln>
          <a:effectLst/>
        </p:spPr>
        <p:txBody>
          <a:bodyPr rtlCol="0" anchor="ctr"/>
          <a:lstStyle/>
          <a:p>
            <a:pPr algn="ctr"/>
          </a:p>
        </p:txBody>
      </p:sp>
      <p:sp>
        <p:nvSpPr>
          <p:cNvPr id="17" name="Shape 17"/>
          <p:cNvSpPr/>
          <p:nvPr/>
        </p:nvSpPr>
        <p:spPr>
          <a:xfrm>
            <a:off x="571500" y="1358900"/>
            <a:ext cx="1111250" cy="152400"/>
          </a:xfrm>
          <a:prstGeom prst="roundRect">
            <a:avLst>
              <a:gd name="adj" fmla="val 50000"/>
            </a:avLst>
          </a:prstGeom>
          <a:solidFill>
            <a:srgbClr val="E8F0FE"/>
          </a:solidFill>
          <a:ln>
            <a:noFill/>
          </a:ln>
          <a:effectLst/>
        </p:spPr>
        <p:txBody>
          <a:bodyPr rtlCol="0" anchor="ctr"/>
          <a:lstStyle/>
          <a:p>
            <a:pPr algn="ctr"/>
          </a:p>
        </p:txBody>
      </p:sp>
      <p:sp>
        <p:nvSpPr>
          <p:cNvPr id="18" name="TextBox 18"/>
          <p:cNvSpPr txBox="1"/>
          <p:nvPr/>
        </p:nvSpPr>
        <p:spPr>
          <a:xfrm>
            <a:off x="571500" y="1358900"/>
            <a:ext cx="1111250" cy="152400"/>
          </a:xfrm>
          <a:prstGeom prst="rect">
            <a:avLst/>
          </a:prstGeom>
          <a:noFill/>
        </p:spPr>
        <p:txBody>
          <a:bodyPr wrap="square" anchor="ctr" lIns="0" rIns="0" tIns="0" bIns="0"/>
          <a:lstStyle/>
          <a:p>
            <a:pPr algn="ctr">
              <a:lnSpc>
                <a:spcPct val="120000"/>
              </a:lnSpc>
            </a:pPr>
            <a:r>
              <a:rPr lang="en-US" sz="800" b="1" dirty="0">
                <a:solidFill>
                  <a:srgbClr val="1A73E8"/>
                </a:solidFill>
                <a:latin typeface="Roboto"/>
                <a:ea typeface="Roboto"/>
                <a:cs typeface="Roboto"/>
              </a:rPr>
              <a:t>STEP 1 · FRONT DOOR</a:t>
            </a:r>
          </a:p>
        </p:txBody>
      </p:sp>
      <p:sp>
        <p:nvSpPr>
          <p:cNvPr id="19" name="TextBox 19"/>
          <p:cNvSpPr txBox="1"/>
          <p:nvPr/>
        </p:nvSpPr>
        <p:spPr>
          <a:xfrm>
            <a:off x="571500" y="1587500"/>
            <a:ext cx="1905000" cy="190500"/>
          </a:xfrm>
          <a:prstGeom prst="rect">
            <a:avLst/>
          </a:prstGeom>
          <a:noFill/>
        </p:spPr>
        <p:txBody>
          <a:bodyPr wrap="square" anchor="t" lIns="0" rIns="0" tIns="0" bIns="0"/>
          <a:lstStyle/>
          <a:p>
            <a:pPr algn="l">
              <a:lnSpc>
                <a:spcPct val="120000"/>
              </a:lnSpc>
            </a:pPr>
            <a:r>
              <a:rPr lang="en-US" sz="1400" b="1" dirty="0">
                <a:solidFill>
                  <a:srgbClr val="202124"/>
                </a:solidFill>
                <a:latin typeface="Roboto"/>
                <a:ea typeface="Roboto"/>
                <a:cs typeface="Roboto"/>
              </a:rPr>
              <a:t>Security Gate</a:t>
            </a:r>
          </a:p>
        </p:txBody>
      </p:sp>
      <p:sp>
        <p:nvSpPr>
          <p:cNvPr id="20" name="TextBox 20"/>
          <p:cNvSpPr txBox="1"/>
          <p:nvPr/>
        </p:nvSpPr>
        <p:spPr>
          <a:xfrm>
            <a:off x="571500" y="1790700"/>
            <a:ext cx="1905000" cy="152400"/>
          </a:xfrm>
          <a:prstGeom prst="rect">
            <a:avLst/>
          </a:prstGeom>
          <a:noFill/>
        </p:spPr>
        <p:txBody>
          <a:bodyPr wrap="square" anchor="t" lIns="0" rIns="0" tIns="0" bIns="0"/>
          <a:lstStyle/>
          <a:p>
            <a:pPr algn="l">
              <a:lnSpc>
                <a:spcPct val="120000"/>
              </a:lnSpc>
            </a:pPr>
            <a:r>
              <a:rPr lang="en-US" sz="1000" b="1" dirty="0">
                <a:solidFill>
                  <a:srgbClr val="1A73E8"/>
                </a:solidFill>
                <a:latin typeface="Roboto"/>
                <a:ea typeface="Roboto"/>
                <a:cs typeface="Roboto"/>
              </a:rPr>
              <a:t>Google Sign-In Check</a:t>
            </a:r>
          </a:p>
        </p:txBody>
      </p:sp>
      <p:sp>
        <p:nvSpPr>
          <p:cNvPr id="21" name="TextBox 21"/>
          <p:cNvSpPr txBox="1"/>
          <p:nvPr/>
        </p:nvSpPr>
        <p:spPr>
          <a:xfrm>
            <a:off x="571500" y="1993900"/>
            <a:ext cx="1905000" cy="7620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Verifies every shopper's identity at the entrance before any message can enter your support platform.</a:t>
            </a:r>
          </a:p>
        </p:txBody>
      </p:sp>
      <p:sp>
        <p:nvSpPr>
          <p:cNvPr id="22" name="TextBox 22"/>
          <p:cNvSpPr txBox="1"/>
          <p:nvPr/>
        </p:nvSpPr>
        <p:spPr>
          <a:xfrm>
            <a:off x="2603500" y="1962150"/>
            <a:ext cx="127000" cy="190500"/>
          </a:xfrm>
          <a:prstGeom prst="rect">
            <a:avLst/>
          </a:prstGeom>
          <a:noFill/>
        </p:spPr>
        <p:txBody>
          <a:bodyPr wrap="square" anchor="t" lIns="0" rIns="0" tIns="0" bIns="0"/>
          <a:lstStyle/>
          <a:p>
            <a:pPr algn="ctr">
              <a:lnSpc>
                <a:spcPct val="120000"/>
              </a:lnSpc>
            </a:pPr>
            <a:r>
              <a:rPr lang="en-US" sz="1600" b="1" dirty="0">
                <a:solidFill>
                  <a:srgbClr val="5F6368"/>
                </a:solidFill>
                <a:latin typeface="Roboto"/>
                <a:ea typeface="Roboto"/>
                <a:cs typeface="Roboto"/>
              </a:rPr>
              <a:t>→</a:t>
            </a:r>
          </a:p>
        </p:txBody>
      </p:sp>
      <p:sp>
        <p:nvSpPr>
          <p:cNvPr id="23" name="Shape 23"/>
          <p:cNvSpPr/>
          <p:nvPr/>
        </p:nvSpPr>
        <p:spPr>
          <a:xfrm>
            <a:off x="2743200" y="1231900"/>
            <a:ext cx="2133600" cy="16510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24" name="Shape 24"/>
          <p:cNvSpPr/>
          <p:nvPr/>
        </p:nvSpPr>
        <p:spPr>
          <a:xfrm>
            <a:off x="2743200" y="1231900"/>
            <a:ext cx="2133600" cy="38100"/>
          </a:xfrm>
          <a:prstGeom prst="rect">
            <a:avLst/>
          </a:prstGeom>
          <a:solidFill>
            <a:srgbClr val="137333"/>
          </a:solidFill>
          <a:ln>
            <a:noFill/>
          </a:ln>
          <a:effectLst/>
        </p:spPr>
        <p:txBody>
          <a:bodyPr rtlCol="0" anchor="ctr"/>
          <a:lstStyle/>
          <a:p>
            <a:pPr algn="ctr"/>
          </a:p>
        </p:txBody>
      </p:sp>
      <p:sp>
        <p:nvSpPr>
          <p:cNvPr id="25" name="Shape 25"/>
          <p:cNvSpPr/>
          <p:nvPr/>
        </p:nvSpPr>
        <p:spPr>
          <a:xfrm>
            <a:off x="2857500" y="1358900"/>
            <a:ext cx="1111250" cy="152400"/>
          </a:xfrm>
          <a:prstGeom prst="roundRect">
            <a:avLst>
              <a:gd name="adj" fmla="val 50000"/>
            </a:avLst>
          </a:prstGeom>
          <a:solidFill>
            <a:srgbClr val="E6F4EA"/>
          </a:solidFill>
          <a:ln>
            <a:noFill/>
          </a:ln>
          <a:effectLst/>
        </p:spPr>
        <p:txBody>
          <a:bodyPr rtlCol="0" anchor="ctr"/>
          <a:lstStyle/>
          <a:p>
            <a:pPr algn="ctr"/>
          </a:p>
        </p:txBody>
      </p:sp>
      <p:sp>
        <p:nvSpPr>
          <p:cNvPr id="26" name="TextBox 26"/>
          <p:cNvSpPr txBox="1"/>
          <p:nvPr/>
        </p:nvSpPr>
        <p:spPr>
          <a:xfrm>
            <a:off x="2857500" y="1358900"/>
            <a:ext cx="1111250" cy="152400"/>
          </a:xfrm>
          <a:prstGeom prst="rect">
            <a:avLst/>
          </a:prstGeom>
          <a:noFill/>
        </p:spPr>
        <p:txBody>
          <a:bodyPr wrap="square" anchor="ctr" lIns="0" rIns="0" tIns="0" bIns="0"/>
          <a:lstStyle/>
          <a:p>
            <a:pPr algn="ctr">
              <a:lnSpc>
                <a:spcPct val="120000"/>
              </a:lnSpc>
            </a:pPr>
            <a:r>
              <a:rPr lang="en-US" sz="800" b="1" dirty="0">
                <a:solidFill>
                  <a:srgbClr val="137333"/>
                </a:solidFill>
                <a:latin typeface="Roboto"/>
                <a:ea typeface="Roboto"/>
                <a:cs typeface="Roboto"/>
              </a:rPr>
              <a:t>STEP 2 · FLOOR MANAGER</a:t>
            </a:r>
          </a:p>
        </p:txBody>
      </p:sp>
      <p:sp>
        <p:nvSpPr>
          <p:cNvPr id="27" name="TextBox 27"/>
          <p:cNvSpPr txBox="1"/>
          <p:nvPr/>
        </p:nvSpPr>
        <p:spPr>
          <a:xfrm>
            <a:off x="2857500" y="1587500"/>
            <a:ext cx="1905000" cy="190500"/>
          </a:xfrm>
          <a:prstGeom prst="rect">
            <a:avLst/>
          </a:prstGeom>
          <a:noFill/>
        </p:spPr>
        <p:txBody>
          <a:bodyPr wrap="square" anchor="t" lIns="0" rIns="0" tIns="0" bIns="0"/>
          <a:lstStyle/>
          <a:p>
            <a:pPr algn="l">
              <a:lnSpc>
                <a:spcPct val="120000"/>
              </a:lnSpc>
            </a:pPr>
            <a:r>
              <a:rPr lang="en-US" sz="1400" b="1" dirty="0">
                <a:solidFill>
                  <a:srgbClr val="202124"/>
                </a:solidFill>
                <a:latin typeface="Roboto"/>
                <a:ea typeface="Roboto"/>
                <a:cs typeface="Roboto"/>
              </a:rPr>
              <a:t>Central Coordinator</a:t>
            </a:r>
          </a:p>
        </p:txBody>
      </p:sp>
      <p:sp>
        <p:nvSpPr>
          <p:cNvPr id="28" name="TextBox 28"/>
          <p:cNvSpPr txBox="1"/>
          <p:nvPr/>
        </p:nvSpPr>
        <p:spPr>
          <a:xfrm>
            <a:off x="2857500" y="1790700"/>
            <a:ext cx="1905000" cy="152400"/>
          </a:xfrm>
          <a:prstGeom prst="rect">
            <a:avLst/>
          </a:prstGeom>
          <a:noFill/>
        </p:spPr>
        <p:txBody>
          <a:bodyPr wrap="square" anchor="t" lIns="0" rIns="0" tIns="0" bIns="0"/>
          <a:lstStyle/>
          <a:p>
            <a:pPr algn="l">
              <a:lnSpc>
                <a:spcPct val="120000"/>
              </a:lnSpc>
            </a:pPr>
            <a:r>
              <a:rPr lang="en-US" sz="1000" b="1" dirty="0">
                <a:solidFill>
                  <a:srgbClr val="137333"/>
                </a:solidFill>
                <a:latin typeface="Roboto"/>
                <a:ea typeface="Roboto"/>
                <a:cs typeface="Roboto"/>
              </a:rPr>
              <a:t>Privacy Shield &amp; Traffic Director</a:t>
            </a:r>
          </a:p>
        </p:txBody>
      </p:sp>
      <p:sp>
        <p:nvSpPr>
          <p:cNvPr id="29" name="TextBox 29"/>
          <p:cNvSpPr txBox="1"/>
          <p:nvPr/>
        </p:nvSpPr>
        <p:spPr>
          <a:xfrm>
            <a:off x="2857500" y="1993900"/>
            <a:ext cx="1905000" cy="7620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Masks credit cards, SSNs &amp; emails, tracks ticket status, and decides which AI specialist to call.</a:t>
            </a:r>
          </a:p>
        </p:txBody>
      </p:sp>
      <p:sp>
        <p:nvSpPr>
          <p:cNvPr id="30" name="TextBox 30"/>
          <p:cNvSpPr txBox="1"/>
          <p:nvPr/>
        </p:nvSpPr>
        <p:spPr>
          <a:xfrm>
            <a:off x="4889500" y="1962150"/>
            <a:ext cx="127000" cy="190500"/>
          </a:xfrm>
          <a:prstGeom prst="rect">
            <a:avLst/>
          </a:prstGeom>
          <a:noFill/>
        </p:spPr>
        <p:txBody>
          <a:bodyPr wrap="square" anchor="t" lIns="0" rIns="0" tIns="0" bIns="0"/>
          <a:lstStyle/>
          <a:p>
            <a:pPr algn="ctr">
              <a:lnSpc>
                <a:spcPct val="120000"/>
              </a:lnSpc>
            </a:pPr>
            <a:r>
              <a:rPr lang="en-US" sz="1600" b="1" dirty="0">
                <a:solidFill>
                  <a:srgbClr val="5F6368"/>
                </a:solidFill>
                <a:latin typeface="Roboto"/>
                <a:ea typeface="Roboto"/>
                <a:cs typeface="Roboto"/>
              </a:rPr>
              <a:t>→</a:t>
            </a:r>
          </a:p>
        </p:txBody>
      </p:sp>
      <p:sp>
        <p:nvSpPr>
          <p:cNvPr id="31" name="Shape 31"/>
          <p:cNvSpPr/>
          <p:nvPr/>
        </p:nvSpPr>
        <p:spPr>
          <a:xfrm>
            <a:off x="5029200" y="1231900"/>
            <a:ext cx="2133600" cy="16510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32" name="Shape 32"/>
          <p:cNvSpPr/>
          <p:nvPr/>
        </p:nvSpPr>
        <p:spPr>
          <a:xfrm>
            <a:off x="5029200" y="1231900"/>
            <a:ext cx="2133600" cy="38100"/>
          </a:xfrm>
          <a:prstGeom prst="rect">
            <a:avLst/>
          </a:prstGeom>
          <a:solidFill>
            <a:srgbClr val="B06000"/>
          </a:solidFill>
          <a:ln>
            <a:noFill/>
          </a:ln>
          <a:effectLst/>
        </p:spPr>
        <p:txBody>
          <a:bodyPr rtlCol="0" anchor="ctr"/>
          <a:lstStyle/>
          <a:p>
            <a:pPr algn="ctr"/>
          </a:p>
        </p:txBody>
      </p:sp>
      <p:sp>
        <p:nvSpPr>
          <p:cNvPr id="33" name="Shape 33"/>
          <p:cNvSpPr/>
          <p:nvPr/>
        </p:nvSpPr>
        <p:spPr>
          <a:xfrm>
            <a:off x="5143500" y="1358900"/>
            <a:ext cx="1111250" cy="152400"/>
          </a:xfrm>
          <a:prstGeom prst="roundRect">
            <a:avLst>
              <a:gd name="adj" fmla="val 50000"/>
            </a:avLst>
          </a:prstGeom>
          <a:solidFill>
            <a:srgbClr val="FEF7E0"/>
          </a:solidFill>
          <a:ln>
            <a:noFill/>
          </a:ln>
          <a:effectLst/>
        </p:spPr>
        <p:txBody>
          <a:bodyPr rtlCol="0" anchor="ctr"/>
          <a:lstStyle/>
          <a:p>
            <a:pPr algn="ctr"/>
          </a:p>
        </p:txBody>
      </p:sp>
      <p:sp>
        <p:nvSpPr>
          <p:cNvPr id="34" name="TextBox 34"/>
          <p:cNvSpPr txBox="1"/>
          <p:nvPr/>
        </p:nvSpPr>
        <p:spPr>
          <a:xfrm>
            <a:off x="5143500" y="1358900"/>
            <a:ext cx="1111250" cy="152400"/>
          </a:xfrm>
          <a:prstGeom prst="rect">
            <a:avLst/>
          </a:prstGeom>
          <a:noFill/>
        </p:spPr>
        <p:txBody>
          <a:bodyPr wrap="square" anchor="ctr" lIns="0" rIns="0" tIns="0" bIns="0"/>
          <a:lstStyle/>
          <a:p>
            <a:pPr algn="ctr">
              <a:lnSpc>
                <a:spcPct val="120000"/>
              </a:lnSpc>
            </a:pPr>
            <a:r>
              <a:rPr lang="en-US" sz="800" b="1" dirty="0">
                <a:solidFill>
                  <a:srgbClr val="B06000"/>
                </a:solidFill>
                <a:latin typeface="Roboto"/>
                <a:ea typeface="Roboto"/>
                <a:cs typeface="Roboto"/>
              </a:rPr>
              <a:t>STEP 3A · TRIAGE AI</a:t>
            </a:r>
          </a:p>
        </p:txBody>
      </p:sp>
      <p:sp>
        <p:nvSpPr>
          <p:cNvPr id="35" name="TextBox 35"/>
          <p:cNvSpPr txBox="1"/>
          <p:nvPr/>
        </p:nvSpPr>
        <p:spPr>
          <a:xfrm>
            <a:off x="5143500" y="1587500"/>
            <a:ext cx="1905000" cy="190500"/>
          </a:xfrm>
          <a:prstGeom prst="rect">
            <a:avLst/>
          </a:prstGeom>
          <a:noFill/>
        </p:spPr>
        <p:txBody>
          <a:bodyPr wrap="square" anchor="t" lIns="0" rIns="0" tIns="0" bIns="0"/>
          <a:lstStyle/>
          <a:p>
            <a:pPr algn="l">
              <a:lnSpc>
                <a:spcPct val="120000"/>
              </a:lnSpc>
            </a:pPr>
            <a:r>
              <a:rPr lang="en-US" sz="1400" b="1" dirty="0">
                <a:solidFill>
                  <a:srgbClr val="202124"/>
                </a:solidFill>
                <a:latin typeface="Roboto"/>
                <a:ea typeface="Roboto"/>
                <a:cs typeface="Roboto"/>
              </a:rPr>
              <a:t>Mood &amp; Urgency Specialist</a:t>
            </a:r>
          </a:p>
        </p:txBody>
      </p:sp>
      <p:sp>
        <p:nvSpPr>
          <p:cNvPr id="36" name="TextBox 36"/>
          <p:cNvSpPr txBox="1"/>
          <p:nvPr/>
        </p:nvSpPr>
        <p:spPr>
          <a:xfrm>
            <a:off x="5143500" y="1790700"/>
            <a:ext cx="1905000" cy="152400"/>
          </a:xfrm>
          <a:prstGeom prst="rect">
            <a:avLst/>
          </a:prstGeom>
          <a:noFill/>
        </p:spPr>
        <p:txBody>
          <a:bodyPr wrap="square" anchor="t" lIns="0" rIns="0" tIns="0" bIns="0"/>
          <a:lstStyle/>
          <a:p>
            <a:pPr algn="l">
              <a:lnSpc>
                <a:spcPct val="120000"/>
              </a:lnSpc>
            </a:pPr>
            <a:r>
              <a:rPr lang="en-US" sz="1000" b="1" dirty="0">
                <a:solidFill>
                  <a:srgbClr val="B06000"/>
                </a:solidFill>
                <a:latin typeface="Roboto"/>
                <a:ea typeface="Roboto"/>
                <a:cs typeface="Roboto"/>
              </a:rPr>
              <a:t>Gemini 2.5 Flash (~2 Sec)</a:t>
            </a:r>
          </a:p>
        </p:txBody>
      </p:sp>
      <p:sp>
        <p:nvSpPr>
          <p:cNvPr id="37" name="TextBox 37"/>
          <p:cNvSpPr txBox="1"/>
          <p:nvPr/>
        </p:nvSpPr>
        <p:spPr>
          <a:xfrm>
            <a:off x="5143500" y="1993900"/>
            <a:ext cx="1905000" cy="7620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Lightweight, fast AI brain that reads customer emotion and pulls out Order IDs &amp; Product Names.</a:t>
            </a:r>
          </a:p>
        </p:txBody>
      </p:sp>
      <p:sp>
        <p:nvSpPr>
          <p:cNvPr id="38" name="TextBox 38"/>
          <p:cNvSpPr txBox="1"/>
          <p:nvPr/>
        </p:nvSpPr>
        <p:spPr>
          <a:xfrm>
            <a:off x="7175500" y="1962150"/>
            <a:ext cx="127000" cy="190500"/>
          </a:xfrm>
          <a:prstGeom prst="rect">
            <a:avLst/>
          </a:prstGeom>
          <a:noFill/>
        </p:spPr>
        <p:txBody>
          <a:bodyPr wrap="square" anchor="t" lIns="0" rIns="0" tIns="0" bIns="0"/>
          <a:lstStyle/>
          <a:p>
            <a:pPr algn="ctr">
              <a:lnSpc>
                <a:spcPct val="120000"/>
              </a:lnSpc>
            </a:pPr>
            <a:r>
              <a:rPr lang="en-US" sz="1600" b="1" dirty="0">
                <a:solidFill>
                  <a:srgbClr val="5F6368"/>
                </a:solidFill>
                <a:latin typeface="Roboto"/>
                <a:ea typeface="Roboto"/>
                <a:cs typeface="Roboto"/>
              </a:rPr>
              <a:t>→</a:t>
            </a:r>
          </a:p>
        </p:txBody>
      </p:sp>
      <p:sp>
        <p:nvSpPr>
          <p:cNvPr id="39" name="Shape 39"/>
          <p:cNvSpPr/>
          <p:nvPr/>
        </p:nvSpPr>
        <p:spPr>
          <a:xfrm>
            <a:off x="7315200" y="1231900"/>
            <a:ext cx="2133600" cy="16510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40" name="Shape 40"/>
          <p:cNvSpPr/>
          <p:nvPr/>
        </p:nvSpPr>
        <p:spPr>
          <a:xfrm>
            <a:off x="7315200" y="1231900"/>
            <a:ext cx="2133600" cy="38100"/>
          </a:xfrm>
          <a:prstGeom prst="rect">
            <a:avLst/>
          </a:prstGeom>
          <a:solidFill>
            <a:srgbClr val="1A73E8"/>
          </a:solidFill>
          <a:ln>
            <a:noFill/>
          </a:ln>
          <a:effectLst/>
        </p:spPr>
        <p:txBody>
          <a:bodyPr rtlCol="0" anchor="ctr"/>
          <a:lstStyle/>
          <a:p>
            <a:pPr algn="ctr"/>
          </a:p>
        </p:txBody>
      </p:sp>
      <p:sp>
        <p:nvSpPr>
          <p:cNvPr id="41" name="Shape 41"/>
          <p:cNvSpPr/>
          <p:nvPr/>
        </p:nvSpPr>
        <p:spPr>
          <a:xfrm>
            <a:off x="7429500" y="1358900"/>
            <a:ext cx="1111250" cy="152400"/>
          </a:xfrm>
          <a:prstGeom prst="roundRect">
            <a:avLst>
              <a:gd name="adj" fmla="val 50000"/>
            </a:avLst>
          </a:prstGeom>
          <a:solidFill>
            <a:srgbClr val="E8F0FE"/>
          </a:solidFill>
          <a:ln>
            <a:noFill/>
          </a:ln>
          <a:effectLst/>
        </p:spPr>
        <p:txBody>
          <a:bodyPr rtlCol="0" anchor="ctr"/>
          <a:lstStyle/>
          <a:p>
            <a:pPr algn="ctr"/>
          </a:p>
        </p:txBody>
      </p:sp>
      <p:sp>
        <p:nvSpPr>
          <p:cNvPr id="42" name="TextBox 42"/>
          <p:cNvSpPr txBox="1"/>
          <p:nvPr/>
        </p:nvSpPr>
        <p:spPr>
          <a:xfrm>
            <a:off x="7429500" y="1358900"/>
            <a:ext cx="1111250" cy="152400"/>
          </a:xfrm>
          <a:prstGeom prst="rect">
            <a:avLst/>
          </a:prstGeom>
          <a:noFill/>
        </p:spPr>
        <p:txBody>
          <a:bodyPr wrap="square" anchor="ctr" lIns="0" rIns="0" tIns="0" bIns="0"/>
          <a:lstStyle/>
          <a:p>
            <a:pPr algn="ctr">
              <a:lnSpc>
                <a:spcPct val="120000"/>
              </a:lnSpc>
            </a:pPr>
            <a:r>
              <a:rPr lang="en-US" sz="800" b="1" dirty="0">
                <a:solidFill>
                  <a:srgbClr val="1A73E8"/>
                </a:solidFill>
                <a:latin typeface="Roboto"/>
                <a:ea typeface="Roboto"/>
                <a:cs typeface="Roboto"/>
              </a:rPr>
              <a:t>STEP 3B · RESEARCH AI</a:t>
            </a:r>
          </a:p>
        </p:txBody>
      </p:sp>
      <p:sp>
        <p:nvSpPr>
          <p:cNvPr id="43" name="TextBox 43"/>
          <p:cNvSpPr txBox="1"/>
          <p:nvPr/>
        </p:nvSpPr>
        <p:spPr>
          <a:xfrm>
            <a:off x="7429500" y="1587500"/>
            <a:ext cx="1905000" cy="190500"/>
          </a:xfrm>
          <a:prstGeom prst="rect">
            <a:avLst/>
          </a:prstGeom>
          <a:noFill/>
        </p:spPr>
        <p:txBody>
          <a:bodyPr wrap="square" anchor="t" lIns="0" rIns="0" tIns="0" bIns="0"/>
          <a:lstStyle/>
          <a:p>
            <a:pPr algn="l">
              <a:lnSpc>
                <a:spcPct val="120000"/>
              </a:lnSpc>
            </a:pPr>
            <a:r>
              <a:rPr lang="en-US" sz="1400" b="1" dirty="0">
                <a:solidFill>
                  <a:srgbClr val="202124"/>
                </a:solidFill>
                <a:latin typeface="Roboto"/>
                <a:ea typeface="Roboto"/>
                <a:cs typeface="Roboto"/>
              </a:rPr>
              <a:t>Policy &amp; Order Specialist</a:t>
            </a:r>
          </a:p>
        </p:txBody>
      </p:sp>
      <p:sp>
        <p:nvSpPr>
          <p:cNvPr id="44" name="TextBox 44"/>
          <p:cNvSpPr txBox="1"/>
          <p:nvPr/>
        </p:nvSpPr>
        <p:spPr>
          <a:xfrm>
            <a:off x="7429500" y="1790700"/>
            <a:ext cx="1905000" cy="152400"/>
          </a:xfrm>
          <a:prstGeom prst="rect">
            <a:avLst/>
          </a:prstGeom>
          <a:noFill/>
        </p:spPr>
        <p:txBody>
          <a:bodyPr wrap="square" anchor="t" lIns="0" rIns="0" tIns="0" bIns="0"/>
          <a:lstStyle/>
          <a:p>
            <a:pPr algn="l">
              <a:lnSpc>
                <a:spcPct val="120000"/>
              </a:lnSpc>
            </a:pPr>
            <a:r>
              <a:rPr lang="en-US" sz="1000" b="1" dirty="0">
                <a:solidFill>
                  <a:srgbClr val="1A73E8"/>
                </a:solidFill>
                <a:latin typeface="Roboto"/>
                <a:ea typeface="Roboto"/>
                <a:cs typeface="Roboto"/>
              </a:rPr>
              <a:t>Gemini 2.5 Pro (Deep Accuracy)</a:t>
            </a:r>
          </a:p>
        </p:txBody>
      </p:sp>
      <p:sp>
        <p:nvSpPr>
          <p:cNvPr id="45" name="TextBox 45"/>
          <p:cNvSpPr txBox="1"/>
          <p:nvPr/>
        </p:nvSpPr>
        <p:spPr>
          <a:xfrm>
            <a:off x="7429500" y="1993900"/>
            <a:ext cx="1905000" cy="7620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Thorough AI brain called only for calm inquiries to research store policies and order status.</a:t>
            </a:r>
          </a:p>
        </p:txBody>
      </p:sp>
      <p:sp>
        <p:nvSpPr>
          <p:cNvPr id="46" name="TextBox 46"/>
          <p:cNvSpPr txBox="1"/>
          <p:nvPr/>
        </p:nvSpPr>
        <p:spPr>
          <a:xfrm>
            <a:off x="9461500" y="1962150"/>
            <a:ext cx="127000" cy="190500"/>
          </a:xfrm>
          <a:prstGeom prst="rect">
            <a:avLst/>
          </a:prstGeom>
          <a:noFill/>
        </p:spPr>
        <p:txBody>
          <a:bodyPr wrap="square" anchor="t" lIns="0" rIns="0" tIns="0" bIns="0"/>
          <a:lstStyle/>
          <a:p>
            <a:pPr algn="ctr">
              <a:lnSpc>
                <a:spcPct val="120000"/>
              </a:lnSpc>
            </a:pPr>
            <a:r>
              <a:rPr lang="en-US" sz="1600" b="1" dirty="0">
                <a:solidFill>
                  <a:srgbClr val="5F6368"/>
                </a:solidFill>
                <a:latin typeface="Roboto"/>
                <a:ea typeface="Roboto"/>
                <a:cs typeface="Roboto"/>
              </a:rPr>
              <a:t>→</a:t>
            </a:r>
          </a:p>
        </p:txBody>
      </p:sp>
      <p:sp>
        <p:nvSpPr>
          <p:cNvPr id="47" name="Shape 47"/>
          <p:cNvSpPr/>
          <p:nvPr/>
        </p:nvSpPr>
        <p:spPr>
          <a:xfrm>
            <a:off x="9601200" y="1231900"/>
            <a:ext cx="2133600" cy="16510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48" name="Shape 48"/>
          <p:cNvSpPr/>
          <p:nvPr/>
        </p:nvSpPr>
        <p:spPr>
          <a:xfrm>
            <a:off x="9601200" y="1231900"/>
            <a:ext cx="2133600" cy="38100"/>
          </a:xfrm>
          <a:prstGeom prst="rect">
            <a:avLst/>
          </a:prstGeom>
          <a:solidFill>
            <a:srgbClr val="137333"/>
          </a:solidFill>
          <a:ln>
            <a:noFill/>
          </a:ln>
          <a:effectLst/>
        </p:spPr>
        <p:txBody>
          <a:bodyPr rtlCol="0" anchor="ctr"/>
          <a:lstStyle/>
          <a:p>
            <a:pPr algn="ctr"/>
          </a:p>
        </p:txBody>
      </p:sp>
      <p:sp>
        <p:nvSpPr>
          <p:cNvPr id="49" name="Shape 49"/>
          <p:cNvSpPr/>
          <p:nvPr/>
        </p:nvSpPr>
        <p:spPr>
          <a:xfrm>
            <a:off x="9715500" y="1358900"/>
            <a:ext cx="1111250" cy="152400"/>
          </a:xfrm>
          <a:prstGeom prst="roundRect">
            <a:avLst>
              <a:gd name="adj" fmla="val 50000"/>
            </a:avLst>
          </a:prstGeom>
          <a:solidFill>
            <a:srgbClr val="E6F4EA"/>
          </a:solidFill>
          <a:ln>
            <a:noFill/>
          </a:ln>
          <a:effectLst/>
        </p:spPr>
        <p:txBody>
          <a:bodyPr rtlCol="0" anchor="ctr"/>
          <a:lstStyle/>
          <a:p>
            <a:pPr algn="ctr"/>
          </a:p>
        </p:txBody>
      </p:sp>
      <p:sp>
        <p:nvSpPr>
          <p:cNvPr id="50" name="TextBox 50"/>
          <p:cNvSpPr txBox="1"/>
          <p:nvPr/>
        </p:nvSpPr>
        <p:spPr>
          <a:xfrm>
            <a:off x="9715500" y="1358900"/>
            <a:ext cx="1111250" cy="152400"/>
          </a:xfrm>
          <a:prstGeom prst="rect">
            <a:avLst/>
          </a:prstGeom>
          <a:noFill/>
        </p:spPr>
        <p:txBody>
          <a:bodyPr wrap="square" anchor="ctr" lIns="0" rIns="0" tIns="0" bIns="0"/>
          <a:lstStyle/>
          <a:p>
            <a:pPr algn="ctr">
              <a:lnSpc>
                <a:spcPct val="120000"/>
              </a:lnSpc>
            </a:pPr>
            <a:r>
              <a:rPr lang="en-US" sz="800" b="1" dirty="0">
                <a:solidFill>
                  <a:srgbClr val="137333"/>
                </a:solidFill>
                <a:latin typeface="Roboto"/>
                <a:ea typeface="Roboto"/>
                <a:cs typeface="Roboto"/>
              </a:rPr>
              <a:t>STEP 4 · OFFICIAL RECORDS</a:t>
            </a:r>
          </a:p>
        </p:txBody>
      </p:sp>
      <p:sp>
        <p:nvSpPr>
          <p:cNvPr id="51" name="TextBox 51"/>
          <p:cNvSpPr txBox="1"/>
          <p:nvPr/>
        </p:nvSpPr>
        <p:spPr>
          <a:xfrm>
            <a:off x="9715500" y="1587500"/>
            <a:ext cx="1905000" cy="190500"/>
          </a:xfrm>
          <a:prstGeom prst="rect">
            <a:avLst/>
          </a:prstGeom>
          <a:noFill/>
        </p:spPr>
        <p:txBody>
          <a:bodyPr wrap="square" anchor="t" lIns="0" rIns="0" tIns="0" bIns="0"/>
          <a:lstStyle/>
          <a:p>
            <a:pPr algn="l">
              <a:lnSpc>
                <a:spcPct val="120000"/>
              </a:lnSpc>
            </a:pPr>
            <a:r>
              <a:rPr lang="en-US" sz="1400" b="1" dirty="0">
                <a:solidFill>
                  <a:srgbClr val="202124"/>
                </a:solidFill>
                <a:latin typeface="Roboto"/>
                <a:ea typeface="Roboto"/>
                <a:cs typeface="Roboto"/>
              </a:rPr>
              <a:t>Knowledge Library &amp; Vault</a:t>
            </a:r>
          </a:p>
        </p:txBody>
      </p:sp>
      <p:sp>
        <p:nvSpPr>
          <p:cNvPr id="52" name="TextBox 52"/>
          <p:cNvSpPr txBox="1"/>
          <p:nvPr/>
        </p:nvSpPr>
        <p:spPr>
          <a:xfrm>
            <a:off x="9715500" y="1790700"/>
            <a:ext cx="1905000" cy="152400"/>
          </a:xfrm>
          <a:prstGeom prst="rect">
            <a:avLst/>
          </a:prstGeom>
          <a:noFill/>
        </p:spPr>
        <p:txBody>
          <a:bodyPr wrap="square" anchor="t" lIns="0" rIns="0" tIns="0" bIns="0"/>
          <a:lstStyle/>
          <a:p>
            <a:pPr algn="l">
              <a:lnSpc>
                <a:spcPct val="120000"/>
              </a:lnSpc>
            </a:pPr>
            <a:r>
              <a:rPr lang="en-US" sz="1000" b="1" dirty="0">
                <a:solidFill>
                  <a:srgbClr val="137333"/>
                </a:solidFill>
                <a:latin typeface="Roboto"/>
                <a:ea typeface="Roboto"/>
                <a:cs typeface="Roboto"/>
              </a:rPr>
              <a:t>100k Records + Ticket Filing</a:t>
            </a:r>
          </a:p>
        </p:txBody>
      </p:sp>
      <p:sp>
        <p:nvSpPr>
          <p:cNvPr id="53" name="TextBox 53"/>
          <p:cNvSpPr txBox="1"/>
          <p:nvPr/>
        </p:nvSpPr>
        <p:spPr>
          <a:xfrm>
            <a:off x="9715500" y="1993900"/>
            <a:ext cx="1905000" cy="7620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Searches 100,000 verified past support answers and saves the conversation in a secure cloud database.</a:t>
            </a:r>
          </a:p>
        </p:txBody>
      </p:sp>
      <p:sp>
        <p:nvSpPr>
          <p:cNvPr id="54" name="Shape 54"/>
          <p:cNvSpPr/>
          <p:nvPr/>
        </p:nvSpPr>
        <p:spPr>
          <a:xfrm>
            <a:off x="457200" y="3048000"/>
            <a:ext cx="5562600" cy="33020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55" name="Shape 55"/>
          <p:cNvSpPr/>
          <p:nvPr/>
        </p:nvSpPr>
        <p:spPr>
          <a:xfrm>
            <a:off x="457200" y="3048000"/>
            <a:ext cx="38100" cy="3302000"/>
          </a:xfrm>
          <a:prstGeom prst="rect">
            <a:avLst/>
          </a:prstGeom>
          <a:solidFill>
            <a:srgbClr val="1A73E8"/>
          </a:solidFill>
          <a:ln>
            <a:noFill/>
          </a:ln>
          <a:effectLst/>
        </p:spPr>
        <p:txBody>
          <a:bodyPr rtlCol="0" anchor="ctr"/>
          <a:lstStyle/>
          <a:p>
            <a:pPr algn="ctr"/>
          </a:p>
        </p:txBody>
      </p:sp>
      <p:sp>
        <p:nvSpPr>
          <p:cNvPr id="56" name="Shape 56"/>
          <p:cNvSpPr/>
          <p:nvPr/>
        </p:nvSpPr>
        <p:spPr>
          <a:xfrm>
            <a:off x="609600" y="3200400"/>
            <a:ext cx="1524000" cy="165100"/>
          </a:xfrm>
          <a:prstGeom prst="roundRect">
            <a:avLst>
              <a:gd name="adj" fmla="val 50000"/>
            </a:avLst>
          </a:prstGeom>
          <a:solidFill>
            <a:srgbClr val="E8F0FE"/>
          </a:solidFill>
          <a:ln>
            <a:noFill/>
          </a:ln>
          <a:effectLst/>
        </p:spPr>
        <p:txBody>
          <a:bodyPr rtlCol="0" anchor="ctr"/>
          <a:lstStyle/>
          <a:p>
            <a:pPr algn="ctr"/>
          </a:p>
        </p:txBody>
      </p:sp>
      <p:sp>
        <p:nvSpPr>
          <p:cNvPr id="57" name="TextBox 57"/>
          <p:cNvSpPr txBox="1"/>
          <p:nvPr/>
        </p:nvSpPr>
        <p:spPr>
          <a:xfrm>
            <a:off x="609600" y="3200400"/>
            <a:ext cx="1524000" cy="165100"/>
          </a:xfrm>
          <a:prstGeom prst="rect">
            <a:avLst/>
          </a:prstGeom>
          <a:noFill/>
        </p:spPr>
        <p:txBody>
          <a:bodyPr wrap="square" anchor="ctr" lIns="0" rIns="0" tIns="0" bIns="0"/>
          <a:lstStyle/>
          <a:p>
            <a:pPr algn="ctr">
              <a:lnSpc>
                <a:spcPct val="120000"/>
              </a:lnSpc>
            </a:pPr>
            <a:r>
              <a:rPr lang="en-US" sz="850" b="1" dirty="0">
                <a:solidFill>
                  <a:srgbClr val="174EA6"/>
                </a:solidFill>
                <a:latin typeface="Roboto"/>
                <a:ea typeface="Roboto"/>
                <a:cs typeface="Roboto"/>
              </a:rPr>
              <a:t>ARCHITECTURAL ADVANTAGE</a:t>
            </a:r>
          </a:p>
        </p:txBody>
      </p:sp>
      <p:sp>
        <p:nvSpPr>
          <p:cNvPr id="58" name="TextBox 58"/>
          <p:cNvSpPr txBox="1"/>
          <p:nvPr/>
        </p:nvSpPr>
        <p:spPr>
          <a:xfrm>
            <a:off x="609600" y="3429000"/>
            <a:ext cx="5257800" cy="203200"/>
          </a:xfrm>
          <a:prstGeom prst="rect">
            <a:avLst/>
          </a:prstGeom>
          <a:noFill/>
        </p:spPr>
        <p:txBody>
          <a:bodyPr wrap="square" anchor="t" lIns="0" rIns="0" tIns="0" bIns="0"/>
          <a:lstStyle/>
          <a:p>
            <a:pPr algn="l">
              <a:lnSpc>
                <a:spcPct val="120000"/>
              </a:lnSpc>
            </a:pPr>
            <a:r>
              <a:rPr lang="en-US" sz="1600" b="1" dirty="0">
                <a:solidFill>
                  <a:srgbClr val="202124"/>
                </a:solidFill>
                <a:latin typeface="Roboto"/>
                <a:ea typeface="Roboto"/>
                <a:cs typeface="Roboto"/>
              </a:rPr>
              <a:t>Why Two Specialized AI Brains Beat One Giant AI</a:t>
            </a:r>
          </a:p>
        </p:txBody>
      </p:sp>
      <p:sp>
        <p:nvSpPr>
          <p:cNvPr id="59" name="Shape 59"/>
          <p:cNvSpPr/>
          <p:nvPr/>
        </p:nvSpPr>
        <p:spPr>
          <a:xfrm>
            <a:off x="609600" y="3708400"/>
            <a:ext cx="5257800" cy="5842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60" name="TextBox 60"/>
          <p:cNvSpPr txBox="1"/>
          <p:nvPr/>
        </p:nvSpPr>
        <p:spPr>
          <a:xfrm>
            <a:off x="723900" y="3771900"/>
            <a:ext cx="5029200" cy="152400"/>
          </a:xfrm>
          <a:prstGeom prst="rect">
            <a:avLst/>
          </a:prstGeom>
          <a:noFill/>
        </p:spPr>
        <p:txBody>
          <a:bodyPr wrap="square" anchor="t" lIns="0" rIns="0" tIns="0" bIns="0"/>
          <a:lstStyle/>
          <a:p>
            <a:pPr algn="l">
              <a:lnSpc>
                <a:spcPct val="120000"/>
              </a:lnSpc>
            </a:pPr>
            <a:r>
              <a:rPr lang="en-US" sz="1150" b="1" dirty="0">
                <a:solidFill>
                  <a:srgbClr val="174EA6"/>
                </a:solidFill>
                <a:latin typeface="Roboto"/>
                <a:ea typeface="Roboto"/>
                <a:cs typeface="Roboto"/>
              </a:rPr>
              <a:t>1. 4× Faster &amp; Cheaper Initial Triage</a:t>
            </a:r>
          </a:p>
        </p:txBody>
      </p:sp>
      <p:sp>
        <p:nvSpPr>
          <p:cNvPr id="61" name="TextBox 61"/>
          <p:cNvSpPr txBox="1"/>
          <p:nvPr/>
        </p:nvSpPr>
        <p:spPr>
          <a:xfrm>
            <a:off x="723900" y="3937000"/>
            <a:ext cx="5029200" cy="3048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Our Triage Specialist (Gemini 2.5 Flash) is purpose-built for speed. It checks customer mood and extracts Order Numbers in ~2 seconds for a fraction of a cent.</a:t>
            </a:r>
          </a:p>
        </p:txBody>
      </p:sp>
      <p:sp>
        <p:nvSpPr>
          <p:cNvPr id="62" name="Shape 62"/>
          <p:cNvSpPr/>
          <p:nvPr/>
        </p:nvSpPr>
        <p:spPr>
          <a:xfrm>
            <a:off x="609600" y="4356100"/>
            <a:ext cx="5257800" cy="5842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63" name="TextBox 63"/>
          <p:cNvSpPr txBox="1"/>
          <p:nvPr/>
        </p:nvSpPr>
        <p:spPr>
          <a:xfrm>
            <a:off x="723900" y="4419600"/>
            <a:ext cx="5029200" cy="152400"/>
          </a:xfrm>
          <a:prstGeom prst="rect">
            <a:avLst/>
          </a:prstGeom>
          <a:noFill/>
        </p:spPr>
        <p:txBody>
          <a:bodyPr wrap="square" anchor="t" lIns="0" rIns="0" tIns="0" bIns="0"/>
          <a:lstStyle/>
          <a:p>
            <a:pPr algn="l">
              <a:lnSpc>
                <a:spcPct val="120000"/>
              </a:lnSpc>
            </a:pPr>
            <a:r>
              <a:rPr lang="en-US" sz="1150" b="1" dirty="0">
                <a:solidFill>
                  <a:srgbClr val="174EA6"/>
                </a:solidFill>
                <a:latin typeface="Roboto"/>
                <a:ea typeface="Roboto"/>
                <a:cs typeface="Roboto"/>
              </a:rPr>
              <a:t>2. Urgent Customers Never Wait on Research</a:t>
            </a:r>
          </a:p>
        </p:txBody>
      </p:sp>
      <p:sp>
        <p:nvSpPr>
          <p:cNvPr id="64" name="TextBox 64"/>
          <p:cNvSpPr txBox="1"/>
          <p:nvPr/>
        </p:nvSpPr>
        <p:spPr>
          <a:xfrm>
            <a:off x="723900" y="4584700"/>
            <a:ext cx="5029200" cy="3048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When a shopper is angry, the Central Coordinator routes them to a human immediately after Step 3A—skipping the deeper Research AI completely.</a:t>
            </a:r>
          </a:p>
        </p:txBody>
      </p:sp>
      <p:sp>
        <p:nvSpPr>
          <p:cNvPr id="65" name="Shape 65"/>
          <p:cNvSpPr/>
          <p:nvPr/>
        </p:nvSpPr>
        <p:spPr>
          <a:xfrm>
            <a:off x="609600" y="5003800"/>
            <a:ext cx="5257800" cy="5842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66" name="TextBox 66"/>
          <p:cNvSpPr txBox="1"/>
          <p:nvPr/>
        </p:nvSpPr>
        <p:spPr>
          <a:xfrm>
            <a:off x="723900" y="5067300"/>
            <a:ext cx="5029200" cy="152400"/>
          </a:xfrm>
          <a:prstGeom prst="rect">
            <a:avLst/>
          </a:prstGeom>
          <a:noFill/>
        </p:spPr>
        <p:txBody>
          <a:bodyPr wrap="square" anchor="t" lIns="0" rIns="0" tIns="0" bIns="0"/>
          <a:lstStyle/>
          <a:p>
            <a:pPr algn="l">
              <a:lnSpc>
                <a:spcPct val="120000"/>
              </a:lnSpc>
            </a:pPr>
            <a:r>
              <a:rPr lang="en-US" sz="1150" b="1" dirty="0">
                <a:solidFill>
                  <a:srgbClr val="174EA6"/>
                </a:solidFill>
                <a:latin typeface="Roboto"/>
                <a:ea typeface="Roboto"/>
                <a:cs typeface="Roboto"/>
              </a:rPr>
              <a:t>3. Maximum Accuracy on Complex Policy Questions</a:t>
            </a:r>
          </a:p>
        </p:txBody>
      </p:sp>
      <p:sp>
        <p:nvSpPr>
          <p:cNvPr id="67" name="TextBox 67"/>
          <p:cNvSpPr txBox="1"/>
          <p:nvPr/>
        </p:nvSpPr>
        <p:spPr>
          <a:xfrm>
            <a:off x="723900" y="5232400"/>
            <a:ext cx="5029200" cy="3048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Calm questions get the full attention of our Research Specialist (Gemini 2.5 Pro), which carefully cross-checks 100,000 support records before writing a response.</a:t>
            </a:r>
          </a:p>
        </p:txBody>
      </p:sp>
      <p:sp>
        <p:nvSpPr>
          <p:cNvPr id="68" name="Shape 68"/>
          <p:cNvSpPr/>
          <p:nvPr/>
        </p:nvSpPr>
        <p:spPr>
          <a:xfrm>
            <a:off x="609600" y="5651500"/>
            <a:ext cx="5257800" cy="5842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69" name="TextBox 69"/>
          <p:cNvSpPr txBox="1"/>
          <p:nvPr/>
        </p:nvSpPr>
        <p:spPr>
          <a:xfrm>
            <a:off x="723900" y="5715000"/>
            <a:ext cx="5029200" cy="152400"/>
          </a:xfrm>
          <a:prstGeom prst="rect">
            <a:avLst/>
          </a:prstGeom>
          <a:noFill/>
        </p:spPr>
        <p:txBody>
          <a:bodyPr wrap="square" anchor="t" lIns="0" rIns="0" tIns="0" bIns="0"/>
          <a:lstStyle/>
          <a:p>
            <a:pPr algn="l">
              <a:lnSpc>
                <a:spcPct val="120000"/>
              </a:lnSpc>
            </a:pPr>
            <a:r>
              <a:rPr lang="en-US" sz="1150" b="1" dirty="0">
                <a:solidFill>
                  <a:srgbClr val="174EA6"/>
                </a:solidFill>
                <a:latin typeface="Roboto"/>
                <a:ea typeface="Roboto"/>
                <a:cs typeface="Roboto"/>
              </a:rPr>
              <a:t>4. Clean Separation of Duties</a:t>
            </a:r>
          </a:p>
        </p:txBody>
      </p:sp>
      <p:sp>
        <p:nvSpPr>
          <p:cNvPr id="70" name="TextBox 70"/>
          <p:cNvSpPr txBox="1"/>
          <p:nvPr/>
        </p:nvSpPr>
        <p:spPr>
          <a:xfrm>
            <a:off x="723900" y="5880100"/>
            <a:ext cx="5029200" cy="3048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The AI specialists cannot directly change ticket statuses or expose private data—the Central Coordinator enforces all business and privacy rules in one place.</a:t>
            </a:r>
          </a:p>
        </p:txBody>
      </p:sp>
      <p:sp>
        <p:nvSpPr>
          <p:cNvPr id="71" name="Shape 71"/>
          <p:cNvSpPr/>
          <p:nvPr/>
        </p:nvSpPr>
        <p:spPr>
          <a:xfrm>
            <a:off x="6172200" y="3048000"/>
            <a:ext cx="5562600" cy="33020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72" name="Shape 72"/>
          <p:cNvSpPr/>
          <p:nvPr/>
        </p:nvSpPr>
        <p:spPr>
          <a:xfrm>
            <a:off x="6172200" y="3048000"/>
            <a:ext cx="38100" cy="3302000"/>
          </a:xfrm>
          <a:prstGeom prst="rect">
            <a:avLst/>
          </a:prstGeom>
          <a:solidFill>
            <a:srgbClr val="137333"/>
          </a:solidFill>
          <a:ln>
            <a:noFill/>
          </a:ln>
          <a:effectLst/>
        </p:spPr>
        <p:txBody>
          <a:bodyPr rtlCol="0" anchor="ctr"/>
          <a:lstStyle/>
          <a:p>
            <a:pPr algn="ctr"/>
          </a:p>
        </p:txBody>
      </p:sp>
      <p:sp>
        <p:nvSpPr>
          <p:cNvPr id="73" name="Shape 73"/>
          <p:cNvSpPr/>
          <p:nvPr/>
        </p:nvSpPr>
        <p:spPr>
          <a:xfrm>
            <a:off x="6324600" y="3200400"/>
            <a:ext cx="1587500" cy="165100"/>
          </a:xfrm>
          <a:prstGeom prst="roundRect">
            <a:avLst>
              <a:gd name="adj" fmla="val 50000"/>
            </a:avLst>
          </a:prstGeom>
          <a:solidFill>
            <a:srgbClr val="E6F4EA"/>
          </a:solidFill>
          <a:ln>
            <a:noFill/>
          </a:ln>
          <a:effectLst/>
        </p:spPr>
        <p:txBody>
          <a:bodyPr rtlCol="0" anchor="ctr"/>
          <a:lstStyle/>
          <a:p>
            <a:pPr algn="ctr"/>
          </a:p>
        </p:txBody>
      </p:sp>
      <p:sp>
        <p:nvSpPr>
          <p:cNvPr id="74" name="TextBox 74"/>
          <p:cNvSpPr txBox="1"/>
          <p:nvPr/>
        </p:nvSpPr>
        <p:spPr>
          <a:xfrm>
            <a:off x="6324600" y="3200400"/>
            <a:ext cx="1587500" cy="165100"/>
          </a:xfrm>
          <a:prstGeom prst="rect">
            <a:avLst/>
          </a:prstGeom>
          <a:noFill/>
        </p:spPr>
        <p:txBody>
          <a:bodyPr wrap="square" anchor="ctr" lIns="0" rIns="0" tIns="0" bIns="0"/>
          <a:lstStyle/>
          <a:p>
            <a:pPr algn="ctr">
              <a:lnSpc>
                <a:spcPct val="120000"/>
              </a:lnSpc>
            </a:pPr>
            <a:r>
              <a:rPr lang="en-US" sz="850" b="1" dirty="0">
                <a:solidFill>
                  <a:srgbClr val="137333"/>
                </a:solidFill>
                <a:latin typeface="Roboto"/>
                <a:ea typeface="Roboto"/>
                <a:cs typeface="Roboto"/>
              </a:rPr>
              <a:t>PLAIN-ENGLISH SYSTEM MAP</a:t>
            </a:r>
          </a:p>
        </p:txBody>
      </p:sp>
      <p:sp>
        <p:nvSpPr>
          <p:cNvPr id="75" name="TextBox 75"/>
          <p:cNvSpPr txBox="1"/>
          <p:nvPr/>
        </p:nvSpPr>
        <p:spPr>
          <a:xfrm>
            <a:off x="6324600" y="3429000"/>
            <a:ext cx="5257800" cy="203200"/>
          </a:xfrm>
          <a:prstGeom prst="rect">
            <a:avLst/>
          </a:prstGeom>
          <a:noFill/>
        </p:spPr>
        <p:txBody>
          <a:bodyPr wrap="square" anchor="t" lIns="0" rIns="0" tIns="0" bIns="0"/>
          <a:lstStyle/>
          <a:p>
            <a:pPr algn="l">
              <a:lnSpc>
                <a:spcPct val="120000"/>
              </a:lnSpc>
            </a:pPr>
            <a:r>
              <a:rPr lang="en-US" sz="1600" b="1" dirty="0">
                <a:solidFill>
                  <a:srgbClr val="202124"/>
                </a:solidFill>
                <a:latin typeface="Roboto"/>
                <a:ea typeface="Roboto"/>
                <a:cs typeface="Roboto"/>
              </a:rPr>
              <a:t>How Every Component Works Together</a:t>
            </a:r>
          </a:p>
        </p:txBody>
      </p:sp>
      <p:graphicFrame>
        <p:nvGraphicFramePr>
          <p:cNvPr id="76" name="Table 76"/>
          <p:cNvGraphicFramePr>
            <a:graphicFrameLocks noGrp="1"/>
          </p:cNvGraphicFramePr>
          <p:nvPr/>
        </p:nvGraphicFramePr>
        <p:xfrm>
          <a:off x="6324600" y="3721100"/>
          <a:ext cx="5257800" cy="2387600"/>
        </p:xfrm>
        <a:graphic>
          <a:graphicData uri="http://schemas.openxmlformats.org/drawingml/2006/table">
            <a:tbl>
              <a:tblPr>
                <a:tableStyleId>{2D5ABB26-0587-4C30-8999-92F81FD0307C}</a:tableStyleId>
              </a:tblPr>
              <a:tblGrid>
                <a:gridCol w="1524000"/>
                <a:gridCol w="1397000"/>
                <a:gridCol w="2336800"/>
              </a:tblGrid>
              <a:tr h="254000">
                <a:tc>
                  <a:txBody>
                    <a:bodyPr wrap="square"/>
                    <a:lstStyle/>
                    <a:p>
                      <a:pPr algn="l"/>
                      <a:r>
                        <a:rPr lang="en-US" sz="950" b="1" dirty="0">
                          <a:solidFill>
                            <a:srgbClr val="5F6368"/>
                          </a:solidFill>
                          <a:latin typeface="Roboto"/>
                          <a:ea typeface="Roboto"/>
                          <a:cs typeface="Roboto"/>
                        </a:rPr>
                        <a:t>System Component</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b="1" dirty="0">
                          <a:solidFill>
                            <a:srgbClr val="5F6368"/>
                          </a:solidFill>
                          <a:latin typeface="Roboto"/>
                          <a:ea typeface="Roboto"/>
                          <a:cs typeface="Roboto"/>
                        </a:rPr>
                        <a:t>Real-World Analogy</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b="1" dirty="0">
                          <a:solidFill>
                            <a:srgbClr val="5F6368"/>
                          </a:solidFill>
                          <a:latin typeface="Roboto"/>
                          <a:ea typeface="Roboto"/>
                          <a:cs typeface="Roboto"/>
                        </a:rPr>
                        <a:t>Business Role</a:t>
                      </a:r>
                    </a:p>
                  </a:txBody>
                  <a:tcPr marL="63500" marR="63500" marT="38100" marB="38100" anchor="ctr">
                    <a:lnL w="0">
                      <a:noFill/>
                    </a:lnL>
                    <a:lnR w="0">
                      <a:noFill/>
                    </a:lnR>
                    <a:lnT w="0">
                      <a:noFill/>
                    </a:lnT>
                    <a:lnB w="9525">
                      <a:solidFill>
                        <a:srgbClr val="DADCE0"/>
                      </a:solidFill>
                    </a:lnB>
                    <a:solidFill>
                      <a:srgbClr val="F8F9FA"/>
                    </a:solidFill>
                  </a:tcPr>
                </a:tc>
              </a:tr>
              <a:tr h="355600">
                <a:tc>
                  <a:txBody>
                    <a:bodyPr wrap="square"/>
                    <a:lstStyle/>
                    <a:p>
                      <a:pPr algn="l"/>
                      <a:r>
                        <a:rPr lang="en-US" sz="950" b="1" dirty="0">
                          <a:solidFill>
                            <a:srgbClr val="202124"/>
                          </a:solidFill>
                          <a:latin typeface="Roboto"/>
                          <a:ea typeface="Roboto"/>
                          <a:cs typeface="Roboto"/>
                        </a:rPr>
                        <a:t>Front Door Security Gate</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l"/>
                      <a:r>
                        <a:rPr lang="en-US" sz="950" b="1" dirty="0">
                          <a:solidFill>
                            <a:srgbClr val="174EA6"/>
                          </a:solidFill>
                          <a:latin typeface="Roboto"/>
                          <a:ea typeface="Roboto"/>
                          <a:cs typeface="Roboto"/>
                        </a:rPr>
                        <a:t>Building Security Desk</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l"/>
                      <a:r>
                        <a:rPr lang="en-US" sz="950" dirty="0">
                          <a:solidFill>
                            <a:srgbClr val="5F6368"/>
                          </a:solidFill>
                          <a:latin typeface="Roboto"/>
                          <a:ea typeface="Roboto"/>
                          <a:cs typeface="Roboto"/>
                        </a:rPr>
                        <a:t>Checks Google login badge before allowing access</a:t>
                      </a:r>
                    </a:p>
                  </a:txBody>
                  <a:tcPr marL="63500" marR="63500" marT="38100" marB="38100" anchor="ctr">
                    <a:lnL w="0">
                      <a:noFill/>
                    </a:lnL>
                    <a:lnR w="0">
                      <a:noFill/>
                    </a:lnR>
                    <a:lnT w="0">
                      <a:noFill/>
                    </a:lnT>
                    <a:lnB w="9525">
                      <a:solidFill>
                        <a:srgbClr val="DADCE0"/>
                      </a:solidFill>
                    </a:lnB>
                    <a:solidFill>
                      <a:srgbClr val="FFFFFF"/>
                    </a:solidFill>
                  </a:tcPr>
                </a:tc>
              </a:tr>
              <a:tr h="355600">
                <a:tc>
                  <a:txBody>
                    <a:bodyPr wrap="square"/>
                    <a:lstStyle/>
                    <a:p>
                      <a:pPr algn="l"/>
                      <a:r>
                        <a:rPr lang="en-US" sz="950" b="1" dirty="0">
                          <a:solidFill>
                            <a:srgbClr val="202124"/>
                          </a:solidFill>
                          <a:latin typeface="Roboto"/>
                          <a:ea typeface="Roboto"/>
                          <a:cs typeface="Roboto"/>
                        </a:rPr>
                        <a:t>Central Coordinator</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b="1" dirty="0">
                          <a:solidFill>
                            <a:srgbClr val="137333"/>
                          </a:solidFill>
                          <a:latin typeface="Roboto"/>
                          <a:ea typeface="Roboto"/>
                          <a:cs typeface="Roboto"/>
                        </a:rPr>
                        <a:t>Concierge Floor Manager</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dirty="0">
                          <a:solidFill>
                            <a:srgbClr val="5F6368"/>
                          </a:solidFill>
                          <a:latin typeface="Roboto"/>
                          <a:ea typeface="Roboto"/>
                          <a:cs typeface="Roboto"/>
                        </a:rPr>
                        <a:t>Scrubs private numbers &amp; manages ticket routing</a:t>
                      </a:r>
                    </a:p>
                  </a:txBody>
                  <a:tcPr marL="63500" marR="63500" marT="38100" marB="38100" anchor="ctr">
                    <a:lnL w="0">
                      <a:noFill/>
                    </a:lnL>
                    <a:lnR w="0">
                      <a:noFill/>
                    </a:lnR>
                    <a:lnT w="0">
                      <a:noFill/>
                    </a:lnT>
                    <a:lnB w="9525">
                      <a:solidFill>
                        <a:srgbClr val="DADCE0"/>
                      </a:solidFill>
                    </a:lnB>
                    <a:solidFill>
                      <a:srgbClr val="F8F9FA"/>
                    </a:solidFill>
                  </a:tcPr>
                </a:tc>
              </a:tr>
              <a:tr h="355600">
                <a:tc>
                  <a:txBody>
                    <a:bodyPr wrap="square"/>
                    <a:lstStyle/>
                    <a:p>
                      <a:pPr algn="l"/>
                      <a:r>
                        <a:rPr lang="en-US" sz="950" b="1" dirty="0">
                          <a:solidFill>
                            <a:srgbClr val="202124"/>
                          </a:solidFill>
                          <a:latin typeface="Roboto"/>
                          <a:ea typeface="Roboto"/>
                          <a:cs typeface="Roboto"/>
                        </a:rPr>
                        <a:t>Triage Specialist AI</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l"/>
                      <a:r>
                        <a:rPr lang="en-US" sz="950" b="1" dirty="0">
                          <a:solidFill>
                            <a:srgbClr val="B06000"/>
                          </a:solidFill>
                          <a:latin typeface="Roboto"/>
                          <a:ea typeface="Roboto"/>
                          <a:cs typeface="Roboto"/>
                        </a:rPr>
                        <a:t>Express Receptionist</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l"/>
                      <a:r>
                        <a:rPr lang="en-US" sz="950" dirty="0">
                          <a:solidFill>
                            <a:srgbClr val="5F6368"/>
                          </a:solidFill>
                          <a:latin typeface="Roboto"/>
                          <a:ea typeface="Roboto"/>
                          <a:cs typeface="Roboto"/>
                        </a:rPr>
                        <a:t>Spots upset shoppers &amp; pulls out Order IDs in ~2s</a:t>
                      </a:r>
                    </a:p>
                  </a:txBody>
                  <a:tcPr marL="63500" marR="63500" marT="38100" marB="38100" anchor="ctr">
                    <a:lnL w="0">
                      <a:noFill/>
                    </a:lnL>
                    <a:lnR w="0">
                      <a:noFill/>
                    </a:lnR>
                    <a:lnT w="0">
                      <a:noFill/>
                    </a:lnT>
                    <a:lnB w="9525">
                      <a:solidFill>
                        <a:srgbClr val="DADCE0"/>
                      </a:solidFill>
                    </a:lnB>
                    <a:solidFill>
                      <a:srgbClr val="FFFFFF"/>
                    </a:solidFill>
                  </a:tcPr>
                </a:tc>
              </a:tr>
              <a:tr h="355600">
                <a:tc>
                  <a:txBody>
                    <a:bodyPr wrap="square"/>
                    <a:lstStyle/>
                    <a:p>
                      <a:pPr algn="l"/>
                      <a:r>
                        <a:rPr lang="en-US" sz="950" b="1" dirty="0">
                          <a:solidFill>
                            <a:srgbClr val="202124"/>
                          </a:solidFill>
                          <a:latin typeface="Roboto"/>
                          <a:ea typeface="Roboto"/>
                          <a:cs typeface="Roboto"/>
                        </a:rPr>
                        <a:t>Research Specialist AI</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b="1" dirty="0">
                          <a:solidFill>
                            <a:srgbClr val="174EA6"/>
                          </a:solidFill>
                          <a:latin typeface="Roboto"/>
                          <a:ea typeface="Roboto"/>
                          <a:cs typeface="Roboto"/>
                        </a:rPr>
                        <a:t>Senior Policy Librarian</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dirty="0">
                          <a:solidFill>
                            <a:srgbClr val="5F6368"/>
                          </a:solidFill>
                          <a:latin typeface="Roboto"/>
                          <a:ea typeface="Roboto"/>
                          <a:cs typeface="Roboto"/>
                        </a:rPr>
                        <a:t>Looks up official answers &amp; live order status</a:t>
                      </a:r>
                    </a:p>
                  </a:txBody>
                  <a:tcPr marL="63500" marR="63500" marT="38100" marB="38100" anchor="ctr">
                    <a:lnL w="0">
                      <a:noFill/>
                    </a:lnL>
                    <a:lnR w="0">
                      <a:noFill/>
                    </a:lnR>
                    <a:lnT w="0">
                      <a:noFill/>
                    </a:lnT>
                    <a:lnB w="9525">
                      <a:solidFill>
                        <a:srgbClr val="DADCE0"/>
                      </a:solidFill>
                    </a:lnB>
                    <a:solidFill>
                      <a:srgbClr val="F8F9FA"/>
                    </a:solidFill>
                  </a:tcPr>
                </a:tc>
              </a:tr>
              <a:tr h="355600">
                <a:tc>
                  <a:txBody>
                    <a:bodyPr wrap="square"/>
                    <a:lstStyle/>
                    <a:p>
                      <a:pPr algn="l"/>
                      <a:r>
                        <a:rPr lang="en-US" sz="950" b="1" dirty="0">
                          <a:solidFill>
                            <a:srgbClr val="202124"/>
                          </a:solidFill>
                          <a:latin typeface="Roboto"/>
                          <a:ea typeface="Roboto"/>
                          <a:cs typeface="Roboto"/>
                        </a:rPr>
                        <a:t>Knowledge Library</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l"/>
                      <a:r>
                        <a:rPr lang="en-US" sz="950" b="1" dirty="0">
                          <a:solidFill>
                            <a:srgbClr val="137333"/>
                          </a:solidFill>
                          <a:latin typeface="Roboto"/>
                          <a:ea typeface="Roboto"/>
                          <a:cs typeface="Roboto"/>
                        </a:rPr>
                        <a:t>100,000-Page Handbook</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l"/>
                      <a:r>
                        <a:rPr lang="en-US" sz="950" dirty="0">
                          <a:solidFill>
                            <a:srgbClr val="5F6368"/>
                          </a:solidFill>
                          <a:latin typeface="Roboto"/>
                          <a:ea typeface="Roboto"/>
                          <a:cs typeface="Roboto"/>
                        </a:rPr>
                        <a:t>Stores verified historical answers &amp; store policies</a:t>
                      </a:r>
                    </a:p>
                  </a:txBody>
                  <a:tcPr marL="63500" marR="63500" marT="38100" marB="38100" anchor="ctr">
                    <a:lnL w="0">
                      <a:noFill/>
                    </a:lnL>
                    <a:lnR w="0">
                      <a:noFill/>
                    </a:lnR>
                    <a:lnT w="0">
                      <a:noFill/>
                    </a:lnT>
                    <a:lnB w="9525">
                      <a:solidFill>
                        <a:srgbClr val="DADCE0"/>
                      </a:solidFill>
                    </a:lnB>
                    <a:solidFill>
                      <a:srgbClr val="FFFFFF"/>
                    </a:solidFill>
                  </a:tcPr>
                </a:tc>
              </a:tr>
              <a:tr h="355600">
                <a:tc>
                  <a:txBody>
                    <a:bodyPr wrap="square"/>
                    <a:lstStyle/>
                    <a:p>
                      <a:pPr algn="l"/>
                      <a:r>
                        <a:rPr lang="en-US" sz="950" b="1" dirty="0">
                          <a:solidFill>
                            <a:srgbClr val="202124"/>
                          </a:solidFill>
                          <a:latin typeface="Roboto"/>
                          <a:ea typeface="Roboto"/>
                          <a:cs typeface="Roboto"/>
                        </a:rPr>
                        <a:t>Ticket Filing Cabinet</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b="1" dirty="0">
                          <a:solidFill>
                            <a:srgbClr val="202124"/>
                          </a:solidFill>
                          <a:latin typeface="Roboto"/>
                          <a:ea typeface="Roboto"/>
                          <a:cs typeface="Roboto"/>
                        </a:rPr>
                        <a:t>Locked Customer Vault</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dirty="0">
                          <a:solidFill>
                            <a:srgbClr val="5F6368"/>
                          </a:solidFill>
                          <a:latin typeface="Roboto"/>
                          <a:ea typeface="Roboto"/>
                          <a:cs typeface="Roboto"/>
                        </a:rPr>
                        <a:t>Saves conversation history so context is never lost</a:t>
                      </a:r>
                    </a:p>
                  </a:txBody>
                  <a:tcPr marL="63500" marR="63500" marT="38100" marB="38100" anchor="ctr">
                    <a:lnL w="0">
                      <a:noFill/>
                    </a:lnL>
                    <a:lnR w="0">
                      <a:noFill/>
                    </a:lnR>
                    <a:lnT w="0">
                      <a:noFill/>
                    </a:lnT>
                    <a:lnB w="9525">
                      <a:solidFill>
                        <a:srgbClr val="DADCE0"/>
                      </a:solidFill>
                    </a:lnB>
                    <a:solidFill>
                      <a:srgbClr val="F8F9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2"/>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Shape 3"/>
          <p:cNvSpPr/>
          <p:nvPr/>
        </p:nvSpPr>
        <p:spPr>
          <a:xfrm>
            <a:off x="457200" y="279400"/>
            <a:ext cx="114300" cy="38100"/>
          </a:xfrm>
          <a:prstGeom prst="roundRect">
            <a:avLst>
              <a:gd name="adj" fmla="val 50000"/>
            </a:avLst>
          </a:prstGeom>
          <a:solidFill>
            <a:srgbClr val="1A73E8"/>
          </a:solidFill>
          <a:ln>
            <a:noFill/>
          </a:ln>
          <a:effectLst/>
        </p:spPr>
        <p:txBody>
          <a:bodyPr rtlCol="0" anchor="ctr"/>
          <a:lstStyle/>
          <a:p>
            <a:pPr algn="ctr"/>
          </a:p>
        </p:txBody>
      </p:sp>
      <p:sp>
        <p:nvSpPr>
          <p:cNvPr id="4" name="Shape 4"/>
          <p:cNvSpPr/>
          <p:nvPr/>
        </p:nvSpPr>
        <p:spPr>
          <a:xfrm>
            <a:off x="596900" y="279400"/>
            <a:ext cx="114300" cy="38100"/>
          </a:xfrm>
          <a:prstGeom prst="roundRect">
            <a:avLst>
              <a:gd name="adj" fmla="val 50000"/>
            </a:avLst>
          </a:prstGeom>
          <a:solidFill>
            <a:srgbClr val="EA4335"/>
          </a:solidFill>
          <a:ln>
            <a:noFill/>
          </a:ln>
          <a:effectLst/>
        </p:spPr>
        <p:txBody>
          <a:bodyPr rtlCol="0" anchor="ctr"/>
          <a:lstStyle/>
          <a:p>
            <a:pPr algn="ctr"/>
          </a:p>
        </p:txBody>
      </p:sp>
      <p:sp>
        <p:nvSpPr>
          <p:cNvPr id="5" name="Shape 5"/>
          <p:cNvSpPr/>
          <p:nvPr/>
        </p:nvSpPr>
        <p:spPr>
          <a:xfrm>
            <a:off x="736600" y="279400"/>
            <a:ext cx="114300" cy="38100"/>
          </a:xfrm>
          <a:prstGeom prst="roundRect">
            <a:avLst>
              <a:gd name="adj" fmla="val 50000"/>
            </a:avLst>
          </a:prstGeom>
          <a:solidFill>
            <a:srgbClr val="FBBC04"/>
          </a:solidFill>
          <a:ln>
            <a:noFill/>
          </a:ln>
          <a:effectLst/>
        </p:spPr>
        <p:txBody>
          <a:bodyPr rtlCol="0" anchor="ctr"/>
          <a:lstStyle/>
          <a:p>
            <a:pPr algn="ctr"/>
          </a:p>
        </p:txBody>
      </p:sp>
      <p:sp>
        <p:nvSpPr>
          <p:cNvPr id="6" name="Shape 6"/>
          <p:cNvSpPr/>
          <p:nvPr/>
        </p:nvSpPr>
        <p:spPr>
          <a:xfrm>
            <a:off x="876300" y="279400"/>
            <a:ext cx="114300" cy="38100"/>
          </a:xfrm>
          <a:prstGeom prst="roundRect">
            <a:avLst>
              <a:gd name="adj" fmla="val 50000"/>
            </a:avLst>
          </a:prstGeom>
          <a:solidFill>
            <a:srgbClr val="34A853"/>
          </a:solidFill>
          <a:ln>
            <a:noFill/>
          </a:ln>
          <a:effectLst/>
        </p:spPr>
        <p:txBody>
          <a:bodyPr rtlCol="0" anchor="ctr"/>
          <a:lstStyle/>
          <a:p>
            <a:pPr algn="ctr"/>
          </a:p>
        </p:txBody>
      </p:sp>
      <p:sp>
        <p:nvSpPr>
          <p:cNvPr id="7" name="TextBox 7"/>
          <p:cNvSpPr txBox="1"/>
          <p:nvPr/>
        </p:nvSpPr>
        <p:spPr>
          <a:xfrm>
            <a:off x="1066800" y="241300"/>
            <a:ext cx="7620000" cy="152400"/>
          </a:xfrm>
          <a:prstGeom prst="rect">
            <a:avLst/>
          </a:prstGeom>
          <a:noFill/>
        </p:spPr>
        <p:txBody>
          <a:bodyPr wrap="square" anchor="t" lIns="0" rIns="0" tIns="0" bIns="0"/>
          <a:lstStyle/>
          <a:p>
            <a:pPr algn="l">
              <a:lnSpc>
                <a:spcPct val="120000"/>
              </a:lnSpc>
            </a:pPr>
            <a:r>
              <a:rPr lang="en-US" sz="950" b="1" dirty="0">
                <a:solidFill>
                  <a:srgbClr val="1A73E8"/>
                </a:solidFill>
                <a:latin typeface="Roboto"/>
                <a:ea typeface="Roboto"/>
                <a:cs typeface="Roboto"/>
              </a:rPr>
              <a:t>04 / SAFETY, RELIABILITY &amp; QUALITY SCORECARD</a:t>
            </a:r>
          </a:p>
        </p:txBody>
      </p:sp>
      <p:sp>
        <p:nvSpPr>
          <p:cNvPr id="8" name="TextBox 8"/>
          <p:cNvSpPr txBox="1"/>
          <p:nvPr/>
        </p:nvSpPr>
        <p:spPr>
          <a:xfrm>
            <a:off x="10477500" y="241300"/>
            <a:ext cx="1257300" cy="152400"/>
          </a:xfrm>
          <a:prstGeom prst="rect">
            <a:avLst/>
          </a:prstGeom>
          <a:noFill/>
        </p:spPr>
        <p:txBody>
          <a:bodyPr wrap="square" anchor="t" lIns="0" rIns="0" tIns="0" bIns="0"/>
          <a:lstStyle/>
          <a:p>
            <a:pPr algn="r">
              <a:lnSpc>
                <a:spcPct val="120000"/>
              </a:lnSpc>
            </a:pPr>
            <a:r>
              <a:rPr lang="en-US" sz="950" b="1" dirty="0">
                <a:solidFill>
                  <a:srgbClr val="80868B"/>
                </a:solidFill>
                <a:latin typeface="Roboto"/>
                <a:ea typeface="Roboto"/>
                <a:cs typeface="Roboto"/>
              </a:rPr>
              <a:t>SLIDE 04 / 07</a:t>
            </a:r>
          </a:p>
        </p:txBody>
      </p:sp>
      <p:sp>
        <p:nvSpPr>
          <p:cNvPr id="9" name="TextBox 9"/>
          <p:cNvSpPr txBox="1"/>
          <p:nvPr/>
        </p:nvSpPr>
        <p:spPr>
          <a:xfrm>
            <a:off x="457200" y="431800"/>
            <a:ext cx="11277600" cy="292100"/>
          </a:xfrm>
          <a:prstGeom prst="rect">
            <a:avLst/>
          </a:prstGeom>
          <a:noFill/>
        </p:spPr>
        <p:txBody>
          <a:bodyPr wrap="square" anchor="t" lIns="0" rIns="0" tIns="0" bIns="0"/>
          <a:lstStyle/>
          <a:p>
            <a:pPr algn="l">
              <a:lnSpc>
                <a:spcPct val="120000"/>
              </a:lnSpc>
            </a:pPr>
            <a:r>
              <a:rPr lang="en-US" sz="2400" b="1" dirty="0">
                <a:solidFill>
                  <a:srgbClr val="202124"/>
                </a:solidFill>
                <a:latin typeface="Roboto"/>
                <a:ea typeface="Roboto"/>
                <a:cs typeface="Roboto"/>
              </a:rPr>
              <a:t>Built for Holiday Traffic Spikes, Strict Privacy &amp; Zero Guessing</a:t>
            </a:r>
          </a:p>
        </p:txBody>
      </p:sp>
      <p:sp>
        <p:nvSpPr>
          <p:cNvPr id="10" name="TextBox 10"/>
          <p:cNvSpPr txBox="1"/>
          <p:nvPr/>
        </p:nvSpPr>
        <p:spPr>
          <a:xfrm>
            <a:off x="457200" y="736600"/>
            <a:ext cx="11277600" cy="190500"/>
          </a:xfrm>
          <a:prstGeom prst="rect">
            <a:avLst/>
          </a:prstGeom>
          <a:noFill/>
        </p:spPr>
        <p:txBody>
          <a:bodyPr wrap="square" anchor="t" lIns="0" rIns="0" tIns="0" bIns="0"/>
          <a:lstStyle/>
          <a:p>
            <a:pPr algn="l">
              <a:lnSpc>
                <a:spcPct val="120000"/>
              </a:lnSpc>
            </a:pPr>
            <a:r>
              <a:rPr lang="en-US" sz="1200" dirty="0">
                <a:solidFill>
                  <a:srgbClr val="5F6368"/>
                </a:solidFill>
                <a:latin typeface="Roboto"/>
                <a:ea typeface="Roboto"/>
                <a:cs typeface="Roboto"/>
              </a:rPr>
              <a:t>Three non-negotiable safety guardrails paired with a 100-ticket 'Final Exam' that exceeded every project goal.</a:t>
            </a:r>
          </a:p>
        </p:txBody>
      </p:sp>
      <p:sp>
        <p:nvSpPr>
          <p:cNvPr id="11" name="Shape 11"/>
          <p:cNvSpPr/>
          <p:nvPr/>
        </p:nvSpPr>
        <p:spPr>
          <a:xfrm>
            <a:off x="457200" y="6515100"/>
            <a:ext cx="11277600" cy="6350"/>
          </a:xfrm>
          <a:prstGeom prst="rect">
            <a:avLst/>
          </a:prstGeom>
          <a:solidFill>
            <a:srgbClr val="DADCE0"/>
          </a:solidFill>
          <a:ln>
            <a:noFill/>
          </a:ln>
          <a:effectLst/>
        </p:spPr>
        <p:txBody>
          <a:bodyPr rtlCol="0" anchor="ctr"/>
          <a:lstStyle/>
          <a:p>
            <a:pPr algn="ctr"/>
          </a:p>
        </p:txBody>
      </p:sp>
      <p:sp>
        <p:nvSpPr>
          <p:cNvPr id="12" name="TextBox 12"/>
          <p:cNvSpPr txBox="1"/>
          <p:nvPr/>
        </p:nvSpPr>
        <p:spPr>
          <a:xfrm>
            <a:off x="457200" y="6565900"/>
            <a:ext cx="8572500" cy="152400"/>
          </a:xfrm>
          <a:prstGeom prst="rect">
            <a:avLst/>
          </a:prstGeom>
          <a:noFill/>
        </p:spPr>
        <p:txBody>
          <a:bodyPr wrap="square" anchor="t" lIns="0" rIns="0" tIns="0" bIns="0"/>
          <a:lstStyle/>
          <a:p>
            <a:pPr algn="l">
              <a:lnSpc>
                <a:spcPct val="120000"/>
              </a:lnSpc>
            </a:pPr>
            <a:r>
              <a:rPr lang="en-US" sz="850" dirty="0">
                <a:solidFill>
                  <a:srgbClr val="80868B"/>
                </a:solidFill>
                <a:latin typeface="Roboto"/>
                <a:ea typeface="Roboto"/>
                <a:cs typeface="Roboto"/>
              </a:rPr>
              <a:t>Timing: ~1 min 30 sec  ·  Focus: Enterprise reliability ('non-functional requirements') and verified test results</a:t>
            </a:r>
          </a:p>
        </p:txBody>
      </p:sp>
      <p:sp>
        <p:nvSpPr>
          <p:cNvPr id="13" name="TextBox 13"/>
          <p:cNvSpPr txBox="1"/>
          <p:nvPr/>
        </p:nvSpPr>
        <p:spPr>
          <a:xfrm>
            <a:off x="9017000" y="6565900"/>
            <a:ext cx="2717800" cy="152400"/>
          </a:xfrm>
          <a:prstGeom prst="rect">
            <a:avLst/>
          </a:prstGeom>
          <a:noFill/>
        </p:spPr>
        <p:txBody>
          <a:bodyPr wrap="square" anchor="t" lIns="0" rIns="0" tIns="0" bIns="0"/>
          <a:lstStyle/>
          <a:p>
            <a:pPr algn="r">
              <a:lnSpc>
                <a:spcPct val="120000"/>
              </a:lnSpc>
            </a:pPr>
            <a:r>
              <a:rPr lang="en-US" sz="850" dirty="0">
                <a:solidFill>
                  <a:srgbClr val="80868B"/>
                </a:solidFill>
                <a:latin typeface="Roboto"/>
                <a:ea typeface="Roboto"/>
                <a:cs typeface="Roboto"/>
              </a:rPr>
              <a:t>Global Retail Hub · Customer Build Readout</a:t>
            </a:r>
          </a:p>
        </p:txBody>
      </p:sp>
      <p:sp>
        <p:nvSpPr>
          <p:cNvPr id="14" name="TextBox 14"/>
          <p:cNvSpPr txBox="1"/>
          <p:nvPr/>
        </p:nvSpPr>
        <p:spPr>
          <a:xfrm>
            <a:off x="457200" y="1028700"/>
            <a:ext cx="5397500" cy="165100"/>
          </a:xfrm>
          <a:prstGeom prst="rect">
            <a:avLst/>
          </a:prstGeom>
          <a:noFill/>
        </p:spPr>
        <p:txBody>
          <a:bodyPr wrap="square" anchor="t" lIns="0" rIns="0" tIns="0" bIns="0"/>
          <a:lstStyle/>
          <a:p>
            <a:pPr algn="l">
              <a:lnSpc>
                <a:spcPct val="120000"/>
              </a:lnSpc>
            </a:pPr>
            <a:r>
              <a:rPr lang="en-US" sz="1050" b="1" dirty="0">
                <a:solidFill>
                  <a:srgbClr val="5F6368"/>
                </a:solidFill>
                <a:latin typeface="Roboto"/>
                <a:ea typeface="Roboto"/>
                <a:cs typeface="Roboto"/>
              </a:rPr>
              <a:t>THREE BUILT-IN ENTERPRISE SAFETY GUARANTEES</a:t>
            </a:r>
          </a:p>
        </p:txBody>
      </p:sp>
      <p:sp>
        <p:nvSpPr>
          <p:cNvPr id="15" name="Shape 15"/>
          <p:cNvSpPr/>
          <p:nvPr/>
        </p:nvSpPr>
        <p:spPr>
          <a:xfrm>
            <a:off x="457200" y="1244600"/>
            <a:ext cx="5397500" cy="16002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16" name="Shape 16"/>
          <p:cNvSpPr/>
          <p:nvPr/>
        </p:nvSpPr>
        <p:spPr>
          <a:xfrm>
            <a:off x="457200" y="1244600"/>
            <a:ext cx="38100" cy="1600200"/>
          </a:xfrm>
          <a:prstGeom prst="rect">
            <a:avLst/>
          </a:prstGeom>
          <a:solidFill>
            <a:srgbClr val="1A73E8"/>
          </a:solidFill>
          <a:ln>
            <a:noFill/>
          </a:ln>
          <a:effectLst/>
        </p:spPr>
        <p:txBody>
          <a:bodyPr rtlCol="0" anchor="ctr"/>
          <a:lstStyle/>
          <a:p>
            <a:pPr algn="ctr"/>
          </a:p>
        </p:txBody>
      </p:sp>
      <p:sp>
        <p:nvSpPr>
          <p:cNvPr id="17" name="Shape 17"/>
          <p:cNvSpPr/>
          <p:nvPr/>
        </p:nvSpPr>
        <p:spPr>
          <a:xfrm>
            <a:off x="609600" y="1358900"/>
            <a:ext cx="1111250" cy="152400"/>
          </a:xfrm>
          <a:prstGeom prst="roundRect">
            <a:avLst>
              <a:gd name="adj" fmla="val 50000"/>
            </a:avLst>
          </a:prstGeom>
          <a:solidFill>
            <a:srgbClr val="E8F0FE"/>
          </a:solidFill>
          <a:ln>
            <a:noFill/>
          </a:ln>
          <a:effectLst/>
        </p:spPr>
        <p:txBody>
          <a:bodyPr rtlCol="0" anchor="ctr"/>
          <a:lstStyle/>
          <a:p>
            <a:pPr algn="ctr"/>
          </a:p>
        </p:txBody>
      </p:sp>
      <p:sp>
        <p:nvSpPr>
          <p:cNvPr id="18" name="TextBox 18"/>
          <p:cNvSpPr txBox="1"/>
          <p:nvPr/>
        </p:nvSpPr>
        <p:spPr>
          <a:xfrm>
            <a:off x="609600" y="1358900"/>
            <a:ext cx="1111250" cy="152400"/>
          </a:xfrm>
          <a:prstGeom prst="rect">
            <a:avLst/>
          </a:prstGeom>
          <a:noFill/>
        </p:spPr>
        <p:txBody>
          <a:bodyPr wrap="square" anchor="ctr" lIns="0" rIns="0" tIns="0" bIns="0"/>
          <a:lstStyle/>
          <a:p>
            <a:pPr algn="ctr">
              <a:lnSpc>
                <a:spcPct val="120000"/>
              </a:lnSpc>
            </a:pPr>
            <a:r>
              <a:rPr lang="en-US" sz="800" b="1" dirty="0">
                <a:solidFill>
                  <a:srgbClr val="1A73E8"/>
                </a:solidFill>
                <a:latin typeface="Roboto"/>
                <a:ea typeface="Roboto"/>
                <a:cs typeface="Roboto"/>
              </a:rPr>
              <a:t>ZERO DATA LEAKS</a:t>
            </a:r>
          </a:p>
        </p:txBody>
      </p:sp>
      <p:sp>
        <p:nvSpPr>
          <p:cNvPr id="19" name="TextBox 19"/>
          <p:cNvSpPr txBox="1"/>
          <p:nvPr/>
        </p:nvSpPr>
        <p:spPr>
          <a:xfrm>
            <a:off x="609600" y="1562100"/>
            <a:ext cx="5092700" cy="190500"/>
          </a:xfrm>
          <a:prstGeom prst="rect">
            <a:avLst/>
          </a:prstGeom>
          <a:noFill/>
        </p:spPr>
        <p:txBody>
          <a:bodyPr wrap="square" anchor="t" lIns="0" rIns="0" tIns="0" bIns="0"/>
          <a:lstStyle/>
          <a:p>
            <a:pPr algn="l">
              <a:lnSpc>
                <a:spcPct val="120000"/>
              </a:lnSpc>
            </a:pPr>
            <a:r>
              <a:rPr lang="en-US" sz="1400" b="1" dirty="0">
                <a:solidFill>
                  <a:srgbClr val="202124"/>
                </a:solidFill>
                <a:latin typeface="Roboto"/>
                <a:ea typeface="Roboto"/>
                <a:cs typeface="Roboto"/>
              </a:rPr>
              <a:t>1. Private by Default (Strict Customer Isolation)</a:t>
            </a:r>
          </a:p>
        </p:txBody>
      </p:sp>
      <p:sp>
        <p:nvSpPr>
          <p:cNvPr id="20" name="TextBox 20"/>
          <p:cNvSpPr txBox="1"/>
          <p:nvPr/>
        </p:nvSpPr>
        <p:spPr>
          <a:xfrm>
            <a:off x="609600" y="1790700"/>
            <a:ext cx="5092700" cy="939800"/>
          </a:xfrm>
          <a:prstGeom prst="rect">
            <a:avLst/>
          </a:prstGeom>
          <a:noFill/>
        </p:spPr>
        <p:txBody>
          <a:bodyPr wrap="square" anchor="t" lIns="0" rIns="0" tIns="0" bIns="0"/>
          <a:lstStyle/>
          <a:p>
            <a:pPr algn="l">
              <a:lnSpc>
                <a:spcPct val="120000"/>
              </a:lnSpc>
            </a:pPr>
            <a:r>
              <a:rPr lang="en-US" sz="1050" dirty="0">
                <a:solidFill>
                  <a:srgbClr val="5F6368"/>
                </a:solidFill>
                <a:latin typeface="Roboto"/>
                <a:ea typeface="Roboto"/>
                <a:cs typeface="Roboto"/>
              </a:rPr>
              <a:t>Every customer is locked to their own account—they can never view or close another shopper's ticket. Credit card numbers, Social Security numbers, and emails are masked as [REDACTED] before reaching the AI or database.</a:t>
            </a:r>
          </a:p>
        </p:txBody>
      </p:sp>
      <p:sp>
        <p:nvSpPr>
          <p:cNvPr id="21" name="Shape 21"/>
          <p:cNvSpPr/>
          <p:nvPr/>
        </p:nvSpPr>
        <p:spPr>
          <a:xfrm>
            <a:off x="457200" y="2959100"/>
            <a:ext cx="5397500" cy="16002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22" name="Shape 22"/>
          <p:cNvSpPr/>
          <p:nvPr/>
        </p:nvSpPr>
        <p:spPr>
          <a:xfrm>
            <a:off x="457200" y="2959100"/>
            <a:ext cx="38100" cy="1600200"/>
          </a:xfrm>
          <a:prstGeom prst="rect">
            <a:avLst/>
          </a:prstGeom>
          <a:solidFill>
            <a:srgbClr val="B06000"/>
          </a:solidFill>
          <a:ln>
            <a:noFill/>
          </a:ln>
          <a:effectLst/>
        </p:spPr>
        <p:txBody>
          <a:bodyPr rtlCol="0" anchor="ctr"/>
          <a:lstStyle/>
          <a:p>
            <a:pPr algn="ctr"/>
          </a:p>
        </p:txBody>
      </p:sp>
      <p:sp>
        <p:nvSpPr>
          <p:cNvPr id="23" name="Shape 23"/>
          <p:cNvSpPr/>
          <p:nvPr/>
        </p:nvSpPr>
        <p:spPr>
          <a:xfrm>
            <a:off x="609600" y="3073400"/>
            <a:ext cx="1111250" cy="152400"/>
          </a:xfrm>
          <a:prstGeom prst="roundRect">
            <a:avLst>
              <a:gd name="adj" fmla="val 50000"/>
            </a:avLst>
          </a:prstGeom>
          <a:solidFill>
            <a:srgbClr val="FEF7E0"/>
          </a:solidFill>
          <a:ln>
            <a:noFill/>
          </a:ln>
          <a:effectLst/>
        </p:spPr>
        <p:txBody>
          <a:bodyPr rtlCol="0" anchor="ctr"/>
          <a:lstStyle/>
          <a:p>
            <a:pPr algn="ctr"/>
          </a:p>
        </p:txBody>
      </p:sp>
      <p:sp>
        <p:nvSpPr>
          <p:cNvPr id="24" name="TextBox 24"/>
          <p:cNvSpPr txBox="1"/>
          <p:nvPr/>
        </p:nvSpPr>
        <p:spPr>
          <a:xfrm>
            <a:off x="609600" y="3073400"/>
            <a:ext cx="1111250" cy="152400"/>
          </a:xfrm>
          <a:prstGeom prst="rect">
            <a:avLst/>
          </a:prstGeom>
          <a:noFill/>
        </p:spPr>
        <p:txBody>
          <a:bodyPr wrap="square" anchor="ctr" lIns="0" rIns="0" tIns="0" bIns="0"/>
          <a:lstStyle/>
          <a:p>
            <a:pPr algn="ctr">
              <a:lnSpc>
                <a:spcPct val="120000"/>
              </a:lnSpc>
            </a:pPr>
            <a:r>
              <a:rPr lang="en-US" sz="800" b="1" dirty="0">
                <a:solidFill>
                  <a:srgbClr val="B06000"/>
                </a:solidFill>
                <a:latin typeface="Roboto"/>
                <a:ea typeface="Roboto"/>
                <a:cs typeface="Roboto"/>
              </a:rPr>
              <a:t>&lt; 0.01 SEC FAILOVER</a:t>
            </a:r>
          </a:p>
        </p:txBody>
      </p:sp>
      <p:sp>
        <p:nvSpPr>
          <p:cNvPr id="25" name="TextBox 25"/>
          <p:cNvSpPr txBox="1"/>
          <p:nvPr/>
        </p:nvSpPr>
        <p:spPr>
          <a:xfrm>
            <a:off x="609600" y="3276600"/>
            <a:ext cx="5092700" cy="190500"/>
          </a:xfrm>
          <a:prstGeom prst="rect">
            <a:avLst/>
          </a:prstGeom>
          <a:noFill/>
        </p:spPr>
        <p:txBody>
          <a:bodyPr wrap="square" anchor="t" lIns="0" rIns="0" tIns="0" bIns="0"/>
          <a:lstStyle/>
          <a:p>
            <a:pPr algn="l">
              <a:lnSpc>
                <a:spcPct val="120000"/>
              </a:lnSpc>
            </a:pPr>
            <a:r>
              <a:rPr lang="en-US" sz="1400" b="1" dirty="0">
                <a:solidFill>
                  <a:srgbClr val="202124"/>
                </a:solidFill>
                <a:latin typeface="Roboto"/>
                <a:ea typeface="Roboto"/>
                <a:cs typeface="Roboto"/>
              </a:rPr>
              <a:t>2. Automatic 'Safety Fuse' for Peak Traffic Spikes</a:t>
            </a:r>
          </a:p>
        </p:txBody>
      </p:sp>
      <p:sp>
        <p:nvSpPr>
          <p:cNvPr id="26" name="TextBox 26"/>
          <p:cNvSpPr txBox="1"/>
          <p:nvPr/>
        </p:nvSpPr>
        <p:spPr>
          <a:xfrm>
            <a:off x="609600" y="3505200"/>
            <a:ext cx="5092700" cy="939800"/>
          </a:xfrm>
          <a:prstGeom prst="rect">
            <a:avLst/>
          </a:prstGeom>
          <a:noFill/>
        </p:spPr>
        <p:txBody>
          <a:bodyPr wrap="square" anchor="t" lIns="0" rIns="0" tIns="0" bIns="0"/>
          <a:lstStyle/>
          <a:p>
            <a:pPr algn="l">
              <a:lnSpc>
                <a:spcPct val="120000"/>
              </a:lnSpc>
            </a:pPr>
            <a:r>
              <a:rPr lang="en-US" sz="1050" dirty="0">
                <a:solidFill>
                  <a:srgbClr val="5F6368"/>
                </a:solidFill>
                <a:latin typeface="Roboto"/>
                <a:ea typeface="Roboto"/>
                <a:cs typeface="Roboto"/>
              </a:rPr>
              <a:t>Just like a circuit breaker at home: if an AI service ever slows down or hits a limit during a major holiday sale (3 hiccups in a row), the safety fuse flips in under 0.01 seconds and routes incoming tickets straight to your human team—then auto-recovers after 30 seconds.</a:t>
            </a:r>
          </a:p>
        </p:txBody>
      </p:sp>
      <p:sp>
        <p:nvSpPr>
          <p:cNvPr id="27" name="Shape 27"/>
          <p:cNvSpPr/>
          <p:nvPr/>
        </p:nvSpPr>
        <p:spPr>
          <a:xfrm>
            <a:off x="457200" y="4673600"/>
            <a:ext cx="5397500" cy="16002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28" name="Shape 28"/>
          <p:cNvSpPr/>
          <p:nvPr/>
        </p:nvSpPr>
        <p:spPr>
          <a:xfrm>
            <a:off x="457200" y="4673600"/>
            <a:ext cx="38100" cy="1600200"/>
          </a:xfrm>
          <a:prstGeom prst="rect">
            <a:avLst/>
          </a:prstGeom>
          <a:solidFill>
            <a:srgbClr val="137333"/>
          </a:solidFill>
          <a:ln>
            <a:noFill/>
          </a:ln>
          <a:effectLst/>
        </p:spPr>
        <p:txBody>
          <a:bodyPr rtlCol="0" anchor="ctr"/>
          <a:lstStyle/>
          <a:p>
            <a:pPr algn="ctr"/>
          </a:p>
        </p:txBody>
      </p:sp>
      <p:sp>
        <p:nvSpPr>
          <p:cNvPr id="29" name="Shape 29"/>
          <p:cNvSpPr/>
          <p:nvPr/>
        </p:nvSpPr>
        <p:spPr>
          <a:xfrm>
            <a:off x="609600" y="4787900"/>
            <a:ext cx="1111250" cy="152400"/>
          </a:xfrm>
          <a:prstGeom prst="roundRect">
            <a:avLst>
              <a:gd name="adj" fmla="val 50000"/>
            </a:avLst>
          </a:prstGeom>
          <a:solidFill>
            <a:srgbClr val="E6F4EA"/>
          </a:solidFill>
          <a:ln>
            <a:noFill/>
          </a:ln>
          <a:effectLst/>
        </p:spPr>
        <p:txBody>
          <a:bodyPr rtlCol="0" anchor="ctr"/>
          <a:lstStyle/>
          <a:p>
            <a:pPr algn="ctr"/>
          </a:p>
        </p:txBody>
      </p:sp>
      <p:sp>
        <p:nvSpPr>
          <p:cNvPr id="30" name="TextBox 30"/>
          <p:cNvSpPr txBox="1"/>
          <p:nvPr/>
        </p:nvSpPr>
        <p:spPr>
          <a:xfrm>
            <a:off x="609600" y="4787900"/>
            <a:ext cx="1111250" cy="152400"/>
          </a:xfrm>
          <a:prstGeom prst="rect">
            <a:avLst/>
          </a:prstGeom>
          <a:noFill/>
        </p:spPr>
        <p:txBody>
          <a:bodyPr wrap="square" anchor="ctr" lIns="0" rIns="0" tIns="0" bIns="0"/>
          <a:lstStyle/>
          <a:p>
            <a:pPr algn="ctr">
              <a:lnSpc>
                <a:spcPct val="120000"/>
              </a:lnSpc>
            </a:pPr>
            <a:r>
              <a:rPr lang="en-US" sz="800" b="1" dirty="0">
                <a:solidFill>
                  <a:srgbClr val="137333"/>
                </a:solidFill>
                <a:latin typeface="Roboto"/>
                <a:ea typeface="Roboto"/>
                <a:cs typeface="Roboto"/>
              </a:rPr>
              <a:t>ZERO MADE-UP RULES</a:t>
            </a:r>
          </a:p>
        </p:txBody>
      </p:sp>
      <p:sp>
        <p:nvSpPr>
          <p:cNvPr id="31" name="TextBox 31"/>
          <p:cNvSpPr txBox="1"/>
          <p:nvPr/>
        </p:nvSpPr>
        <p:spPr>
          <a:xfrm>
            <a:off x="609600" y="4991100"/>
            <a:ext cx="5092700" cy="190500"/>
          </a:xfrm>
          <a:prstGeom prst="rect">
            <a:avLst/>
          </a:prstGeom>
          <a:noFill/>
        </p:spPr>
        <p:txBody>
          <a:bodyPr wrap="square" anchor="t" lIns="0" rIns="0" tIns="0" bIns="0"/>
          <a:lstStyle/>
          <a:p>
            <a:pPr algn="l">
              <a:lnSpc>
                <a:spcPct val="120000"/>
              </a:lnSpc>
            </a:pPr>
            <a:r>
              <a:rPr lang="en-US" sz="1400" b="1" dirty="0">
                <a:solidFill>
                  <a:srgbClr val="202124"/>
                </a:solidFill>
                <a:latin typeface="Roboto"/>
                <a:ea typeface="Roboto"/>
                <a:cs typeface="Roboto"/>
              </a:rPr>
              <a:t>3. Strict 'When in Doubt, Ask a Human' Rule</a:t>
            </a:r>
          </a:p>
        </p:txBody>
      </p:sp>
      <p:sp>
        <p:nvSpPr>
          <p:cNvPr id="32" name="TextBox 32"/>
          <p:cNvSpPr txBox="1"/>
          <p:nvPr/>
        </p:nvSpPr>
        <p:spPr>
          <a:xfrm>
            <a:off x="609600" y="5219700"/>
            <a:ext cx="5092700" cy="939800"/>
          </a:xfrm>
          <a:prstGeom prst="rect">
            <a:avLst/>
          </a:prstGeom>
          <a:noFill/>
        </p:spPr>
        <p:txBody>
          <a:bodyPr wrap="square" anchor="t" lIns="0" rIns="0" tIns="0" bIns="0"/>
          <a:lstStyle/>
          <a:p>
            <a:pPr algn="l">
              <a:lnSpc>
                <a:spcPct val="120000"/>
              </a:lnSpc>
            </a:pPr>
            <a:r>
              <a:rPr lang="en-US" sz="1050" dirty="0">
                <a:solidFill>
                  <a:srgbClr val="5F6368"/>
                </a:solidFill>
                <a:latin typeface="Roboto"/>
                <a:ea typeface="Roboto"/>
                <a:cs typeface="Roboto"/>
              </a:rPr>
              <a:t>The AI is strictly forbidden from guessing store policies, prices, or promises. If an answer is not found in your 100,000 official support records, it politely informs the customer and transfers the ticket to a human specialist.</a:t>
            </a:r>
          </a:p>
        </p:txBody>
      </p:sp>
      <p:sp>
        <p:nvSpPr>
          <p:cNvPr id="33" name="TextBox 33"/>
          <p:cNvSpPr txBox="1"/>
          <p:nvPr/>
        </p:nvSpPr>
        <p:spPr>
          <a:xfrm>
            <a:off x="6070600" y="1028700"/>
            <a:ext cx="5664200" cy="165100"/>
          </a:xfrm>
          <a:prstGeom prst="rect">
            <a:avLst/>
          </a:prstGeom>
          <a:noFill/>
        </p:spPr>
        <p:txBody>
          <a:bodyPr wrap="square" anchor="t" lIns="0" rIns="0" tIns="0" bIns="0"/>
          <a:lstStyle/>
          <a:p>
            <a:pPr algn="l">
              <a:lnSpc>
                <a:spcPct val="120000"/>
              </a:lnSpc>
            </a:pPr>
            <a:r>
              <a:rPr lang="en-US" sz="1050" b="1" dirty="0">
                <a:solidFill>
                  <a:srgbClr val="5F6368"/>
                </a:solidFill>
                <a:latin typeface="Roboto"/>
                <a:ea typeface="Roboto"/>
                <a:cs typeface="Roboto"/>
              </a:rPr>
              <a:t>PROVEN RESULTS ON OUR 100-TICKET 'FINAL EXAM'</a:t>
            </a:r>
          </a:p>
        </p:txBody>
      </p:sp>
      <p:sp>
        <p:nvSpPr>
          <p:cNvPr id="34" name="Shape 34"/>
          <p:cNvSpPr/>
          <p:nvPr/>
        </p:nvSpPr>
        <p:spPr>
          <a:xfrm>
            <a:off x="6070600" y="1244600"/>
            <a:ext cx="5664200" cy="50292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35" name="Shape 35"/>
          <p:cNvSpPr/>
          <p:nvPr/>
        </p:nvSpPr>
        <p:spPr>
          <a:xfrm>
            <a:off x="6070600" y="1244600"/>
            <a:ext cx="5664200" cy="38100"/>
          </a:xfrm>
          <a:prstGeom prst="rect">
            <a:avLst/>
          </a:prstGeom>
          <a:solidFill>
            <a:srgbClr val="137333"/>
          </a:solidFill>
          <a:ln>
            <a:noFill/>
          </a:ln>
          <a:effectLst/>
        </p:spPr>
        <p:txBody>
          <a:bodyPr rtlCol="0" anchor="ctr"/>
          <a:lstStyle/>
          <a:p>
            <a:pPr algn="ctr"/>
          </a:p>
        </p:txBody>
      </p:sp>
      <p:sp>
        <p:nvSpPr>
          <p:cNvPr id="36" name="Shape 36"/>
          <p:cNvSpPr/>
          <p:nvPr/>
        </p:nvSpPr>
        <p:spPr>
          <a:xfrm>
            <a:off x="6223000" y="1397000"/>
            <a:ext cx="1492250" cy="165100"/>
          </a:xfrm>
          <a:prstGeom prst="roundRect">
            <a:avLst>
              <a:gd name="adj" fmla="val 50000"/>
            </a:avLst>
          </a:prstGeom>
          <a:solidFill>
            <a:srgbClr val="E6F4EA"/>
          </a:solidFill>
          <a:ln>
            <a:noFill/>
          </a:ln>
          <a:effectLst/>
        </p:spPr>
        <p:txBody>
          <a:bodyPr rtlCol="0" anchor="ctr"/>
          <a:lstStyle/>
          <a:p>
            <a:pPr algn="ctr"/>
          </a:p>
        </p:txBody>
      </p:sp>
      <p:sp>
        <p:nvSpPr>
          <p:cNvPr id="37" name="TextBox 37"/>
          <p:cNvSpPr txBox="1"/>
          <p:nvPr/>
        </p:nvSpPr>
        <p:spPr>
          <a:xfrm>
            <a:off x="6223000" y="1397000"/>
            <a:ext cx="1492250" cy="165100"/>
          </a:xfrm>
          <a:prstGeom prst="rect">
            <a:avLst/>
          </a:prstGeom>
          <a:noFill/>
        </p:spPr>
        <p:txBody>
          <a:bodyPr wrap="square" anchor="ctr" lIns="0" rIns="0" tIns="0" bIns="0"/>
          <a:lstStyle/>
          <a:p>
            <a:pPr algn="ctr">
              <a:lnSpc>
                <a:spcPct val="120000"/>
              </a:lnSpc>
            </a:pPr>
            <a:r>
              <a:rPr lang="en-US" sz="850" b="1" dirty="0">
                <a:solidFill>
                  <a:srgbClr val="137333"/>
                </a:solidFill>
                <a:latin typeface="Roboto"/>
                <a:ea typeface="Roboto"/>
                <a:cs typeface="Roboto"/>
              </a:rPr>
              <a:t>ALL QUALITY TARGETS PASSED</a:t>
            </a:r>
          </a:p>
        </p:txBody>
      </p:sp>
      <p:sp>
        <p:nvSpPr>
          <p:cNvPr id="38" name="TextBox 38"/>
          <p:cNvSpPr txBox="1"/>
          <p:nvPr/>
        </p:nvSpPr>
        <p:spPr>
          <a:xfrm>
            <a:off x="6223000" y="1625600"/>
            <a:ext cx="5359400" cy="203200"/>
          </a:xfrm>
          <a:prstGeom prst="rect">
            <a:avLst/>
          </a:prstGeom>
          <a:noFill/>
        </p:spPr>
        <p:txBody>
          <a:bodyPr wrap="square" anchor="t" lIns="0" rIns="0" tIns="0" bIns="0"/>
          <a:lstStyle/>
          <a:p>
            <a:pPr algn="l">
              <a:lnSpc>
                <a:spcPct val="120000"/>
              </a:lnSpc>
            </a:pPr>
            <a:r>
              <a:rPr lang="en-US" sz="1550" b="1" dirty="0">
                <a:solidFill>
                  <a:srgbClr val="202124"/>
                </a:solidFill>
                <a:latin typeface="Roboto"/>
                <a:ea typeface="Roboto"/>
                <a:cs typeface="Roboto"/>
              </a:rPr>
              <a:t>Independent Evaluation Across 100 Real Support Scenarios</a:t>
            </a:r>
          </a:p>
        </p:txBody>
      </p:sp>
      <p:sp>
        <p:nvSpPr>
          <p:cNvPr id="39" name="TextBox 39"/>
          <p:cNvSpPr txBox="1"/>
          <p:nvPr/>
        </p:nvSpPr>
        <p:spPr>
          <a:xfrm>
            <a:off x="6223000" y="1841500"/>
            <a:ext cx="5359400" cy="2667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Tested across 50 routine policy &amp; order inquiries, 30 frustrated/urgent customer escalations, and 20 vague or tricky customer questions.</a:t>
            </a:r>
          </a:p>
        </p:txBody>
      </p:sp>
      <p:graphicFrame>
        <p:nvGraphicFramePr>
          <p:cNvPr id="40" name="Table 40"/>
          <p:cNvGraphicFramePr>
            <a:graphicFrameLocks noGrp="1"/>
          </p:cNvGraphicFramePr>
          <p:nvPr/>
        </p:nvGraphicFramePr>
        <p:xfrm>
          <a:off x="6223000" y="2184400"/>
          <a:ext cx="5359400" cy="2857500"/>
        </p:xfrm>
        <a:graphic>
          <a:graphicData uri="http://schemas.openxmlformats.org/drawingml/2006/table">
            <a:tbl>
              <a:tblPr>
                <a:tableStyleId>{2D5ABB26-0587-4C30-8999-92F81FD0307C}</a:tableStyleId>
              </a:tblPr>
              <a:tblGrid>
                <a:gridCol w="1460500"/>
                <a:gridCol w="698500"/>
                <a:gridCol w="793750"/>
                <a:gridCol w="2406650"/>
              </a:tblGrid>
              <a:tr h="266700">
                <a:tc>
                  <a:txBody>
                    <a:bodyPr wrap="square"/>
                    <a:lstStyle/>
                    <a:p>
                      <a:pPr algn="l"/>
                      <a:r>
                        <a:rPr lang="en-US" sz="950" b="1" dirty="0">
                          <a:solidFill>
                            <a:srgbClr val="5F6368"/>
                          </a:solidFill>
                          <a:latin typeface="Roboto"/>
                          <a:ea typeface="Roboto"/>
                          <a:cs typeface="Roboto"/>
                        </a:rPr>
                        <a:t>What We Measured</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ctr"/>
                      <a:r>
                        <a:rPr lang="en-US" sz="950" b="1" dirty="0">
                          <a:solidFill>
                            <a:srgbClr val="5F6368"/>
                          </a:solidFill>
                          <a:latin typeface="Roboto"/>
                          <a:ea typeface="Roboto"/>
                          <a:cs typeface="Roboto"/>
                        </a:rPr>
                        <a:t>Target Goal</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ctr"/>
                      <a:r>
                        <a:rPr lang="en-US" sz="950" b="1" dirty="0">
                          <a:solidFill>
                            <a:srgbClr val="5F6368"/>
                          </a:solidFill>
                          <a:latin typeface="Roboto"/>
                          <a:ea typeface="Roboto"/>
                          <a:cs typeface="Roboto"/>
                        </a:rPr>
                        <a:t>Actual Score</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b="1" dirty="0">
                          <a:solidFill>
                            <a:srgbClr val="5F6368"/>
                          </a:solidFill>
                          <a:latin typeface="Roboto"/>
                          <a:ea typeface="Roboto"/>
                          <a:cs typeface="Roboto"/>
                        </a:rPr>
                        <a:t>What It Means for Your Customers</a:t>
                      </a:r>
                    </a:p>
                  </a:txBody>
                  <a:tcPr marL="63500" marR="63500" marT="38100" marB="38100" anchor="ctr">
                    <a:lnL w="0">
                      <a:noFill/>
                    </a:lnL>
                    <a:lnR w="0">
                      <a:noFill/>
                    </a:lnR>
                    <a:lnT w="0">
                      <a:noFill/>
                    </a:lnT>
                    <a:lnB w="9525">
                      <a:solidFill>
                        <a:srgbClr val="DADCE0"/>
                      </a:solidFill>
                    </a:lnB>
                    <a:solidFill>
                      <a:srgbClr val="F8F9FA"/>
                    </a:solidFill>
                  </a:tcPr>
                </a:tc>
              </a:tr>
              <a:tr h="431800">
                <a:tc>
                  <a:txBody>
                    <a:bodyPr wrap="square"/>
                    <a:lstStyle/>
                    <a:p>
                      <a:pPr algn="l"/>
                      <a:r>
                        <a:rPr lang="en-US" sz="950" b="1" dirty="0">
                          <a:solidFill>
                            <a:srgbClr val="202124"/>
                          </a:solidFill>
                          <a:latin typeface="Roboto"/>
                          <a:ea typeface="Roboto"/>
                          <a:cs typeface="Roboto"/>
                        </a:rPr>
                        <a:t>Overall Routing Accuracy</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ctr"/>
                      <a:r>
                        <a:rPr lang="en-US" sz="950" dirty="0">
                          <a:solidFill>
                            <a:srgbClr val="5F6368"/>
                          </a:solidFill>
                          <a:latin typeface="Roboto"/>
                          <a:ea typeface="Roboto"/>
                          <a:cs typeface="Roboto"/>
                        </a:rPr>
                        <a:t>≥ 95.0%</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ctr"/>
                      <a:r>
                        <a:rPr lang="en-US" sz="950" b="1" dirty="0">
                          <a:solidFill>
                            <a:srgbClr val="137333"/>
                          </a:solidFill>
                          <a:latin typeface="Roboto"/>
                          <a:ea typeface="Roboto"/>
                          <a:cs typeface="Roboto"/>
                        </a:rPr>
                        <a:t>99.0%  ✓</a:t>
                      </a:r>
                    </a:p>
                  </a:txBody>
                  <a:tcPr marL="63500" marR="63500" marT="38100" marB="38100" anchor="ctr">
                    <a:lnL w="0">
                      <a:noFill/>
                    </a:lnL>
                    <a:lnR w="0">
                      <a:noFill/>
                    </a:lnR>
                    <a:lnT w="0">
                      <a:noFill/>
                    </a:lnT>
                    <a:lnB w="9525">
                      <a:solidFill>
                        <a:srgbClr val="DADCE0"/>
                      </a:solidFill>
                    </a:lnB>
                    <a:solidFill>
                      <a:srgbClr val="E6F4EA"/>
                    </a:solidFill>
                  </a:tcPr>
                </a:tc>
                <a:tc>
                  <a:txBody>
                    <a:bodyPr wrap="square"/>
                    <a:lstStyle/>
                    <a:p>
                      <a:pPr algn="l"/>
                      <a:r>
                        <a:rPr lang="en-US" sz="950" dirty="0">
                          <a:solidFill>
                            <a:srgbClr val="5F6368"/>
                          </a:solidFill>
                          <a:latin typeface="Roboto"/>
                          <a:ea typeface="Roboto"/>
                          <a:cs typeface="Roboto"/>
                        </a:rPr>
                        <a:t>99 of 100 tickets went to the exact right place on try #1</a:t>
                      </a:r>
                    </a:p>
                  </a:txBody>
                  <a:tcPr marL="63500" marR="63500" marT="38100" marB="38100" anchor="ctr">
                    <a:lnL w="0">
                      <a:noFill/>
                    </a:lnL>
                    <a:lnR w="0">
                      <a:noFill/>
                    </a:lnR>
                    <a:lnT w="0">
                      <a:noFill/>
                    </a:lnT>
                    <a:lnB w="9525">
                      <a:solidFill>
                        <a:srgbClr val="DADCE0"/>
                      </a:solidFill>
                    </a:lnB>
                    <a:solidFill>
                      <a:srgbClr val="FFFFFF"/>
                    </a:solidFill>
                  </a:tcPr>
                </a:tc>
              </a:tr>
              <a:tr h="431800">
                <a:tc>
                  <a:txBody>
                    <a:bodyPr wrap="square"/>
                    <a:lstStyle/>
                    <a:p>
                      <a:pPr algn="l"/>
                      <a:r>
                        <a:rPr lang="en-US" sz="950" b="1" dirty="0">
                          <a:solidFill>
                            <a:srgbClr val="202124"/>
                          </a:solidFill>
                          <a:latin typeface="Roboto"/>
                          <a:ea typeface="Roboto"/>
                          <a:cs typeface="Roboto"/>
                        </a:rPr>
                        <a:t>Catching Upset Customers</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ctr"/>
                      <a:r>
                        <a:rPr lang="en-US" sz="950" dirty="0">
                          <a:solidFill>
                            <a:srgbClr val="5F6368"/>
                          </a:solidFill>
                          <a:latin typeface="Roboto"/>
                          <a:ea typeface="Roboto"/>
                          <a:cs typeface="Roboto"/>
                        </a:rPr>
                        <a:t>≥ 95.0%</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ctr"/>
                      <a:r>
                        <a:rPr lang="en-US" sz="950" b="1" dirty="0">
                          <a:solidFill>
                            <a:srgbClr val="137333"/>
                          </a:solidFill>
                          <a:latin typeface="Roboto"/>
                          <a:ea typeface="Roboto"/>
                          <a:cs typeface="Roboto"/>
                        </a:rPr>
                        <a:t>100.0%  ✓</a:t>
                      </a:r>
                    </a:p>
                  </a:txBody>
                  <a:tcPr marL="63500" marR="63500" marT="38100" marB="38100" anchor="ctr">
                    <a:lnL w="0">
                      <a:noFill/>
                    </a:lnL>
                    <a:lnR w="0">
                      <a:noFill/>
                    </a:lnR>
                    <a:lnT w="0">
                      <a:noFill/>
                    </a:lnT>
                    <a:lnB w="9525">
                      <a:solidFill>
                        <a:srgbClr val="DADCE0"/>
                      </a:solidFill>
                    </a:lnB>
                    <a:solidFill>
                      <a:srgbClr val="E6F4EA"/>
                    </a:solidFill>
                  </a:tcPr>
                </a:tc>
                <a:tc>
                  <a:txBody>
                    <a:bodyPr wrap="square"/>
                    <a:lstStyle/>
                    <a:p>
                      <a:pPr algn="l"/>
                      <a:r>
                        <a:rPr lang="en-US" sz="950" dirty="0">
                          <a:solidFill>
                            <a:srgbClr val="5F6368"/>
                          </a:solidFill>
                          <a:latin typeface="Roboto"/>
                          <a:ea typeface="Roboto"/>
                          <a:cs typeface="Roboto"/>
                        </a:rPr>
                        <a:t>Every single frustrated shopper was fast-tracked to a human</a:t>
                      </a:r>
                    </a:p>
                  </a:txBody>
                  <a:tcPr marL="63500" marR="63500" marT="38100" marB="38100" anchor="ctr">
                    <a:lnL w="0">
                      <a:noFill/>
                    </a:lnL>
                    <a:lnR w="0">
                      <a:noFill/>
                    </a:lnR>
                    <a:lnT w="0">
                      <a:noFill/>
                    </a:lnT>
                    <a:lnB w="9525">
                      <a:solidFill>
                        <a:srgbClr val="DADCE0"/>
                      </a:solidFill>
                    </a:lnB>
                    <a:solidFill>
                      <a:srgbClr val="F8F9FA"/>
                    </a:solidFill>
                  </a:tcPr>
                </a:tc>
              </a:tr>
              <a:tr h="431800">
                <a:tc>
                  <a:txBody>
                    <a:bodyPr wrap="square"/>
                    <a:lstStyle/>
                    <a:p>
                      <a:pPr algn="l"/>
                      <a:r>
                        <a:rPr lang="en-US" sz="950" b="1" dirty="0">
                          <a:solidFill>
                            <a:srgbClr val="202124"/>
                          </a:solidFill>
                          <a:latin typeface="Roboto"/>
                          <a:ea typeface="Roboto"/>
                          <a:cs typeface="Roboto"/>
                        </a:rPr>
                        <a:t>Factual Accuracy (No Guessing)</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ctr"/>
                      <a:r>
                        <a:rPr lang="en-US" sz="950" dirty="0">
                          <a:solidFill>
                            <a:srgbClr val="5F6368"/>
                          </a:solidFill>
                          <a:latin typeface="Roboto"/>
                          <a:ea typeface="Roboto"/>
                          <a:cs typeface="Roboto"/>
                        </a:rPr>
                        <a:t>≥ 90.0%</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ctr"/>
                      <a:r>
                        <a:rPr lang="en-US" sz="950" b="1" dirty="0">
                          <a:solidFill>
                            <a:srgbClr val="137333"/>
                          </a:solidFill>
                          <a:latin typeface="Roboto"/>
                          <a:ea typeface="Roboto"/>
                          <a:cs typeface="Roboto"/>
                        </a:rPr>
                        <a:t>99.4%  ✓</a:t>
                      </a:r>
                    </a:p>
                  </a:txBody>
                  <a:tcPr marL="63500" marR="63500" marT="38100" marB="38100" anchor="ctr">
                    <a:lnL w="0">
                      <a:noFill/>
                    </a:lnL>
                    <a:lnR w="0">
                      <a:noFill/>
                    </a:lnR>
                    <a:lnT w="0">
                      <a:noFill/>
                    </a:lnT>
                    <a:lnB w="9525">
                      <a:solidFill>
                        <a:srgbClr val="DADCE0"/>
                      </a:solidFill>
                    </a:lnB>
                    <a:solidFill>
                      <a:srgbClr val="E6F4EA"/>
                    </a:solidFill>
                  </a:tcPr>
                </a:tc>
                <a:tc>
                  <a:txBody>
                    <a:bodyPr wrap="square"/>
                    <a:lstStyle/>
                    <a:p>
                      <a:pPr algn="l"/>
                      <a:r>
                        <a:rPr lang="en-US" sz="950" dirty="0">
                          <a:solidFill>
                            <a:srgbClr val="5F6368"/>
                          </a:solidFill>
                          <a:latin typeface="Roboto"/>
                          <a:ea typeface="Roboto"/>
                          <a:cs typeface="Roboto"/>
                        </a:rPr>
                        <a:t>Stuck strictly to official policy without inventing rules</a:t>
                      </a:r>
                    </a:p>
                  </a:txBody>
                  <a:tcPr marL="63500" marR="63500" marT="38100" marB="38100" anchor="ctr">
                    <a:lnL w="0">
                      <a:noFill/>
                    </a:lnL>
                    <a:lnR w="0">
                      <a:noFill/>
                    </a:lnR>
                    <a:lnT w="0">
                      <a:noFill/>
                    </a:lnT>
                    <a:lnB w="9525">
                      <a:solidFill>
                        <a:srgbClr val="DADCE0"/>
                      </a:solidFill>
                    </a:lnB>
                    <a:solidFill>
                      <a:srgbClr val="FFFFFF"/>
                    </a:solidFill>
                  </a:tcPr>
                </a:tc>
              </a:tr>
              <a:tr h="431800">
                <a:tc>
                  <a:txBody>
                    <a:bodyPr wrap="square"/>
                    <a:lstStyle/>
                    <a:p>
                      <a:pPr algn="l"/>
                      <a:r>
                        <a:rPr lang="en-US" sz="950" b="1" dirty="0">
                          <a:solidFill>
                            <a:srgbClr val="202124"/>
                          </a:solidFill>
                          <a:latin typeface="Roboto"/>
                          <a:ea typeface="Roboto"/>
                          <a:cs typeface="Roboto"/>
                        </a:rPr>
                        <a:t>Completeness of Answers</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ctr"/>
                      <a:r>
                        <a:rPr lang="en-US" sz="950" dirty="0">
                          <a:solidFill>
                            <a:srgbClr val="5F6368"/>
                          </a:solidFill>
                          <a:latin typeface="Roboto"/>
                          <a:ea typeface="Roboto"/>
                          <a:cs typeface="Roboto"/>
                        </a:rPr>
                        <a:t>≥ 85.0%</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ctr"/>
                      <a:r>
                        <a:rPr lang="en-US" sz="950" b="1" dirty="0">
                          <a:solidFill>
                            <a:srgbClr val="137333"/>
                          </a:solidFill>
                          <a:latin typeface="Roboto"/>
                          <a:ea typeface="Roboto"/>
                          <a:cs typeface="Roboto"/>
                        </a:rPr>
                        <a:t>88.7%  ✓</a:t>
                      </a:r>
                    </a:p>
                  </a:txBody>
                  <a:tcPr marL="63500" marR="63500" marT="38100" marB="38100" anchor="ctr">
                    <a:lnL w="0">
                      <a:noFill/>
                    </a:lnL>
                    <a:lnR w="0">
                      <a:noFill/>
                    </a:lnR>
                    <a:lnT w="0">
                      <a:noFill/>
                    </a:lnT>
                    <a:lnB w="9525">
                      <a:solidFill>
                        <a:srgbClr val="DADCE0"/>
                      </a:solidFill>
                    </a:lnB>
                    <a:solidFill>
                      <a:srgbClr val="E6F4EA"/>
                    </a:solidFill>
                  </a:tcPr>
                </a:tc>
                <a:tc>
                  <a:txBody>
                    <a:bodyPr wrap="square"/>
                    <a:lstStyle/>
                    <a:p>
                      <a:pPr algn="l"/>
                      <a:r>
                        <a:rPr lang="en-US" sz="950" dirty="0">
                          <a:solidFill>
                            <a:srgbClr val="5F6368"/>
                          </a:solidFill>
                          <a:latin typeface="Roboto"/>
                          <a:ea typeface="Roboto"/>
                          <a:cs typeface="Roboto"/>
                        </a:rPr>
                        <a:t>Included all required return windows, steps &amp; conditions</a:t>
                      </a:r>
                    </a:p>
                  </a:txBody>
                  <a:tcPr marL="63500" marR="63500" marT="38100" marB="38100" anchor="ctr">
                    <a:lnL w="0">
                      <a:noFill/>
                    </a:lnL>
                    <a:lnR w="0">
                      <a:noFill/>
                    </a:lnR>
                    <a:lnT w="0">
                      <a:noFill/>
                    </a:lnT>
                    <a:lnB w="9525">
                      <a:solidFill>
                        <a:srgbClr val="DADCE0"/>
                      </a:solidFill>
                    </a:lnB>
                    <a:solidFill>
                      <a:srgbClr val="F8F9FA"/>
                    </a:solidFill>
                  </a:tcPr>
                </a:tc>
              </a:tr>
              <a:tr h="431800">
                <a:tc>
                  <a:txBody>
                    <a:bodyPr wrap="square"/>
                    <a:lstStyle/>
                    <a:p>
                      <a:pPr algn="l"/>
                      <a:r>
                        <a:rPr lang="en-US" sz="950" b="1" dirty="0">
                          <a:solidFill>
                            <a:srgbClr val="202124"/>
                          </a:solidFill>
                          <a:latin typeface="Roboto"/>
                          <a:ea typeface="Roboto"/>
                          <a:cs typeface="Roboto"/>
                        </a:rPr>
                        <a:t>Match to Human Agent Replies</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ctr"/>
                      <a:r>
                        <a:rPr lang="en-US" sz="950" dirty="0">
                          <a:solidFill>
                            <a:srgbClr val="5F6368"/>
                          </a:solidFill>
                          <a:latin typeface="Roboto"/>
                          <a:ea typeface="Roboto"/>
                          <a:cs typeface="Roboto"/>
                        </a:rPr>
                        <a:t>≥ 0.35</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ctr"/>
                      <a:r>
                        <a:rPr lang="en-US" sz="950" b="1" dirty="0">
                          <a:solidFill>
                            <a:srgbClr val="137333"/>
                          </a:solidFill>
                          <a:latin typeface="Roboto"/>
                          <a:ea typeface="Roboto"/>
                          <a:cs typeface="Roboto"/>
                        </a:rPr>
                        <a:t>0.61  ✓</a:t>
                      </a:r>
                    </a:p>
                  </a:txBody>
                  <a:tcPr marL="63500" marR="63500" marT="38100" marB="38100" anchor="ctr">
                    <a:lnL w="0">
                      <a:noFill/>
                    </a:lnL>
                    <a:lnR w="0">
                      <a:noFill/>
                    </a:lnR>
                    <a:lnT w="0">
                      <a:noFill/>
                    </a:lnT>
                    <a:lnB w="9525">
                      <a:solidFill>
                        <a:srgbClr val="DADCE0"/>
                      </a:solidFill>
                    </a:lnB>
                    <a:solidFill>
                      <a:srgbClr val="E6F4EA"/>
                    </a:solidFill>
                  </a:tcPr>
                </a:tc>
                <a:tc>
                  <a:txBody>
                    <a:bodyPr wrap="square"/>
                    <a:lstStyle/>
                    <a:p>
                      <a:pPr algn="l"/>
                      <a:r>
                        <a:rPr lang="en-US" sz="950" dirty="0">
                          <a:solidFill>
                            <a:srgbClr val="5F6368"/>
                          </a:solidFill>
                          <a:latin typeface="Roboto"/>
                          <a:ea typeface="Roboto"/>
                          <a:cs typeface="Roboto"/>
                        </a:rPr>
                        <a:t>Exceeded similarity benchmark against real historical replies</a:t>
                      </a:r>
                    </a:p>
                  </a:txBody>
                  <a:tcPr marL="63500" marR="63500" marT="38100" marB="38100" anchor="ctr">
                    <a:lnL w="0">
                      <a:noFill/>
                    </a:lnL>
                    <a:lnR w="0">
                      <a:noFill/>
                    </a:lnR>
                    <a:lnT w="0">
                      <a:noFill/>
                    </a:lnT>
                    <a:lnB w="9525">
                      <a:solidFill>
                        <a:srgbClr val="DADCE0"/>
                      </a:solidFill>
                    </a:lnB>
                    <a:solidFill>
                      <a:srgbClr val="FFFFFF"/>
                    </a:solidFill>
                  </a:tcPr>
                </a:tc>
              </a:tr>
              <a:tr h="431800">
                <a:tc>
                  <a:txBody>
                    <a:bodyPr wrap="square"/>
                    <a:lstStyle/>
                    <a:p>
                      <a:pPr algn="l"/>
                      <a:r>
                        <a:rPr lang="en-US" sz="950" b="1" dirty="0">
                          <a:solidFill>
                            <a:srgbClr val="202124"/>
                          </a:solidFill>
                          <a:latin typeface="Roboto"/>
                          <a:ea typeface="Roboto"/>
                          <a:cs typeface="Roboto"/>
                        </a:rPr>
                        <a:t>Vague Question Clarification</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ctr"/>
                      <a:r>
                        <a:rPr lang="en-US" sz="950" dirty="0">
                          <a:solidFill>
                            <a:srgbClr val="5F6368"/>
                          </a:solidFill>
                          <a:latin typeface="Roboto"/>
                          <a:ea typeface="Roboto"/>
                          <a:cs typeface="Roboto"/>
                        </a:rPr>
                        <a:t>≥ 80.0%</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ctr"/>
                      <a:r>
                        <a:rPr lang="en-US" sz="950" b="1" dirty="0">
                          <a:solidFill>
                            <a:srgbClr val="137333"/>
                          </a:solidFill>
                          <a:latin typeface="Roboto"/>
                          <a:ea typeface="Roboto"/>
                          <a:cs typeface="Roboto"/>
                        </a:rPr>
                        <a:t>80.0%  ✓</a:t>
                      </a:r>
                    </a:p>
                  </a:txBody>
                  <a:tcPr marL="63500" marR="63500" marT="38100" marB="38100" anchor="ctr">
                    <a:lnL w="0">
                      <a:noFill/>
                    </a:lnL>
                    <a:lnR w="0">
                      <a:noFill/>
                    </a:lnR>
                    <a:lnT w="0">
                      <a:noFill/>
                    </a:lnT>
                    <a:lnB w="9525">
                      <a:solidFill>
                        <a:srgbClr val="DADCE0"/>
                      </a:solidFill>
                    </a:lnB>
                    <a:solidFill>
                      <a:srgbClr val="E6F4EA"/>
                    </a:solidFill>
                  </a:tcPr>
                </a:tc>
                <a:tc>
                  <a:txBody>
                    <a:bodyPr wrap="square"/>
                    <a:lstStyle/>
                    <a:p>
                      <a:pPr algn="l"/>
                      <a:r>
                        <a:rPr lang="en-US" sz="950" dirty="0">
                          <a:solidFill>
                            <a:srgbClr val="5F6368"/>
                          </a:solidFill>
                          <a:latin typeface="Roboto"/>
                          <a:ea typeface="Roboto"/>
                          <a:cs typeface="Roboto"/>
                        </a:rPr>
                        <a:t>Politely asked 1 clarifying question when prompts were unclear</a:t>
                      </a:r>
                    </a:p>
                  </a:txBody>
                  <a:tcPr marL="63500" marR="63500" marT="38100" marB="38100" anchor="ctr">
                    <a:lnL w="0">
                      <a:noFill/>
                    </a:lnL>
                    <a:lnR w="0">
                      <a:noFill/>
                    </a:lnR>
                    <a:lnT w="0">
                      <a:noFill/>
                    </a:lnT>
                    <a:lnB w="9525">
                      <a:solidFill>
                        <a:srgbClr val="DADCE0"/>
                      </a:solidFill>
                    </a:lnB>
                    <a:solidFill>
                      <a:srgbClr val="F8F9FA"/>
                    </a:solidFill>
                  </a:tcPr>
                </a:tc>
              </a:tr>
            </a:tbl>
          </a:graphicData>
        </a:graphic>
      </p:graphicFrame>
      <p:sp>
        <p:nvSpPr>
          <p:cNvPr id="41" name="Shape 41"/>
          <p:cNvSpPr/>
          <p:nvPr/>
        </p:nvSpPr>
        <p:spPr>
          <a:xfrm>
            <a:off x="6223000" y="5207000"/>
            <a:ext cx="5359400" cy="914400"/>
          </a:xfrm>
          <a:prstGeom prst="roundRect">
            <a:avLst>
              <a:gd name="adj" fmla="val 4000"/>
            </a:avLst>
          </a:prstGeom>
          <a:solidFill>
            <a:srgbClr val="E6F4EA"/>
          </a:solidFill>
          <a:ln w="12700">
            <a:solidFill>
              <a:srgbClr val="34A853"/>
            </a:solidFill>
          </a:ln>
          <a:effectLst/>
        </p:spPr>
        <p:txBody>
          <a:bodyPr rtlCol="0" anchor="ctr"/>
          <a:lstStyle/>
          <a:p>
            <a:pPr algn="ctr"/>
          </a:p>
        </p:txBody>
      </p:sp>
      <p:sp>
        <p:nvSpPr>
          <p:cNvPr id="42" name="TextBox 42"/>
          <p:cNvSpPr txBox="1"/>
          <p:nvPr/>
        </p:nvSpPr>
        <p:spPr>
          <a:xfrm>
            <a:off x="6350000" y="5295900"/>
            <a:ext cx="5105400" cy="165100"/>
          </a:xfrm>
          <a:prstGeom prst="rect">
            <a:avLst/>
          </a:prstGeom>
          <a:noFill/>
        </p:spPr>
        <p:txBody>
          <a:bodyPr wrap="square" anchor="t" lIns="0" rIns="0" tIns="0" bIns="0"/>
          <a:lstStyle/>
          <a:p>
            <a:pPr algn="l">
              <a:lnSpc>
                <a:spcPct val="120000"/>
              </a:lnSpc>
            </a:pPr>
            <a:r>
              <a:rPr lang="en-US" sz="1050" b="1" dirty="0">
                <a:solidFill>
                  <a:srgbClr val="137333"/>
                </a:solidFill>
                <a:latin typeface="Roboto"/>
                <a:ea typeface="Roboto"/>
                <a:cs typeface="Roboto"/>
              </a:rPr>
              <a:t>WHY THIS SCORECARD MATTERS FOR LAUNCH</a:t>
            </a:r>
          </a:p>
        </p:txBody>
      </p:sp>
      <p:sp>
        <p:nvSpPr>
          <p:cNvPr id="43" name="TextBox 43"/>
          <p:cNvSpPr txBox="1"/>
          <p:nvPr/>
        </p:nvSpPr>
        <p:spPr>
          <a:xfrm>
            <a:off x="6350000" y="5473700"/>
            <a:ext cx="5105400" cy="558800"/>
          </a:xfrm>
          <a:prstGeom prst="rect">
            <a:avLst/>
          </a:prstGeom>
          <a:noFill/>
        </p:spPr>
        <p:txBody>
          <a:bodyPr wrap="square" anchor="t" lIns="0" rIns="0" tIns="0" bIns="0"/>
          <a:lstStyle/>
          <a:p>
            <a:pPr algn="l">
              <a:lnSpc>
                <a:spcPct val="120000"/>
              </a:lnSpc>
            </a:pPr>
            <a:r>
              <a:rPr lang="en-US" sz="1000" dirty="0">
                <a:solidFill>
                  <a:srgbClr val="202124"/>
                </a:solidFill>
                <a:latin typeface="Roboto"/>
                <a:ea typeface="Roboto"/>
                <a:cs typeface="Roboto"/>
              </a:rPr>
              <a:t>1. Zero Missed Escalations: Not a single upset customer in our test was left talking to the chatbot.
2. Near-Zero Hallucinations (99.4%): Customers receive policy answers your support team can stand behind.
3. Repeatable Quality Exam: We can re-run this 100-ticket exam in minutes whenever store policies change.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2"/>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Shape 3"/>
          <p:cNvSpPr/>
          <p:nvPr/>
        </p:nvSpPr>
        <p:spPr>
          <a:xfrm>
            <a:off x="457200" y="279400"/>
            <a:ext cx="114300" cy="38100"/>
          </a:xfrm>
          <a:prstGeom prst="roundRect">
            <a:avLst>
              <a:gd name="adj" fmla="val 50000"/>
            </a:avLst>
          </a:prstGeom>
          <a:solidFill>
            <a:srgbClr val="1A73E8"/>
          </a:solidFill>
          <a:ln>
            <a:noFill/>
          </a:ln>
          <a:effectLst/>
        </p:spPr>
        <p:txBody>
          <a:bodyPr rtlCol="0" anchor="ctr"/>
          <a:lstStyle/>
          <a:p>
            <a:pPr algn="ctr"/>
          </a:p>
        </p:txBody>
      </p:sp>
      <p:sp>
        <p:nvSpPr>
          <p:cNvPr id="4" name="Shape 4"/>
          <p:cNvSpPr/>
          <p:nvPr/>
        </p:nvSpPr>
        <p:spPr>
          <a:xfrm>
            <a:off x="596900" y="279400"/>
            <a:ext cx="114300" cy="38100"/>
          </a:xfrm>
          <a:prstGeom prst="roundRect">
            <a:avLst>
              <a:gd name="adj" fmla="val 50000"/>
            </a:avLst>
          </a:prstGeom>
          <a:solidFill>
            <a:srgbClr val="EA4335"/>
          </a:solidFill>
          <a:ln>
            <a:noFill/>
          </a:ln>
          <a:effectLst/>
        </p:spPr>
        <p:txBody>
          <a:bodyPr rtlCol="0" anchor="ctr"/>
          <a:lstStyle/>
          <a:p>
            <a:pPr algn="ctr"/>
          </a:p>
        </p:txBody>
      </p:sp>
      <p:sp>
        <p:nvSpPr>
          <p:cNvPr id="5" name="Shape 5"/>
          <p:cNvSpPr/>
          <p:nvPr/>
        </p:nvSpPr>
        <p:spPr>
          <a:xfrm>
            <a:off x="736600" y="279400"/>
            <a:ext cx="114300" cy="38100"/>
          </a:xfrm>
          <a:prstGeom prst="roundRect">
            <a:avLst>
              <a:gd name="adj" fmla="val 50000"/>
            </a:avLst>
          </a:prstGeom>
          <a:solidFill>
            <a:srgbClr val="FBBC04"/>
          </a:solidFill>
          <a:ln>
            <a:noFill/>
          </a:ln>
          <a:effectLst/>
        </p:spPr>
        <p:txBody>
          <a:bodyPr rtlCol="0" anchor="ctr"/>
          <a:lstStyle/>
          <a:p>
            <a:pPr algn="ctr"/>
          </a:p>
        </p:txBody>
      </p:sp>
      <p:sp>
        <p:nvSpPr>
          <p:cNvPr id="6" name="Shape 6"/>
          <p:cNvSpPr/>
          <p:nvPr/>
        </p:nvSpPr>
        <p:spPr>
          <a:xfrm>
            <a:off x="876300" y="279400"/>
            <a:ext cx="114300" cy="38100"/>
          </a:xfrm>
          <a:prstGeom prst="roundRect">
            <a:avLst>
              <a:gd name="adj" fmla="val 50000"/>
            </a:avLst>
          </a:prstGeom>
          <a:solidFill>
            <a:srgbClr val="34A853"/>
          </a:solidFill>
          <a:ln>
            <a:noFill/>
          </a:ln>
          <a:effectLst/>
        </p:spPr>
        <p:txBody>
          <a:bodyPr rtlCol="0" anchor="ctr"/>
          <a:lstStyle/>
          <a:p>
            <a:pPr algn="ctr"/>
          </a:p>
        </p:txBody>
      </p:sp>
      <p:sp>
        <p:nvSpPr>
          <p:cNvPr id="7" name="TextBox 7"/>
          <p:cNvSpPr txBox="1"/>
          <p:nvPr/>
        </p:nvSpPr>
        <p:spPr>
          <a:xfrm>
            <a:off x="1066800" y="241300"/>
            <a:ext cx="7620000" cy="152400"/>
          </a:xfrm>
          <a:prstGeom prst="rect">
            <a:avLst/>
          </a:prstGeom>
          <a:noFill/>
        </p:spPr>
        <p:txBody>
          <a:bodyPr wrap="square" anchor="t" lIns="0" rIns="0" tIns="0" bIns="0"/>
          <a:lstStyle/>
          <a:p>
            <a:pPr algn="l">
              <a:lnSpc>
                <a:spcPct val="120000"/>
              </a:lnSpc>
            </a:pPr>
            <a:r>
              <a:rPr lang="en-US" sz="950" b="1" dirty="0">
                <a:solidFill>
                  <a:srgbClr val="1A73E8"/>
                </a:solidFill>
                <a:latin typeface="Roboto"/>
                <a:ea typeface="Roboto"/>
                <a:cs typeface="Roboto"/>
              </a:rPr>
              <a:t>05 / PROTOTYPE COST BY SYSTEM MODULE &amp; SCALING BUDGET</a:t>
            </a:r>
          </a:p>
        </p:txBody>
      </p:sp>
      <p:sp>
        <p:nvSpPr>
          <p:cNvPr id="8" name="TextBox 8"/>
          <p:cNvSpPr txBox="1"/>
          <p:nvPr/>
        </p:nvSpPr>
        <p:spPr>
          <a:xfrm>
            <a:off x="10477500" y="241300"/>
            <a:ext cx="1257300" cy="152400"/>
          </a:xfrm>
          <a:prstGeom prst="rect">
            <a:avLst/>
          </a:prstGeom>
          <a:noFill/>
        </p:spPr>
        <p:txBody>
          <a:bodyPr wrap="square" anchor="t" lIns="0" rIns="0" tIns="0" bIns="0"/>
          <a:lstStyle/>
          <a:p>
            <a:pPr algn="r">
              <a:lnSpc>
                <a:spcPct val="120000"/>
              </a:lnSpc>
            </a:pPr>
            <a:r>
              <a:rPr lang="en-US" sz="950" b="1" dirty="0">
                <a:solidFill>
                  <a:srgbClr val="80868B"/>
                </a:solidFill>
                <a:latin typeface="Roboto"/>
                <a:ea typeface="Roboto"/>
                <a:cs typeface="Roboto"/>
              </a:rPr>
              <a:t>SLIDE 05 / 07</a:t>
            </a:r>
          </a:p>
        </p:txBody>
      </p:sp>
      <p:sp>
        <p:nvSpPr>
          <p:cNvPr id="9" name="TextBox 9"/>
          <p:cNvSpPr txBox="1"/>
          <p:nvPr/>
        </p:nvSpPr>
        <p:spPr>
          <a:xfrm>
            <a:off x="457200" y="431800"/>
            <a:ext cx="11277600" cy="292100"/>
          </a:xfrm>
          <a:prstGeom prst="rect">
            <a:avLst/>
          </a:prstGeom>
          <a:noFill/>
        </p:spPr>
        <p:txBody>
          <a:bodyPr wrap="square" anchor="t" lIns="0" rIns="0" tIns="0" bIns="0"/>
          <a:lstStyle/>
          <a:p>
            <a:pPr algn="l">
              <a:lnSpc>
                <a:spcPct val="120000"/>
              </a:lnSpc>
            </a:pPr>
            <a:r>
              <a:rPr lang="en-US" sz="2400" b="1" dirty="0">
                <a:solidFill>
                  <a:srgbClr val="202124"/>
                </a:solidFill>
                <a:latin typeface="Roboto"/>
                <a:ea typeface="Roboto"/>
                <a:cs typeface="Roboto"/>
              </a:rPr>
              <a:t>~1.2 Cents Per Ticket All-In (Latest 100-Ticket Eval) — &gt;99% Less Than Manual Triage</a:t>
            </a:r>
          </a:p>
        </p:txBody>
      </p:sp>
      <p:sp>
        <p:nvSpPr>
          <p:cNvPr id="10" name="TextBox 10"/>
          <p:cNvSpPr txBox="1"/>
          <p:nvPr/>
        </p:nvSpPr>
        <p:spPr>
          <a:xfrm>
            <a:off x="457200" y="736600"/>
            <a:ext cx="11277600" cy="190500"/>
          </a:xfrm>
          <a:prstGeom prst="rect">
            <a:avLst/>
          </a:prstGeom>
          <a:noFill/>
        </p:spPr>
        <p:txBody>
          <a:bodyPr wrap="square" anchor="t" lIns="0" rIns="0" tIns="0" bIns="0"/>
          <a:lstStyle/>
          <a:p>
            <a:pPr algn="l">
              <a:lnSpc>
                <a:spcPct val="120000"/>
              </a:lnSpc>
            </a:pPr>
            <a:r>
              <a:rPr lang="en-US" sz="1200" dirty="0">
                <a:solidFill>
                  <a:srgbClr val="5F6368"/>
                </a:solidFill>
                <a:latin typeface="Roboto"/>
                <a:ea typeface="Roboto"/>
                <a:cs typeface="Roboto"/>
              </a:rPr>
              <a:t>Measured across all 7 runtime modules + fixed infrastructure: $8.87/1k tickets in AI &amp; Search ($11.55/1k all-in) + $29/mo prototype base.</a:t>
            </a:r>
          </a:p>
        </p:txBody>
      </p:sp>
      <p:sp>
        <p:nvSpPr>
          <p:cNvPr id="11" name="Shape 11"/>
          <p:cNvSpPr/>
          <p:nvPr/>
        </p:nvSpPr>
        <p:spPr>
          <a:xfrm>
            <a:off x="457200" y="6515100"/>
            <a:ext cx="11277600" cy="6350"/>
          </a:xfrm>
          <a:prstGeom prst="rect">
            <a:avLst/>
          </a:prstGeom>
          <a:solidFill>
            <a:srgbClr val="DADCE0"/>
          </a:solidFill>
          <a:ln>
            <a:noFill/>
          </a:ln>
          <a:effectLst/>
        </p:spPr>
        <p:txBody>
          <a:bodyPr rtlCol="0" anchor="ctr"/>
          <a:lstStyle/>
          <a:p>
            <a:pPr algn="ctr"/>
          </a:p>
        </p:txBody>
      </p:sp>
      <p:sp>
        <p:nvSpPr>
          <p:cNvPr id="12" name="TextBox 12"/>
          <p:cNvSpPr txBox="1"/>
          <p:nvPr/>
        </p:nvSpPr>
        <p:spPr>
          <a:xfrm>
            <a:off x="457200" y="6565900"/>
            <a:ext cx="8572500" cy="152400"/>
          </a:xfrm>
          <a:prstGeom prst="rect">
            <a:avLst/>
          </a:prstGeom>
          <a:noFill/>
        </p:spPr>
        <p:txBody>
          <a:bodyPr wrap="square" anchor="t" lIns="0" rIns="0" tIns="0" bIns="0"/>
          <a:lstStyle/>
          <a:p>
            <a:pPr algn="l">
              <a:lnSpc>
                <a:spcPct val="120000"/>
              </a:lnSpc>
            </a:pPr>
            <a:r>
              <a:rPr lang="en-US" sz="850" dirty="0">
                <a:solidFill>
                  <a:srgbClr val="80868B"/>
                </a:solidFill>
                <a:latin typeface="Roboto"/>
                <a:ea typeface="Roboto"/>
                <a:cs typeface="Roboto"/>
              </a:rPr>
              <a:t>Timing: ~1 min 30 sec  ·  Focus: Module-by-module cost breakdown from latest 100-ticket evaluation and monthly scaling budget</a:t>
            </a:r>
          </a:p>
        </p:txBody>
      </p:sp>
      <p:sp>
        <p:nvSpPr>
          <p:cNvPr id="13" name="TextBox 13"/>
          <p:cNvSpPr txBox="1"/>
          <p:nvPr/>
        </p:nvSpPr>
        <p:spPr>
          <a:xfrm>
            <a:off x="9017000" y="6565900"/>
            <a:ext cx="2717800" cy="152400"/>
          </a:xfrm>
          <a:prstGeom prst="rect">
            <a:avLst/>
          </a:prstGeom>
          <a:noFill/>
        </p:spPr>
        <p:txBody>
          <a:bodyPr wrap="square" anchor="t" lIns="0" rIns="0" tIns="0" bIns="0"/>
          <a:lstStyle/>
          <a:p>
            <a:pPr algn="r">
              <a:lnSpc>
                <a:spcPct val="120000"/>
              </a:lnSpc>
            </a:pPr>
            <a:r>
              <a:rPr lang="en-US" sz="850" dirty="0">
                <a:solidFill>
                  <a:srgbClr val="80868B"/>
                </a:solidFill>
                <a:latin typeface="Roboto"/>
                <a:ea typeface="Roboto"/>
                <a:cs typeface="Roboto"/>
              </a:rPr>
              <a:t>Global Retail Hub · Customer Build Readout</a:t>
            </a:r>
          </a:p>
        </p:txBody>
      </p:sp>
      <p:sp>
        <p:nvSpPr>
          <p:cNvPr id="14" name="Shape 14"/>
          <p:cNvSpPr/>
          <p:nvPr/>
        </p:nvSpPr>
        <p:spPr>
          <a:xfrm>
            <a:off x="457200" y="1041400"/>
            <a:ext cx="3657600" cy="12573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15" name="Shape 15"/>
          <p:cNvSpPr/>
          <p:nvPr/>
        </p:nvSpPr>
        <p:spPr>
          <a:xfrm>
            <a:off x="457200" y="1041400"/>
            <a:ext cx="3657600" cy="38100"/>
          </a:xfrm>
          <a:prstGeom prst="rect">
            <a:avLst/>
          </a:prstGeom>
          <a:solidFill>
            <a:srgbClr val="1A73E8"/>
          </a:solidFill>
          <a:ln>
            <a:noFill/>
          </a:ln>
          <a:effectLst/>
        </p:spPr>
        <p:txBody>
          <a:bodyPr rtlCol="0" anchor="ctr"/>
          <a:lstStyle/>
          <a:p>
            <a:pPr algn="ctr"/>
          </a:p>
        </p:txBody>
      </p:sp>
      <p:sp>
        <p:nvSpPr>
          <p:cNvPr id="16" name="TextBox 16"/>
          <p:cNvSpPr txBox="1"/>
          <p:nvPr/>
        </p:nvSpPr>
        <p:spPr>
          <a:xfrm>
            <a:off x="609600" y="1155700"/>
            <a:ext cx="1714500" cy="330200"/>
          </a:xfrm>
          <a:prstGeom prst="rect">
            <a:avLst/>
          </a:prstGeom>
          <a:noFill/>
        </p:spPr>
        <p:txBody>
          <a:bodyPr wrap="square" anchor="t" lIns="0" rIns="0" tIns="0" bIns="0"/>
          <a:lstStyle/>
          <a:p>
            <a:pPr algn="l">
              <a:lnSpc>
                <a:spcPct val="120000"/>
              </a:lnSpc>
            </a:pPr>
            <a:r>
              <a:rPr lang="en-US" sz="2700" b="1" dirty="0">
                <a:solidFill>
                  <a:srgbClr val="1A73E8"/>
                </a:solidFill>
                <a:latin typeface="Roboto"/>
                <a:ea typeface="Roboto"/>
                <a:cs typeface="Roboto"/>
              </a:rPr>
              <a:t>$8.87 / 1k</a:t>
            </a:r>
          </a:p>
        </p:txBody>
      </p:sp>
      <p:sp>
        <p:nvSpPr>
          <p:cNvPr id="17" name="Shape 17"/>
          <p:cNvSpPr/>
          <p:nvPr/>
        </p:nvSpPr>
        <p:spPr>
          <a:xfrm>
            <a:off x="2781300" y="1206500"/>
            <a:ext cx="1181100" cy="152400"/>
          </a:xfrm>
          <a:prstGeom prst="roundRect">
            <a:avLst>
              <a:gd name="adj" fmla="val 50000"/>
            </a:avLst>
          </a:prstGeom>
          <a:solidFill>
            <a:srgbClr val="E8F0FE"/>
          </a:solidFill>
          <a:ln>
            <a:noFill/>
          </a:ln>
          <a:effectLst/>
        </p:spPr>
        <p:txBody>
          <a:bodyPr rtlCol="0" anchor="ctr"/>
          <a:lstStyle/>
          <a:p>
            <a:pPr algn="ctr"/>
          </a:p>
        </p:txBody>
      </p:sp>
      <p:sp>
        <p:nvSpPr>
          <p:cNvPr id="18" name="TextBox 18"/>
          <p:cNvSpPr txBox="1"/>
          <p:nvPr/>
        </p:nvSpPr>
        <p:spPr>
          <a:xfrm>
            <a:off x="2781300" y="1206500"/>
            <a:ext cx="1181100" cy="152400"/>
          </a:xfrm>
          <a:prstGeom prst="rect">
            <a:avLst/>
          </a:prstGeom>
          <a:noFill/>
        </p:spPr>
        <p:txBody>
          <a:bodyPr wrap="square" anchor="ctr" lIns="0" rIns="0" tIns="0" bIns="0"/>
          <a:lstStyle/>
          <a:p>
            <a:pPr algn="ctr">
              <a:lnSpc>
                <a:spcPct val="120000"/>
              </a:lnSpc>
            </a:pPr>
            <a:r>
              <a:rPr lang="en-US" sz="750" b="1" dirty="0">
                <a:solidFill>
                  <a:srgbClr val="1A73E8"/>
                </a:solidFill>
                <a:latin typeface="Roboto"/>
                <a:ea typeface="Roboto"/>
                <a:cs typeface="Roboto"/>
              </a:rPr>
              <a:t>MEASURED AI + SEARCH (LA</a:t>
            </a:r>
          </a:p>
        </p:txBody>
      </p:sp>
      <p:sp>
        <p:nvSpPr>
          <p:cNvPr id="19" name="TextBox 19"/>
          <p:cNvSpPr txBox="1"/>
          <p:nvPr/>
        </p:nvSpPr>
        <p:spPr>
          <a:xfrm>
            <a:off x="609600" y="1511300"/>
            <a:ext cx="3352800" cy="165100"/>
          </a:xfrm>
          <a:prstGeom prst="rect">
            <a:avLst/>
          </a:prstGeom>
          <a:noFill/>
        </p:spPr>
        <p:txBody>
          <a:bodyPr wrap="square" anchor="t" lIns="0" rIns="0" tIns="0" bIns="0"/>
          <a:lstStyle/>
          <a:p>
            <a:pPr algn="l">
              <a:lnSpc>
                <a:spcPct val="120000"/>
              </a:lnSpc>
            </a:pPr>
            <a:r>
              <a:rPr lang="en-US" sz="1250" b="1" dirty="0">
                <a:solidFill>
                  <a:srgbClr val="202124"/>
                </a:solidFill>
                <a:latin typeface="Roboto"/>
                <a:ea typeface="Roboto"/>
                <a:cs typeface="Roboto"/>
              </a:rPr>
              <a:t>Measured AI + Search (Latest Eval)</a:t>
            </a:r>
          </a:p>
        </p:txBody>
      </p:sp>
      <p:sp>
        <p:nvSpPr>
          <p:cNvPr id="20" name="TextBox 20"/>
          <p:cNvSpPr txBox="1"/>
          <p:nvPr/>
        </p:nvSpPr>
        <p:spPr>
          <a:xfrm>
            <a:off x="609600" y="1701800"/>
            <a:ext cx="3352800" cy="5080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Exact cost across 100 test tickets ($0.0089/ticket): $7.47 Research AI (35% cached at 90% discount), $1.13 Knowledge Search, and $0.28 Triage AI.</a:t>
            </a:r>
          </a:p>
        </p:txBody>
      </p:sp>
      <p:sp>
        <p:nvSpPr>
          <p:cNvPr id="21" name="Shape 21"/>
          <p:cNvSpPr/>
          <p:nvPr/>
        </p:nvSpPr>
        <p:spPr>
          <a:xfrm>
            <a:off x="4267200" y="1041400"/>
            <a:ext cx="3657600" cy="12573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22" name="Shape 22"/>
          <p:cNvSpPr/>
          <p:nvPr/>
        </p:nvSpPr>
        <p:spPr>
          <a:xfrm>
            <a:off x="4267200" y="1041400"/>
            <a:ext cx="3657600" cy="38100"/>
          </a:xfrm>
          <a:prstGeom prst="rect">
            <a:avLst/>
          </a:prstGeom>
          <a:solidFill>
            <a:srgbClr val="137333"/>
          </a:solidFill>
          <a:ln>
            <a:noFill/>
          </a:ln>
          <a:effectLst/>
        </p:spPr>
        <p:txBody>
          <a:bodyPr rtlCol="0" anchor="ctr"/>
          <a:lstStyle/>
          <a:p>
            <a:pPr algn="ctr"/>
          </a:p>
        </p:txBody>
      </p:sp>
      <p:sp>
        <p:nvSpPr>
          <p:cNvPr id="23" name="TextBox 23"/>
          <p:cNvSpPr txBox="1"/>
          <p:nvPr/>
        </p:nvSpPr>
        <p:spPr>
          <a:xfrm>
            <a:off x="4419600" y="1155700"/>
            <a:ext cx="1714500" cy="330200"/>
          </a:xfrm>
          <a:prstGeom prst="rect">
            <a:avLst/>
          </a:prstGeom>
          <a:noFill/>
        </p:spPr>
        <p:txBody>
          <a:bodyPr wrap="square" anchor="t" lIns="0" rIns="0" tIns="0" bIns="0"/>
          <a:lstStyle/>
          <a:p>
            <a:pPr algn="l">
              <a:lnSpc>
                <a:spcPct val="120000"/>
              </a:lnSpc>
            </a:pPr>
            <a:r>
              <a:rPr lang="en-US" sz="2700" b="1" dirty="0">
                <a:solidFill>
                  <a:srgbClr val="137333"/>
                </a:solidFill>
                <a:latin typeface="Roboto"/>
                <a:ea typeface="Roboto"/>
                <a:cs typeface="Roboto"/>
              </a:rPr>
              <a:t>$11.55 / 1k</a:t>
            </a:r>
          </a:p>
        </p:txBody>
      </p:sp>
      <p:sp>
        <p:nvSpPr>
          <p:cNvPr id="24" name="Shape 24"/>
          <p:cNvSpPr/>
          <p:nvPr/>
        </p:nvSpPr>
        <p:spPr>
          <a:xfrm>
            <a:off x="6591300" y="1206500"/>
            <a:ext cx="1181100" cy="152400"/>
          </a:xfrm>
          <a:prstGeom prst="roundRect">
            <a:avLst>
              <a:gd name="adj" fmla="val 50000"/>
            </a:avLst>
          </a:prstGeom>
          <a:solidFill>
            <a:srgbClr val="E6F4EA"/>
          </a:solidFill>
          <a:ln>
            <a:noFill/>
          </a:ln>
          <a:effectLst/>
        </p:spPr>
        <p:txBody>
          <a:bodyPr rtlCol="0" anchor="ctr"/>
          <a:lstStyle/>
          <a:p>
            <a:pPr algn="ctr"/>
          </a:p>
        </p:txBody>
      </p:sp>
      <p:sp>
        <p:nvSpPr>
          <p:cNvPr id="25" name="TextBox 25"/>
          <p:cNvSpPr txBox="1"/>
          <p:nvPr/>
        </p:nvSpPr>
        <p:spPr>
          <a:xfrm>
            <a:off x="6591300" y="1206500"/>
            <a:ext cx="1181100" cy="152400"/>
          </a:xfrm>
          <a:prstGeom prst="rect">
            <a:avLst/>
          </a:prstGeom>
          <a:noFill/>
        </p:spPr>
        <p:txBody>
          <a:bodyPr wrap="square" anchor="ctr" lIns="0" rIns="0" tIns="0" bIns="0"/>
          <a:lstStyle/>
          <a:p>
            <a:pPr algn="ctr">
              <a:lnSpc>
                <a:spcPct val="120000"/>
              </a:lnSpc>
            </a:pPr>
            <a:r>
              <a:rPr lang="en-US" sz="750" b="1" dirty="0">
                <a:solidFill>
                  <a:srgbClr val="137333"/>
                </a:solidFill>
                <a:latin typeface="Roboto"/>
                <a:ea typeface="Roboto"/>
                <a:cs typeface="Roboto"/>
              </a:rPr>
              <a:t>ALL-IN VARIABLE COST (~1</a:t>
            </a:r>
          </a:p>
        </p:txBody>
      </p:sp>
      <p:sp>
        <p:nvSpPr>
          <p:cNvPr id="26" name="TextBox 26"/>
          <p:cNvSpPr txBox="1"/>
          <p:nvPr/>
        </p:nvSpPr>
        <p:spPr>
          <a:xfrm>
            <a:off x="4419600" y="1511300"/>
            <a:ext cx="3352800" cy="165100"/>
          </a:xfrm>
          <a:prstGeom prst="rect">
            <a:avLst/>
          </a:prstGeom>
          <a:noFill/>
        </p:spPr>
        <p:txBody>
          <a:bodyPr wrap="square" anchor="t" lIns="0" rIns="0" tIns="0" bIns="0"/>
          <a:lstStyle/>
          <a:p>
            <a:pPr algn="l">
              <a:lnSpc>
                <a:spcPct val="120000"/>
              </a:lnSpc>
            </a:pPr>
            <a:r>
              <a:rPr lang="en-US" sz="1250" b="1" dirty="0">
                <a:solidFill>
                  <a:srgbClr val="202124"/>
                </a:solidFill>
                <a:latin typeface="Roboto"/>
                <a:ea typeface="Roboto"/>
                <a:cs typeface="Roboto"/>
              </a:rPr>
              <a:t>All-In Variable Cost (~1.2¢ / Ticket)</a:t>
            </a:r>
          </a:p>
        </p:txBody>
      </p:sp>
      <p:sp>
        <p:nvSpPr>
          <p:cNvPr id="27" name="TextBox 27"/>
          <p:cNvSpPr txBox="1"/>
          <p:nvPr/>
        </p:nvSpPr>
        <p:spPr>
          <a:xfrm>
            <a:off x="4419600" y="1701800"/>
            <a:ext cx="3352800" cy="5080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Adds live cloud runtime modules ($1.47 Conversation Memory, $0.90 Active AI Compute, $0.30 Coordinator &amp; Web Portal, $0.01 Privacy Shield).</a:t>
            </a:r>
          </a:p>
        </p:txBody>
      </p:sp>
      <p:sp>
        <p:nvSpPr>
          <p:cNvPr id="28" name="Shape 28"/>
          <p:cNvSpPr/>
          <p:nvPr/>
        </p:nvSpPr>
        <p:spPr>
          <a:xfrm>
            <a:off x="8077200" y="1041400"/>
            <a:ext cx="3657600" cy="12573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29" name="Shape 29"/>
          <p:cNvSpPr/>
          <p:nvPr/>
        </p:nvSpPr>
        <p:spPr>
          <a:xfrm>
            <a:off x="8077200" y="1041400"/>
            <a:ext cx="3657600" cy="38100"/>
          </a:xfrm>
          <a:prstGeom prst="rect">
            <a:avLst/>
          </a:prstGeom>
          <a:solidFill>
            <a:srgbClr val="B06000"/>
          </a:solidFill>
          <a:ln>
            <a:noFill/>
          </a:ln>
          <a:effectLst/>
        </p:spPr>
        <p:txBody>
          <a:bodyPr rtlCol="0" anchor="ctr"/>
          <a:lstStyle/>
          <a:p>
            <a:pPr algn="ctr"/>
          </a:p>
        </p:txBody>
      </p:sp>
      <p:sp>
        <p:nvSpPr>
          <p:cNvPr id="30" name="TextBox 30"/>
          <p:cNvSpPr txBox="1"/>
          <p:nvPr/>
        </p:nvSpPr>
        <p:spPr>
          <a:xfrm>
            <a:off x="8229600" y="1155700"/>
            <a:ext cx="1714500" cy="330200"/>
          </a:xfrm>
          <a:prstGeom prst="rect">
            <a:avLst/>
          </a:prstGeom>
          <a:noFill/>
        </p:spPr>
        <p:txBody>
          <a:bodyPr wrap="square" anchor="t" lIns="0" rIns="0" tIns="0" bIns="0"/>
          <a:lstStyle/>
          <a:p>
            <a:pPr algn="l">
              <a:lnSpc>
                <a:spcPct val="120000"/>
              </a:lnSpc>
            </a:pPr>
            <a:r>
              <a:rPr lang="en-US" sz="2700" b="1" dirty="0">
                <a:solidFill>
                  <a:srgbClr val="B06000"/>
                </a:solidFill>
                <a:latin typeface="Roboto"/>
                <a:ea typeface="Roboto"/>
                <a:cs typeface="Roboto"/>
              </a:rPr>
              <a:t>$29 / mo</a:t>
            </a:r>
          </a:p>
        </p:txBody>
      </p:sp>
      <p:sp>
        <p:nvSpPr>
          <p:cNvPr id="31" name="Shape 31"/>
          <p:cNvSpPr/>
          <p:nvPr/>
        </p:nvSpPr>
        <p:spPr>
          <a:xfrm>
            <a:off x="10401300" y="1206500"/>
            <a:ext cx="1181100" cy="152400"/>
          </a:xfrm>
          <a:prstGeom prst="roundRect">
            <a:avLst>
              <a:gd name="adj" fmla="val 50000"/>
            </a:avLst>
          </a:prstGeom>
          <a:solidFill>
            <a:srgbClr val="FEF7E0"/>
          </a:solidFill>
          <a:ln>
            <a:noFill/>
          </a:ln>
          <a:effectLst/>
        </p:spPr>
        <p:txBody>
          <a:bodyPr rtlCol="0" anchor="ctr"/>
          <a:lstStyle/>
          <a:p>
            <a:pPr algn="ctr"/>
          </a:p>
        </p:txBody>
      </p:sp>
      <p:sp>
        <p:nvSpPr>
          <p:cNvPr id="32" name="TextBox 32"/>
          <p:cNvSpPr txBox="1"/>
          <p:nvPr/>
        </p:nvSpPr>
        <p:spPr>
          <a:xfrm>
            <a:off x="10401300" y="1206500"/>
            <a:ext cx="1181100" cy="152400"/>
          </a:xfrm>
          <a:prstGeom prst="rect">
            <a:avLst/>
          </a:prstGeom>
          <a:noFill/>
        </p:spPr>
        <p:txBody>
          <a:bodyPr wrap="square" anchor="ctr" lIns="0" rIns="0" tIns="0" bIns="0"/>
          <a:lstStyle/>
          <a:p>
            <a:pPr algn="ctr">
              <a:lnSpc>
                <a:spcPct val="120000"/>
              </a:lnSpc>
            </a:pPr>
            <a:r>
              <a:rPr lang="en-US" sz="750" b="1" dirty="0">
                <a:solidFill>
                  <a:srgbClr val="B06000"/>
                </a:solidFill>
                <a:latin typeface="Roboto"/>
                <a:ea typeface="Roboto"/>
                <a:cs typeface="Roboto"/>
              </a:rPr>
              <a:t>PROTOTYPE FIXED MONTHLY </a:t>
            </a:r>
          </a:p>
        </p:txBody>
      </p:sp>
      <p:sp>
        <p:nvSpPr>
          <p:cNvPr id="33" name="TextBox 33"/>
          <p:cNvSpPr txBox="1"/>
          <p:nvPr/>
        </p:nvSpPr>
        <p:spPr>
          <a:xfrm>
            <a:off x="8229600" y="1511300"/>
            <a:ext cx="3352800" cy="165100"/>
          </a:xfrm>
          <a:prstGeom prst="rect">
            <a:avLst/>
          </a:prstGeom>
          <a:noFill/>
        </p:spPr>
        <p:txBody>
          <a:bodyPr wrap="square" anchor="t" lIns="0" rIns="0" tIns="0" bIns="0"/>
          <a:lstStyle/>
          <a:p>
            <a:pPr algn="l">
              <a:lnSpc>
                <a:spcPct val="120000"/>
              </a:lnSpc>
            </a:pPr>
            <a:r>
              <a:rPr lang="en-US" sz="1250" b="1" dirty="0">
                <a:solidFill>
                  <a:srgbClr val="202124"/>
                </a:solidFill>
                <a:latin typeface="Roboto"/>
                <a:ea typeface="Roboto"/>
                <a:cs typeface="Roboto"/>
              </a:rPr>
              <a:t>Prototype Fixed Monthly Base</a:t>
            </a:r>
          </a:p>
        </p:txBody>
      </p:sp>
      <p:sp>
        <p:nvSpPr>
          <p:cNvPr id="34" name="TextBox 34"/>
          <p:cNvSpPr txBox="1"/>
          <p:nvPr/>
        </p:nvSpPr>
        <p:spPr>
          <a:xfrm>
            <a:off x="8229600" y="1701800"/>
            <a:ext cx="3352800" cy="5080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Front Door Security Gate ($18.25/mo) + Starter Ticket Database ($9.37/mo) + Cloud Storage ($1.50/mo). Upgrades to $230/mo for 24/7 HA Database.</a:t>
            </a:r>
          </a:p>
        </p:txBody>
      </p:sp>
      <p:sp>
        <p:nvSpPr>
          <p:cNvPr id="35" name="Shape 35"/>
          <p:cNvSpPr/>
          <p:nvPr/>
        </p:nvSpPr>
        <p:spPr>
          <a:xfrm>
            <a:off x="457200" y="2438400"/>
            <a:ext cx="5842000" cy="39243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36" name="Shape 36"/>
          <p:cNvSpPr/>
          <p:nvPr/>
        </p:nvSpPr>
        <p:spPr>
          <a:xfrm>
            <a:off x="457200" y="2438400"/>
            <a:ext cx="38100" cy="3924300"/>
          </a:xfrm>
          <a:prstGeom prst="rect">
            <a:avLst/>
          </a:prstGeom>
          <a:solidFill>
            <a:srgbClr val="1A73E8"/>
          </a:solidFill>
          <a:ln>
            <a:noFill/>
          </a:ln>
          <a:effectLst/>
        </p:spPr>
        <p:txBody>
          <a:bodyPr rtlCol="0" anchor="ctr"/>
          <a:lstStyle/>
          <a:p>
            <a:pPr algn="ctr"/>
          </a:p>
        </p:txBody>
      </p:sp>
      <p:sp>
        <p:nvSpPr>
          <p:cNvPr id="37" name="TextBox 37"/>
          <p:cNvSpPr txBox="1"/>
          <p:nvPr/>
        </p:nvSpPr>
        <p:spPr>
          <a:xfrm>
            <a:off x="609600" y="2565400"/>
            <a:ext cx="5537200" cy="177800"/>
          </a:xfrm>
          <a:prstGeom prst="rect">
            <a:avLst/>
          </a:prstGeom>
          <a:noFill/>
        </p:spPr>
        <p:txBody>
          <a:bodyPr wrap="square" anchor="t" lIns="0" rIns="0" tIns="0" bIns="0"/>
          <a:lstStyle/>
          <a:p>
            <a:pPr algn="l">
              <a:lnSpc>
                <a:spcPct val="120000"/>
              </a:lnSpc>
            </a:pPr>
            <a:r>
              <a:rPr lang="en-US" sz="1200" b="1" dirty="0">
                <a:solidFill>
                  <a:srgbClr val="202124"/>
                </a:solidFill>
                <a:latin typeface="Roboto"/>
                <a:ea typeface="Roboto"/>
                <a:cs typeface="Roboto"/>
              </a:rPr>
              <a:t>VARIABLE COST BREAKDOWN BY SYSTEM MODULE (PER 1,000 TICKETS)</a:t>
            </a:r>
          </a:p>
        </p:txBody>
      </p:sp>
      <p:sp>
        <p:nvSpPr>
          <p:cNvPr id="38" name="Shape 38"/>
          <p:cNvSpPr/>
          <p:nvPr/>
        </p:nvSpPr>
        <p:spPr>
          <a:xfrm>
            <a:off x="609600" y="2781300"/>
            <a:ext cx="3581400" cy="152400"/>
          </a:xfrm>
          <a:prstGeom prst="rect">
            <a:avLst/>
          </a:prstGeom>
          <a:solidFill>
            <a:srgbClr val="1A73E8"/>
          </a:solidFill>
          <a:ln>
            <a:noFill/>
          </a:ln>
          <a:effectLst/>
        </p:spPr>
        <p:txBody>
          <a:bodyPr rtlCol="0" anchor="ctr"/>
          <a:lstStyle/>
          <a:p>
            <a:pPr algn="ctr"/>
          </a:p>
        </p:txBody>
      </p:sp>
      <p:sp>
        <p:nvSpPr>
          <p:cNvPr id="39" name="TextBox 39"/>
          <p:cNvSpPr txBox="1"/>
          <p:nvPr/>
        </p:nvSpPr>
        <p:spPr>
          <a:xfrm>
            <a:off x="660400" y="2794000"/>
            <a:ext cx="3505200" cy="127000"/>
          </a:xfrm>
          <a:prstGeom prst="rect">
            <a:avLst/>
          </a:prstGeom>
          <a:noFill/>
        </p:spPr>
        <p:txBody>
          <a:bodyPr wrap="square" anchor="t" lIns="0" rIns="0" tIns="0" bIns="0"/>
          <a:lstStyle/>
          <a:p>
            <a:pPr algn="l">
              <a:lnSpc>
                <a:spcPct val="120000"/>
              </a:lnSpc>
            </a:pPr>
            <a:r>
              <a:rPr lang="en-US" sz="800" b="1" dirty="0">
                <a:solidFill>
                  <a:srgbClr val="FFFFFF"/>
                </a:solidFill>
                <a:latin typeface="Roboto"/>
                <a:ea typeface="Roboto"/>
                <a:cs typeface="Roboto"/>
              </a:rPr>
              <a:t>64.7% Research AI ($7.47)</a:t>
            </a:r>
          </a:p>
        </p:txBody>
      </p:sp>
      <p:sp>
        <p:nvSpPr>
          <p:cNvPr id="40" name="Shape 40"/>
          <p:cNvSpPr/>
          <p:nvPr/>
        </p:nvSpPr>
        <p:spPr>
          <a:xfrm>
            <a:off x="4191000" y="2781300"/>
            <a:ext cx="704850" cy="152400"/>
          </a:xfrm>
          <a:prstGeom prst="rect">
            <a:avLst/>
          </a:prstGeom>
          <a:solidFill>
            <a:srgbClr val="34A853"/>
          </a:solidFill>
          <a:ln>
            <a:noFill/>
          </a:ln>
          <a:effectLst/>
        </p:spPr>
        <p:txBody>
          <a:bodyPr rtlCol="0" anchor="ctr"/>
          <a:lstStyle/>
          <a:p>
            <a:pPr algn="ctr"/>
          </a:p>
        </p:txBody>
      </p:sp>
      <p:sp>
        <p:nvSpPr>
          <p:cNvPr id="41" name="TextBox 41"/>
          <p:cNvSpPr txBox="1"/>
          <p:nvPr/>
        </p:nvSpPr>
        <p:spPr>
          <a:xfrm>
            <a:off x="4241800" y="2794000"/>
            <a:ext cx="628650" cy="127000"/>
          </a:xfrm>
          <a:prstGeom prst="rect">
            <a:avLst/>
          </a:prstGeom>
          <a:noFill/>
        </p:spPr>
        <p:txBody>
          <a:bodyPr wrap="square" anchor="t" lIns="0" rIns="0" tIns="0" bIns="0"/>
          <a:lstStyle/>
          <a:p>
            <a:pPr algn="l">
              <a:lnSpc>
                <a:spcPct val="120000"/>
              </a:lnSpc>
            </a:pPr>
            <a:r>
              <a:rPr lang="en-US" sz="800" b="1" dirty="0">
                <a:solidFill>
                  <a:srgbClr val="FFFFFF"/>
                </a:solidFill>
                <a:latin typeface="Roboto"/>
                <a:ea typeface="Roboto"/>
                <a:cs typeface="Roboto"/>
              </a:rPr>
              <a:t>12.7% Memory</a:t>
            </a:r>
          </a:p>
        </p:txBody>
      </p:sp>
      <p:sp>
        <p:nvSpPr>
          <p:cNvPr id="42" name="Shape 42"/>
          <p:cNvSpPr/>
          <p:nvPr/>
        </p:nvSpPr>
        <p:spPr>
          <a:xfrm>
            <a:off x="4895850" y="2781300"/>
            <a:ext cx="539750" cy="152400"/>
          </a:xfrm>
          <a:prstGeom prst="rect">
            <a:avLst/>
          </a:prstGeom>
          <a:solidFill>
            <a:srgbClr val="FBBC04"/>
          </a:solidFill>
          <a:ln>
            <a:noFill/>
          </a:ln>
          <a:effectLst/>
        </p:spPr>
        <p:txBody>
          <a:bodyPr rtlCol="0" anchor="ctr"/>
          <a:lstStyle/>
          <a:p>
            <a:pPr algn="ctr"/>
          </a:p>
        </p:txBody>
      </p:sp>
      <p:sp>
        <p:nvSpPr>
          <p:cNvPr id="43" name="Shape 43"/>
          <p:cNvSpPr/>
          <p:nvPr/>
        </p:nvSpPr>
        <p:spPr>
          <a:xfrm>
            <a:off x="5435600" y="2781300"/>
            <a:ext cx="431800" cy="152400"/>
          </a:xfrm>
          <a:prstGeom prst="rect">
            <a:avLst/>
          </a:prstGeom>
          <a:solidFill>
            <a:srgbClr val="EA4335"/>
          </a:solidFill>
          <a:ln>
            <a:noFill/>
          </a:ln>
          <a:effectLst/>
        </p:spPr>
        <p:txBody>
          <a:bodyPr rtlCol="0" anchor="ctr"/>
          <a:lstStyle/>
          <a:p>
            <a:pPr algn="ctr"/>
          </a:p>
        </p:txBody>
      </p:sp>
      <p:sp>
        <p:nvSpPr>
          <p:cNvPr id="44" name="Shape 44"/>
          <p:cNvSpPr/>
          <p:nvPr/>
        </p:nvSpPr>
        <p:spPr>
          <a:xfrm>
            <a:off x="5867400" y="2781300"/>
            <a:ext cx="279400" cy="152400"/>
          </a:xfrm>
          <a:prstGeom prst="rect">
            <a:avLst/>
          </a:prstGeom>
          <a:solidFill>
            <a:srgbClr val="5F6368"/>
          </a:solidFill>
          <a:ln>
            <a:noFill/>
          </a:ln>
          <a:effectLst/>
        </p:spPr>
        <p:txBody>
          <a:bodyPr rtlCol="0" anchor="ctr"/>
          <a:lstStyle/>
          <a:p>
            <a:pPr algn="ctr"/>
          </a:p>
        </p:txBody>
      </p:sp>
      <p:graphicFrame>
        <p:nvGraphicFramePr>
          <p:cNvPr id="45" name="Table 45"/>
          <p:cNvGraphicFramePr>
            <a:graphicFrameLocks noGrp="1"/>
          </p:cNvGraphicFramePr>
          <p:nvPr/>
        </p:nvGraphicFramePr>
        <p:xfrm>
          <a:off x="609600" y="2997200"/>
          <a:ext cx="5537200" cy="2082800"/>
        </p:xfrm>
        <a:graphic>
          <a:graphicData uri="http://schemas.openxmlformats.org/drawingml/2006/table">
            <a:tbl>
              <a:tblPr>
                <a:tableStyleId>{2D5ABB26-0587-4C30-8999-92F81FD0307C}</a:tableStyleId>
              </a:tblPr>
              <a:tblGrid>
                <a:gridCol w="1682750"/>
                <a:gridCol w="666750"/>
                <a:gridCol w="444500"/>
                <a:gridCol w="2743200"/>
              </a:tblGrid>
              <a:tr h="215900">
                <a:tc>
                  <a:txBody>
                    <a:bodyPr wrap="square"/>
                    <a:lstStyle/>
                    <a:p>
                      <a:pPr algn="l"/>
                      <a:r>
                        <a:rPr lang="en-US" sz="950" b="1" dirty="0">
                          <a:solidFill>
                            <a:srgbClr val="5F6368"/>
                          </a:solidFill>
                          <a:latin typeface="Roboto"/>
                          <a:ea typeface="Roboto"/>
                          <a:cs typeface="Roboto"/>
                        </a:rPr>
                        <a:t>System Module</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b="1" dirty="0">
                          <a:solidFill>
                            <a:srgbClr val="5F6368"/>
                          </a:solidFill>
                          <a:latin typeface="Roboto"/>
                          <a:ea typeface="Roboto"/>
                          <a:cs typeface="Roboto"/>
                        </a:rPr>
                        <a:t>Per 1k Tickets</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b="1" dirty="0">
                          <a:solidFill>
                            <a:srgbClr val="5F6368"/>
                          </a:solidFill>
                          <a:latin typeface="Roboto"/>
                          <a:ea typeface="Roboto"/>
                          <a:cs typeface="Roboto"/>
                        </a:rPr>
                        <a:t>Share</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b="1" dirty="0">
                          <a:solidFill>
                            <a:srgbClr val="5F6368"/>
                          </a:solidFill>
                          <a:latin typeface="Roboto"/>
                          <a:ea typeface="Roboto"/>
                          <a:cs typeface="Roboto"/>
                        </a:rPr>
                        <a:t>Latest Evaluation Activity &amp; Role</a:t>
                      </a:r>
                    </a:p>
                  </a:txBody>
                  <a:tcPr marL="63500" marR="63500" marT="38100" marB="38100" anchor="ctr">
                    <a:lnL w="0">
                      <a:noFill/>
                    </a:lnL>
                    <a:lnR w="0">
                      <a:noFill/>
                    </a:lnR>
                    <a:lnT w="0">
                      <a:noFill/>
                    </a:lnT>
                    <a:lnB w="9525">
                      <a:solidFill>
                        <a:srgbClr val="DADCE0"/>
                      </a:solidFill>
                    </a:lnB>
                    <a:solidFill>
                      <a:srgbClr val="F8F9FA"/>
                    </a:solidFill>
                  </a:tcPr>
                </a:tc>
              </a:tr>
              <a:tr h="266700">
                <a:tc>
                  <a:txBody>
                    <a:bodyPr wrap="square"/>
                    <a:lstStyle/>
                    <a:p>
                      <a:pPr algn="l"/>
                      <a:r>
                        <a:rPr lang="en-US" sz="950" b="1" dirty="0">
                          <a:solidFill>
                            <a:srgbClr val="202124"/>
                          </a:solidFill>
                          <a:latin typeface="Roboto"/>
                          <a:ea typeface="Roboto"/>
                          <a:cs typeface="Roboto"/>
                        </a:rPr>
                        <a:t>1. Policy Research AI (Gemini 2.5 Pro)</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b="1" dirty="0">
                          <a:solidFill>
                            <a:srgbClr val="174EA6"/>
                          </a:solidFill>
                          <a:latin typeface="Roboto"/>
                          <a:ea typeface="Roboto"/>
                          <a:cs typeface="Roboto"/>
                        </a:rPr>
                        <a:t>$7.47</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b="1" dirty="0">
                          <a:solidFill>
                            <a:srgbClr val="174EA6"/>
                          </a:solidFill>
                          <a:latin typeface="Roboto"/>
                          <a:ea typeface="Roboto"/>
                          <a:cs typeface="Roboto"/>
                        </a:rPr>
                        <a:t>64.7%</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l"/>
                      <a:r>
                        <a:rPr lang="en-US" sz="950" dirty="0">
                          <a:solidFill>
                            <a:srgbClr val="5F6368"/>
                          </a:solidFill>
                          <a:latin typeface="Roboto"/>
                          <a:ea typeface="Roboto"/>
                          <a:cs typeface="Roboto"/>
                        </a:rPr>
                        <a:t>84 replies ($0.0089/call; 35% input cached at 90% off)</a:t>
                      </a:r>
                    </a:p>
                  </a:txBody>
                  <a:tcPr marL="63500" marR="63500" marT="38100" marB="38100" anchor="ctr">
                    <a:lnL w="0">
                      <a:noFill/>
                    </a:lnL>
                    <a:lnR w="0">
                      <a:noFill/>
                    </a:lnR>
                    <a:lnT w="0">
                      <a:noFill/>
                    </a:lnT>
                    <a:lnB w="9525">
                      <a:solidFill>
                        <a:srgbClr val="DADCE0"/>
                      </a:solidFill>
                    </a:lnB>
                    <a:solidFill>
                      <a:srgbClr val="FFFFFF"/>
                    </a:solidFill>
                  </a:tcPr>
                </a:tc>
              </a:tr>
              <a:tr h="266700">
                <a:tc>
                  <a:txBody>
                    <a:bodyPr wrap="square"/>
                    <a:lstStyle/>
                    <a:p>
                      <a:pPr algn="l"/>
                      <a:r>
                        <a:rPr lang="en-US" sz="950" dirty="0">
                          <a:solidFill>
                            <a:srgbClr val="202124"/>
                          </a:solidFill>
                          <a:latin typeface="Roboto"/>
                          <a:ea typeface="Roboto"/>
                          <a:cs typeface="Roboto"/>
                        </a:rPr>
                        <a:t>2. Conversation Memory (Sessions)</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dirty="0">
                          <a:solidFill>
                            <a:srgbClr val="202124"/>
                          </a:solidFill>
                          <a:latin typeface="Roboto"/>
                          <a:ea typeface="Roboto"/>
                          <a:cs typeface="Roboto"/>
                        </a:rPr>
                        <a:t>$1.47</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dirty="0">
                          <a:solidFill>
                            <a:srgbClr val="5F6368"/>
                          </a:solidFill>
                          <a:latin typeface="Roboto"/>
                          <a:ea typeface="Roboto"/>
                          <a:cs typeface="Roboto"/>
                        </a:rPr>
                        <a:t>12.7%</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dirty="0">
                          <a:solidFill>
                            <a:srgbClr val="5F6368"/>
                          </a:solidFill>
                          <a:latin typeface="Roboto"/>
                          <a:ea typeface="Roboto"/>
                          <a:cs typeface="Roboto"/>
                        </a:rPr>
                        <a:t>84 FAQ turns (~7 memory events/turn at $0.25/1k)</a:t>
                      </a:r>
                    </a:p>
                  </a:txBody>
                  <a:tcPr marL="63500" marR="63500" marT="38100" marB="38100" anchor="ctr">
                    <a:lnL w="0">
                      <a:noFill/>
                    </a:lnL>
                    <a:lnR w="0">
                      <a:noFill/>
                    </a:lnR>
                    <a:lnT w="0">
                      <a:noFill/>
                    </a:lnT>
                    <a:lnB w="9525">
                      <a:solidFill>
                        <a:srgbClr val="DADCE0"/>
                      </a:solidFill>
                    </a:lnB>
                    <a:solidFill>
                      <a:srgbClr val="F8F9FA"/>
                    </a:solidFill>
                  </a:tcPr>
                </a:tc>
              </a:tr>
              <a:tr h="266700">
                <a:tc>
                  <a:txBody>
                    <a:bodyPr wrap="square"/>
                    <a:lstStyle/>
                    <a:p>
                      <a:pPr algn="l"/>
                      <a:r>
                        <a:rPr lang="en-US" sz="950" dirty="0">
                          <a:solidFill>
                            <a:srgbClr val="202124"/>
                          </a:solidFill>
                          <a:latin typeface="Roboto"/>
                          <a:ea typeface="Roboto"/>
                          <a:cs typeface="Roboto"/>
                        </a:rPr>
                        <a:t>3. Knowledge Search (100k Records)</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dirty="0">
                          <a:solidFill>
                            <a:srgbClr val="202124"/>
                          </a:solidFill>
                          <a:latin typeface="Roboto"/>
                          <a:ea typeface="Roboto"/>
                          <a:cs typeface="Roboto"/>
                        </a:rPr>
                        <a:t>$1.13</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dirty="0">
                          <a:solidFill>
                            <a:srgbClr val="5F6368"/>
                          </a:solidFill>
                          <a:latin typeface="Roboto"/>
                          <a:ea typeface="Roboto"/>
                          <a:cs typeface="Roboto"/>
                        </a:rPr>
                        <a:t>9.8%</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l"/>
                      <a:r>
                        <a:rPr lang="en-US" sz="950" dirty="0">
                          <a:solidFill>
                            <a:srgbClr val="5F6368"/>
                          </a:solidFill>
                          <a:latin typeface="Roboto"/>
                          <a:ea typeface="Roboto"/>
                          <a:cs typeface="Roboto"/>
                        </a:rPr>
                        <a:t>75 searches at $1.50/1k (skipped on urgent/order/vague)</a:t>
                      </a:r>
                    </a:p>
                  </a:txBody>
                  <a:tcPr marL="63500" marR="63500" marT="38100" marB="38100" anchor="ctr">
                    <a:lnL w="0">
                      <a:noFill/>
                    </a:lnL>
                    <a:lnR w="0">
                      <a:noFill/>
                    </a:lnR>
                    <a:lnT w="0">
                      <a:noFill/>
                    </a:lnT>
                    <a:lnB w="9525">
                      <a:solidFill>
                        <a:srgbClr val="DADCE0"/>
                      </a:solidFill>
                    </a:lnB>
                    <a:solidFill>
                      <a:srgbClr val="FFFFFF"/>
                    </a:solidFill>
                  </a:tcPr>
                </a:tc>
              </a:tr>
              <a:tr h="266700">
                <a:tc>
                  <a:txBody>
                    <a:bodyPr wrap="square"/>
                    <a:lstStyle/>
                    <a:p>
                      <a:pPr algn="l"/>
                      <a:r>
                        <a:rPr lang="en-US" sz="950" dirty="0">
                          <a:solidFill>
                            <a:srgbClr val="202124"/>
                          </a:solidFill>
                          <a:latin typeface="Roboto"/>
                          <a:ea typeface="Roboto"/>
                          <a:cs typeface="Roboto"/>
                        </a:rPr>
                        <a:t>4. Active AI Server Compute</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dirty="0">
                          <a:solidFill>
                            <a:srgbClr val="202124"/>
                          </a:solidFill>
                          <a:latin typeface="Roboto"/>
                          <a:ea typeface="Roboto"/>
                          <a:cs typeface="Roboto"/>
                        </a:rPr>
                        <a:t>$0.90</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dirty="0">
                          <a:solidFill>
                            <a:srgbClr val="5F6368"/>
                          </a:solidFill>
                          <a:latin typeface="Roboto"/>
                          <a:ea typeface="Roboto"/>
                          <a:cs typeface="Roboto"/>
                        </a:rPr>
                        <a:t>7.8%</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dirty="0">
                          <a:solidFill>
                            <a:srgbClr val="5F6368"/>
                          </a:solidFill>
                          <a:latin typeface="Roboto"/>
                          <a:ea typeface="Roboto"/>
                          <a:cs typeface="Roboto"/>
                        </a:rPr>
                        <a:t>~9.0 active seconds per ticket (scales to $0 when idle)</a:t>
                      </a:r>
                    </a:p>
                  </a:txBody>
                  <a:tcPr marL="63500" marR="63500" marT="38100" marB="38100" anchor="ctr">
                    <a:lnL w="0">
                      <a:noFill/>
                    </a:lnL>
                    <a:lnR w="0">
                      <a:noFill/>
                    </a:lnR>
                    <a:lnT w="0">
                      <a:noFill/>
                    </a:lnT>
                    <a:lnB w="9525">
                      <a:solidFill>
                        <a:srgbClr val="DADCE0"/>
                      </a:solidFill>
                    </a:lnB>
                    <a:solidFill>
                      <a:srgbClr val="F8F9FA"/>
                    </a:solidFill>
                  </a:tcPr>
                </a:tc>
              </a:tr>
              <a:tr h="266700">
                <a:tc>
                  <a:txBody>
                    <a:bodyPr wrap="square"/>
                    <a:lstStyle/>
                    <a:p>
                      <a:pPr algn="l"/>
                      <a:r>
                        <a:rPr lang="en-US" sz="950" dirty="0">
                          <a:solidFill>
                            <a:srgbClr val="202124"/>
                          </a:solidFill>
                          <a:latin typeface="Roboto"/>
                          <a:ea typeface="Roboto"/>
                          <a:cs typeface="Roboto"/>
                        </a:rPr>
                        <a:t>5. Central Coordinator &amp; Web Portal</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dirty="0">
                          <a:solidFill>
                            <a:srgbClr val="202124"/>
                          </a:solidFill>
                          <a:latin typeface="Roboto"/>
                          <a:ea typeface="Roboto"/>
                          <a:cs typeface="Roboto"/>
                        </a:rPr>
                        <a:t>$0.30</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dirty="0">
                          <a:solidFill>
                            <a:srgbClr val="5F6368"/>
                          </a:solidFill>
                          <a:latin typeface="Roboto"/>
                          <a:ea typeface="Roboto"/>
                          <a:cs typeface="Roboto"/>
                        </a:rPr>
                        <a:t>2.6%</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l"/>
                      <a:r>
                        <a:rPr lang="en-US" sz="950" dirty="0">
                          <a:solidFill>
                            <a:srgbClr val="5F6368"/>
                          </a:solidFill>
                          <a:latin typeface="Roboto"/>
                          <a:ea typeface="Roboto"/>
                          <a:cs typeface="Roboto"/>
                        </a:rPr>
                        <a:t>110 message turns + audit logging &amp; performance traces</a:t>
                      </a:r>
                    </a:p>
                  </a:txBody>
                  <a:tcPr marL="63500" marR="63500" marT="38100" marB="38100" anchor="ctr">
                    <a:lnL w="0">
                      <a:noFill/>
                    </a:lnL>
                    <a:lnR w="0">
                      <a:noFill/>
                    </a:lnR>
                    <a:lnT w="0">
                      <a:noFill/>
                    </a:lnT>
                    <a:lnB w="9525">
                      <a:solidFill>
                        <a:srgbClr val="DADCE0"/>
                      </a:solidFill>
                    </a:lnB>
                    <a:solidFill>
                      <a:srgbClr val="FFFFFF"/>
                    </a:solidFill>
                  </a:tcPr>
                </a:tc>
              </a:tr>
              <a:tr h="266700">
                <a:tc>
                  <a:txBody>
                    <a:bodyPr wrap="square"/>
                    <a:lstStyle/>
                    <a:p>
                      <a:pPr algn="l"/>
                      <a:r>
                        <a:rPr lang="en-US" sz="950" dirty="0">
                          <a:solidFill>
                            <a:srgbClr val="202124"/>
                          </a:solidFill>
                          <a:latin typeface="Roboto"/>
                          <a:ea typeface="Roboto"/>
                          <a:cs typeface="Roboto"/>
                        </a:rPr>
                        <a:t>6. Mood Triage AI (Gemini 2.5 Flash)</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dirty="0">
                          <a:solidFill>
                            <a:srgbClr val="202124"/>
                          </a:solidFill>
                          <a:latin typeface="Roboto"/>
                          <a:ea typeface="Roboto"/>
                          <a:cs typeface="Roboto"/>
                        </a:rPr>
                        <a:t>$0.28</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dirty="0">
                          <a:solidFill>
                            <a:srgbClr val="5F6368"/>
                          </a:solidFill>
                          <a:latin typeface="Roboto"/>
                          <a:ea typeface="Roboto"/>
                          <a:cs typeface="Roboto"/>
                        </a:rPr>
                        <a:t>2.4%</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l"/>
                      <a:r>
                        <a:rPr lang="en-US" sz="950" dirty="0">
                          <a:solidFill>
                            <a:srgbClr val="5F6368"/>
                          </a:solidFill>
                          <a:latin typeface="Roboto"/>
                          <a:ea typeface="Roboto"/>
                          <a:cs typeface="Roboto"/>
                        </a:rPr>
                        <a:t>109 mood &amp; Order ID checks (~2.4s, $0.00026/check)</a:t>
                      </a:r>
                    </a:p>
                  </a:txBody>
                  <a:tcPr marL="63500" marR="63500" marT="38100" marB="38100" anchor="ctr">
                    <a:lnL w="0">
                      <a:noFill/>
                    </a:lnL>
                    <a:lnR w="0">
                      <a:noFill/>
                    </a:lnR>
                    <a:lnT w="0">
                      <a:noFill/>
                    </a:lnT>
                    <a:lnB w="9525">
                      <a:solidFill>
                        <a:srgbClr val="DADCE0"/>
                      </a:solidFill>
                    </a:lnB>
                    <a:solidFill>
                      <a:srgbClr val="F8F9FA"/>
                    </a:solidFill>
                  </a:tcPr>
                </a:tc>
              </a:tr>
              <a:tr h="266700">
                <a:tc>
                  <a:txBody>
                    <a:bodyPr wrap="square"/>
                    <a:lstStyle/>
                    <a:p>
                      <a:pPr algn="l"/>
                      <a:r>
                        <a:rPr lang="en-US" sz="950" dirty="0">
                          <a:solidFill>
                            <a:srgbClr val="202124"/>
                          </a:solidFill>
                          <a:latin typeface="Roboto"/>
                          <a:ea typeface="Roboto"/>
                          <a:cs typeface="Roboto"/>
                        </a:rPr>
                        <a:t>7. Privacy Shield (Data Masking)</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b="1" dirty="0">
                          <a:solidFill>
                            <a:srgbClr val="137333"/>
                          </a:solidFill>
                          <a:latin typeface="Roboto"/>
                          <a:ea typeface="Roboto"/>
                          <a:cs typeface="Roboto"/>
                        </a:rPr>
                        <a:t>$0.01</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dirty="0">
                          <a:solidFill>
                            <a:srgbClr val="5F6368"/>
                          </a:solidFill>
                          <a:latin typeface="Roboto"/>
                          <a:ea typeface="Roboto"/>
                          <a:cs typeface="Roboto"/>
                        </a:rPr>
                        <a:t>&lt;0.1%</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l"/>
                      <a:r>
                        <a:rPr lang="en-US" sz="950" dirty="0">
                          <a:solidFill>
                            <a:srgbClr val="5F6368"/>
                          </a:solidFill>
                          <a:latin typeface="Roboto"/>
                          <a:ea typeface="Roboto"/>
                          <a:cs typeface="Roboto"/>
                        </a:rPr>
                        <a:t>110 messages scanned (~169 ms; first 1 GB/mo free)</a:t>
                      </a:r>
                    </a:p>
                  </a:txBody>
                  <a:tcPr marL="63500" marR="63500" marT="38100" marB="38100" anchor="ctr">
                    <a:lnL w="0">
                      <a:noFill/>
                    </a:lnL>
                    <a:lnR w="0">
                      <a:noFill/>
                    </a:lnR>
                    <a:lnT w="0">
                      <a:noFill/>
                    </a:lnT>
                    <a:lnB w="9525">
                      <a:solidFill>
                        <a:srgbClr val="DADCE0"/>
                      </a:solidFill>
                    </a:lnB>
                    <a:solidFill>
                      <a:srgbClr val="FFFFFF"/>
                    </a:solidFill>
                  </a:tcPr>
                </a:tc>
              </a:tr>
            </a:tbl>
          </a:graphicData>
        </a:graphic>
      </p:graphicFrame>
      <p:sp>
        <p:nvSpPr>
          <p:cNvPr id="46" name="Shape 46"/>
          <p:cNvSpPr/>
          <p:nvPr/>
        </p:nvSpPr>
        <p:spPr>
          <a:xfrm>
            <a:off x="609600" y="5181600"/>
            <a:ext cx="5537200" cy="1054100"/>
          </a:xfrm>
          <a:prstGeom prst="roundRect">
            <a:avLst>
              <a:gd name="adj" fmla="val 4000"/>
            </a:avLst>
          </a:prstGeom>
          <a:solidFill>
            <a:srgbClr val="E6F4EA"/>
          </a:solidFill>
          <a:ln w="12700">
            <a:solidFill>
              <a:srgbClr val="34A853"/>
            </a:solidFill>
          </a:ln>
          <a:effectLst/>
        </p:spPr>
        <p:txBody>
          <a:bodyPr rtlCol="0" anchor="ctr"/>
          <a:lstStyle/>
          <a:p>
            <a:pPr algn="ctr"/>
          </a:p>
        </p:txBody>
      </p:sp>
      <p:sp>
        <p:nvSpPr>
          <p:cNvPr id="47" name="TextBox 47"/>
          <p:cNvSpPr txBox="1"/>
          <p:nvPr/>
        </p:nvSpPr>
        <p:spPr>
          <a:xfrm>
            <a:off x="723900" y="5257800"/>
            <a:ext cx="5308600" cy="139700"/>
          </a:xfrm>
          <a:prstGeom prst="rect">
            <a:avLst/>
          </a:prstGeom>
          <a:noFill/>
        </p:spPr>
        <p:txBody>
          <a:bodyPr wrap="square" anchor="t" lIns="0" rIns="0" tIns="0" bIns="0"/>
          <a:lstStyle/>
          <a:p>
            <a:pPr algn="l">
              <a:lnSpc>
                <a:spcPct val="120000"/>
              </a:lnSpc>
            </a:pPr>
            <a:r>
              <a:rPr lang="en-US" sz="1000" b="1" dirty="0">
                <a:solidFill>
                  <a:srgbClr val="137333"/>
                </a:solidFill>
                <a:latin typeface="Roboto"/>
                <a:ea typeface="Roboto"/>
                <a:cs typeface="Roboto"/>
              </a:rPr>
              <a:t>MEASURED EVAL COST BY TICKET CATEGORY (AI + SEARCH)</a:t>
            </a:r>
          </a:p>
        </p:txBody>
      </p:sp>
      <p:sp>
        <p:nvSpPr>
          <p:cNvPr id="48" name="TextBox 48"/>
          <p:cNvSpPr txBox="1"/>
          <p:nvPr/>
        </p:nvSpPr>
        <p:spPr>
          <a:xfrm>
            <a:off x="723900" y="5410200"/>
            <a:ext cx="5308600" cy="774700"/>
          </a:xfrm>
          <a:prstGeom prst="rect">
            <a:avLst/>
          </a:prstGeom>
          <a:noFill/>
        </p:spPr>
        <p:txBody>
          <a:bodyPr wrap="square" anchor="t" lIns="0" rIns="0" tIns="0" bIns="0"/>
          <a:lstStyle/>
          <a:p>
            <a:pPr algn="l">
              <a:lnSpc>
                <a:spcPct val="120000"/>
              </a:lnSpc>
            </a:pPr>
            <a:r>
              <a:rPr lang="en-US" sz="950" dirty="0">
                <a:solidFill>
                  <a:srgbClr val="202124"/>
                </a:solidFill>
                <a:latin typeface="Roboto"/>
                <a:ea typeface="Roboto"/>
                <a:cs typeface="Roboto"/>
              </a:rPr>
              <a:t>• Urgent Escalation (25% of test): $0.27 / 1k tickets (0.03¢/ticket) — only runs Triage AI; skips Research AI &amp; Search.
• Vague Prompt Clarification (15%): $8.10 / 1k (0.81¢/ticket)  |  Order Status Lookup (5%): $9.67 / 1k (0.97¢/ticket).
• Single-Turn Policy FAQ (45%): $11.95 / 1k (1.20¢/ticket)  |  Multi-Turn 2-Message Ticket (10%): $17.32 / 1k (1.73¢/ticket).</a:t>
            </a:r>
          </a:p>
        </p:txBody>
      </p:sp>
      <p:sp>
        <p:nvSpPr>
          <p:cNvPr id="49" name="Shape 49"/>
          <p:cNvSpPr/>
          <p:nvPr/>
        </p:nvSpPr>
        <p:spPr>
          <a:xfrm>
            <a:off x="6451600" y="2438400"/>
            <a:ext cx="5283200" cy="39243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50" name="Shape 50"/>
          <p:cNvSpPr/>
          <p:nvPr/>
        </p:nvSpPr>
        <p:spPr>
          <a:xfrm>
            <a:off x="6451600" y="2438400"/>
            <a:ext cx="38100" cy="3924300"/>
          </a:xfrm>
          <a:prstGeom prst="rect">
            <a:avLst/>
          </a:prstGeom>
          <a:solidFill>
            <a:srgbClr val="137333"/>
          </a:solidFill>
          <a:ln>
            <a:noFill/>
          </a:ln>
          <a:effectLst/>
        </p:spPr>
        <p:txBody>
          <a:bodyPr rtlCol="0" anchor="ctr"/>
          <a:lstStyle/>
          <a:p>
            <a:pPr algn="ctr"/>
          </a:p>
        </p:txBody>
      </p:sp>
      <p:sp>
        <p:nvSpPr>
          <p:cNvPr id="51" name="TextBox 51"/>
          <p:cNvSpPr txBox="1"/>
          <p:nvPr/>
        </p:nvSpPr>
        <p:spPr>
          <a:xfrm>
            <a:off x="6604000" y="2565400"/>
            <a:ext cx="4978400" cy="177800"/>
          </a:xfrm>
          <a:prstGeom prst="rect">
            <a:avLst/>
          </a:prstGeom>
          <a:noFill/>
        </p:spPr>
        <p:txBody>
          <a:bodyPr wrap="square" anchor="t" lIns="0" rIns="0" tIns="0" bIns="0"/>
          <a:lstStyle/>
          <a:p>
            <a:pPr algn="l">
              <a:lnSpc>
                <a:spcPct val="120000"/>
              </a:lnSpc>
            </a:pPr>
            <a:r>
              <a:rPr lang="en-US" sz="1200" b="1" dirty="0">
                <a:solidFill>
                  <a:srgbClr val="202124"/>
                </a:solidFill>
                <a:latin typeface="Roboto"/>
                <a:ea typeface="Roboto"/>
                <a:cs typeface="Roboto"/>
              </a:rPr>
              <a:t>MONTHLY TOTAL BUDGET BY VOLUME (EVAL ACTUALS VS. CEILING)</a:t>
            </a:r>
          </a:p>
        </p:txBody>
      </p:sp>
      <p:sp>
        <p:nvSpPr>
          <p:cNvPr id="52" name="TextBox 52"/>
          <p:cNvSpPr txBox="1"/>
          <p:nvPr/>
        </p:nvSpPr>
        <p:spPr>
          <a:xfrm>
            <a:off x="6604000" y="2755900"/>
            <a:ext cx="4978400" cy="152400"/>
          </a:xfrm>
          <a:prstGeom prst="rect">
            <a:avLst/>
          </a:prstGeom>
          <a:noFill/>
        </p:spPr>
        <p:txBody>
          <a:bodyPr wrap="square" anchor="t" lIns="0" rIns="0" tIns="0" bIns="0"/>
          <a:lstStyle/>
          <a:p>
            <a:pPr algn="l">
              <a:lnSpc>
                <a:spcPct val="120000"/>
              </a:lnSpc>
            </a:pPr>
            <a:r>
              <a:rPr lang="en-US" sz="950" dirty="0">
                <a:solidFill>
                  <a:srgbClr val="5F6368"/>
                </a:solidFill>
                <a:latin typeface="Roboto"/>
                <a:ea typeface="Roboto"/>
                <a:cs typeface="Roboto"/>
              </a:rPr>
              <a:t>Showing expected monthly bill from latest evaluation ($11.55/1k) alongside our conservative 3-turn ceiling ($75/1k):</a:t>
            </a:r>
          </a:p>
        </p:txBody>
      </p:sp>
      <p:graphicFrame>
        <p:nvGraphicFramePr>
          <p:cNvPr id="53" name="Table 53"/>
          <p:cNvGraphicFramePr>
            <a:graphicFrameLocks noGrp="1"/>
          </p:cNvGraphicFramePr>
          <p:nvPr/>
        </p:nvGraphicFramePr>
        <p:xfrm>
          <a:off x="6604000" y="2959100"/>
          <a:ext cx="4978400" cy="1625600"/>
        </p:xfrm>
        <a:graphic>
          <a:graphicData uri="http://schemas.openxmlformats.org/drawingml/2006/table">
            <a:tbl>
              <a:tblPr>
                <a:tableStyleId>{2D5ABB26-0587-4C30-8999-92F81FD0307C}</a:tableStyleId>
              </a:tblPr>
              <a:tblGrid>
                <a:gridCol w="1047750"/>
                <a:gridCol w="698500"/>
                <a:gridCol w="730250"/>
                <a:gridCol w="1295400"/>
                <a:gridCol w="1206500"/>
              </a:tblGrid>
              <a:tr h="254000">
                <a:tc>
                  <a:txBody>
                    <a:bodyPr wrap="square"/>
                    <a:lstStyle/>
                    <a:p>
                      <a:pPr algn="l"/>
                      <a:r>
                        <a:rPr lang="en-US" sz="950" b="1" dirty="0">
                          <a:solidFill>
                            <a:srgbClr val="5F6368"/>
                          </a:solidFill>
                          <a:latin typeface="Roboto"/>
                          <a:ea typeface="Roboto"/>
                          <a:cs typeface="Roboto"/>
                        </a:rPr>
                        <a:t>Growth Stage</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b="1" dirty="0">
                          <a:solidFill>
                            <a:srgbClr val="5F6368"/>
                          </a:solidFill>
                          <a:latin typeface="Roboto"/>
                          <a:ea typeface="Roboto"/>
                          <a:cs typeface="Roboto"/>
                        </a:rPr>
                        <a:t>Volume / Mo</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b="1" dirty="0">
                          <a:solidFill>
                            <a:srgbClr val="5F6368"/>
                          </a:solidFill>
                          <a:latin typeface="Roboto"/>
                          <a:ea typeface="Roboto"/>
                          <a:cs typeface="Roboto"/>
                        </a:rPr>
                        <a:t>Fixed Base</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b="1" dirty="0">
                          <a:solidFill>
                            <a:srgbClr val="5F6368"/>
                          </a:solidFill>
                          <a:latin typeface="Roboto"/>
                          <a:ea typeface="Roboto"/>
                          <a:cs typeface="Roboto"/>
                        </a:rPr>
                        <a:t>Expected Total (Latest Eval)</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b="1" dirty="0">
                          <a:solidFill>
                            <a:srgbClr val="5F6368"/>
                          </a:solidFill>
                          <a:latin typeface="Roboto"/>
                          <a:ea typeface="Roboto"/>
                          <a:cs typeface="Roboto"/>
                        </a:rPr>
                        <a:t>Conservative 3-Turn Ceiling</a:t>
                      </a:r>
                    </a:p>
                  </a:txBody>
                  <a:tcPr marL="63500" marR="63500" marT="38100" marB="38100" anchor="ctr">
                    <a:lnL w="0">
                      <a:noFill/>
                    </a:lnL>
                    <a:lnR w="0">
                      <a:noFill/>
                    </a:lnR>
                    <a:lnT w="0">
                      <a:noFill/>
                    </a:lnT>
                    <a:lnB w="9525">
                      <a:solidFill>
                        <a:srgbClr val="DADCE0"/>
                      </a:solidFill>
                    </a:lnB>
                    <a:solidFill>
                      <a:srgbClr val="F8F9FA"/>
                    </a:solidFill>
                  </a:tcPr>
                </a:tc>
              </a:tr>
              <a:tr h="342900">
                <a:tc>
                  <a:txBody>
                    <a:bodyPr wrap="square"/>
                    <a:lstStyle/>
                    <a:p>
                      <a:pPr algn="l"/>
                      <a:r>
                        <a:rPr lang="en-US" sz="950" b="1" dirty="0">
                          <a:solidFill>
                            <a:srgbClr val="202124"/>
                          </a:solidFill>
                          <a:latin typeface="Roboto"/>
                          <a:ea typeface="Roboto"/>
                          <a:cs typeface="Roboto"/>
                        </a:rPr>
                        <a:t>1. Pilot / Prototype</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dirty="0">
                          <a:solidFill>
                            <a:srgbClr val="202124"/>
                          </a:solidFill>
                          <a:latin typeface="Roboto"/>
                          <a:ea typeface="Roboto"/>
                          <a:cs typeface="Roboto"/>
                        </a:rPr>
                        <a:t>1,000</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dirty="0">
                          <a:solidFill>
                            <a:srgbClr val="5F6368"/>
                          </a:solidFill>
                          <a:latin typeface="Roboto"/>
                          <a:ea typeface="Roboto"/>
                          <a:cs typeface="Roboto"/>
                        </a:rPr>
                        <a:t>$29 / mo</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b="1" dirty="0">
                          <a:solidFill>
                            <a:srgbClr val="137333"/>
                          </a:solidFill>
                          <a:latin typeface="Roboto"/>
                          <a:ea typeface="Roboto"/>
                          <a:cs typeface="Roboto"/>
                        </a:rPr>
                        <a:t>~$41 / month</a:t>
                      </a:r>
                    </a:p>
                  </a:txBody>
                  <a:tcPr marL="63500" marR="63500" marT="38100" marB="38100" anchor="ctr">
                    <a:lnL w="0">
                      <a:noFill/>
                    </a:lnL>
                    <a:lnR w="0">
                      <a:noFill/>
                    </a:lnR>
                    <a:lnT w="0">
                      <a:noFill/>
                    </a:lnT>
                    <a:lnB w="9525">
                      <a:solidFill>
                        <a:srgbClr val="DADCE0"/>
                      </a:solidFill>
                    </a:lnB>
                    <a:solidFill>
                      <a:srgbClr val="E6F4EA"/>
                    </a:solidFill>
                  </a:tcPr>
                </a:tc>
                <a:tc>
                  <a:txBody>
                    <a:bodyPr wrap="square"/>
                    <a:lstStyle/>
                    <a:p>
                      <a:pPr algn="r"/>
                      <a:r>
                        <a:rPr lang="en-US" sz="950" dirty="0">
                          <a:solidFill>
                            <a:srgbClr val="5F6368"/>
                          </a:solidFill>
                          <a:latin typeface="Roboto"/>
                          <a:ea typeface="Roboto"/>
                          <a:cs typeface="Roboto"/>
                        </a:rPr>
                        <a:t>~$105 / month</a:t>
                      </a:r>
                    </a:p>
                  </a:txBody>
                  <a:tcPr marL="63500" marR="63500" marT="38100" marB="38100" anchor="ctr">
                    <a:lnL w="0">
                      <a:noFill/>
                    </a:lnL>
                    <a:lnR w="0">
                      <a:noFill/>
                    </a:lnR>
                    <a:lnT w="0">
                      <a:noFill/>
                    </a:lnT>
                    <a:lnB w="9525">
                      <a:solidFill>
                        <a:srgbClr val="DADCE0"/>
                      </a:solidFill>
                    </a:lnB>
                    <a:solidFill>
                      <a:srgbClr val="FFFFFF"/>
                    </a:solidFill>
                  </a:tcPr>
                </a:tc>
              </a:tr>
              <a:tr h="342900">
                <a:tc>
                  <a:txBody>
                    <a:bodyPr wrap="square"/>
                    <a:lstStyle/>
                    <a:p>
                      <a:pPr algn="l"/>
                      <a:r>
                        <a:rPr lang="en-US" sz="950" b="1" dirty="0">
                          <a:solidFill>
                            <a:srgbClr val="202124"/>
                          </a:solidFill>
                          <a:latin typeface="Roboto"/>
                          <a:ea typeface="Roboto"/>
                          <a:cs typeface="Roboto"/>
                        </a:rPr>
                        <a:t>2. Initial Launch</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dirty="0">
                          <a:solidFill>
                            <a:srgbClr val="202124"/>
                          </a:solidFill>
                          <a:latin typeface="Roboto"/>
                          <a:ea typeface="Roboto"/>
                          <a:cs typeface="Roboto"/>
                        </a:rPr>
                        <a:t>10,000</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dirty="0">
                          <a:solidFill>
                            <a:srgbClr val="5F6368"/>
                          </a:solidFill>
                          <a:latin typeface="Roboto"/>
                          <a:ea typeface="Roboto"/>
                          <a:cs typeface="Roboto"/>
                        </a:rPr>
                        <a:t>$29 / mo</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b="1" dirty="0">
                          <a:solidFill>
                            <a:srgbClr val="174EA6"/>
                          </a:solidFill>
                          <a:latin typeface="Roboto"/>
                          <a:ea typeface="Roboto"/>
                          <a:cs typeface="Roboto"/>
                        </a:rPr>
                        <a:t>~$145 / month</a:t>
                      </a:r>
                    </a:p>
                  </a:txBody>
                  <a:tcPr marL="63500" marR="63500" marT="38100" marB="38100" anchor="ctr">
                    <a:lnL w="0">
                      <a:noFill/>
                    </a:lnL>
                    <a:lnR w="0">
                      <a:noFill/>
                    </a:lnR>
                    <a:lnT w="0">
                      <a:noFill/>
                    </a:lnT>
                    <a:lnB w="9525">
                      <a:solidFill>
                        <a:srgbClr val="DADCE0"/>
                      </a:solidFill>
                    </a:lnB>
                    <a:solidFill>
                      <a:srgbClr val="E8F0FE"/>
                    </a:solidFill>
                  </a:tcPr>
                </a:tc>
                <a:tc>
                  <a:txBody>
                    <a:bodyPr wrap="square"/>
                    <a:lstStyle/>
                    <a:p>
                      <a:pPr algn="r"/>
                      <a:r>
                        <a:rPr lang="en-US" sz="950" dirty="0">
                          <a:solidFill>
                            <a:srgbClr val="5F6368"/>
                          </a:solidFill>
                          <a:latin typeface="Roboto"/>
                          <a:ea typeface="Roboto"/>
                          <a:cs typeface="Roboto"/>
                        </a:rPr>
                        <a:t>~$780 / month</a:t>
                      </a:r>
                    </a:p>
                  </a:txBody>
                  <a:tcPr marL="63500" marR="63500" marT="38100" marB="38100" anchor="ctr">
                    <a:lnL w="0">
                      <a:noFill/>
                    </a:lnL>
                    <a:lnR w="0">
                      <a:noFill/>
                    </a:lnR>
                    <a:lnT w="0">
                      <a:noFill/>
                    </a:lnT>
                    <a:lnB w="9525">
                      <a:solidFill>
                        <a:srgbClr val="DADCE0"/>
                      </a:solidFill>
                    </a:lnB>
                    <a:solidFill>
                      <a:srgbClr val="F8F9FA"/>
                    </a:solidFill>
                  </a:tcPr>
                </a:tc>
              </a:tr>
              <a:tr h="342900">
                <a:tc>
                  <a:txBody>
                    <a:bodyPr wrap="square"/>
                    <a:lstStyle/>
                    <a:p>
                      <a:pPr algn="l"/>
                      <a:r>
                        <a:rPr lang="en-US" sz="950" b="1" dirty="0">
                          <a:solidFill>
                            <a:srgbClr val="202124"/>
                          </a:solidFill>
                          <a:latin typeface="Roboto"/>
                          <a:ea typeface="Roboto"/>
                          <a:cs typeface="Roboto"/>
                        </a:rPr>
                        <a:t>3. Launch + 24/7 DB</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dirty="0">
                          <a:solidFill>
                            <a:srgbClr val="202124"/>
                          </a:solidFill>
                          <a:latin typeface="Roboto"/>
                          <a:ea typeface="Roboto"/>
                          <a:cs typeface="Roboto"/>
                        </a:rPr>
                        <a:t>10,000</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dirty="0">
                          <a:solidFill>
                            <a:srgbClr val="5F6368"/>
                          </a:solidFill>
                          <a:latin typeface="Roboto"/>
                          <a:ea typeface="Roboto"/>
                          <a:cs typeface="Roboto"/>
                        </a:rPr>
                        <a:t>$230 / mo</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b="1" dirty="0">
                          <a:solidFill>
                            <a:srgbClr val="174EA6"/>
                          </a:solidFill>
                          <a:latin typeface="Roboto"/>
                          <a:ea typeface="Roboto"/>
                          <a:cs typeface="Roboto"/>
                        </a:rPr>
                        <a:t>~$346 / month</a:t>
                      </a:r>
                    </a:p>
                  </a:txBody>
                  <a:tcPr marL="63500" marR="63500" marT="38100" marB="38100" anchor="ctr">
                    <a:lnL w="0">
                      <a:noFill/>
                    </a:lnL>
                    <a:lnR w="0">
                      <a:noFill/>
                    </a:lnR>
                    <a:lnT w="0">
                      <a:noFill/>
                    </a:lnT>
                    <a:lnB w="9525">
                      <a:solidFill>
                        <a:srgbClr val="DADCE0"/>
                      </a:solidFill>
                    </a:lnB>
                    <a:solidFill>
                      <a:srgbClr val="FFFFFF"/>
                    </a:solidFill>
                  </a:tcPr>
                </a:tc>
                <a:tc>
                  <a:txBody>
                    <a:bodyPr wrap="square"/>
                    <a:lstStyle/>
                    <a:p>
                      <a:pPr algn="r"/>
                      <a:r>
                        <a:rPr lang="en-US" sz="950" dirty="0">
                          <a:solidFill>
                            <a:srgbClr val="5F6368"/>
                          </a:solidFill>
                          <a:latin typeface="Roboto"/>
                          <a:ea typeface="Roboto"/>
                          <a:cs typeface="Roboto"/>
                        </a:rPr>
                        <a:t>~$980 / month</a:t>
                      </a:r>
                    </a:p>
                  </a:txBody>
                  <a:tcPr marL="63500" marR="63500" marT="38100" marB="38100" anchor="ctr">
                    <a:lnL w="0">
                      <a:noFill/>
                    </a:lnL>
                    <a:lnR w="0">
                      <a:noFill/>
                    </a:lnR>
                    <a:lnT w="0">
                      <a:noFill/>
                    </a:lnT>
                    <a:lnB w="9525">
                      <a:solidFill>
                        <a:srgbClr val="DADCE0"/>
                      </a:solidFill>
                    </a:lnB>
                    <a:solidFill>
                      <a:srgbClr val="FFFFFF"/>
                    </a:solidFill>
                  </a:tcPr>
                </a:tc>
              </a:tr>
              <a:tr h="342900">
                <a:tc>
                  <a:txBody>
                    <a:bodyPr wrap="square"/>
                    <a:lstStyle/>
                    <a:p>
                      <a:pPr algn="l"/>
                      <a:r>
                        <a:rPr lang="en-US" sz="950" b="1" dirty="0">
                          <a:solidFill>
                            <a:srgbClr val="202124"/>
                          </a:solidFill>
                          <a:latin typeface="Roboto"/>
                          <a:ea typeface="Roboto"/>
                          <a:cs typeface="Roboto"/>
                        </a:rPr>
                        <a:t>4. Enterprise Peak</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dirty="0">
                          <a:solidFill>
                            <a:srgbClr val="202124"/>
                          </a:solidFill>
                          <a:latin typeface="Roboto"/>
                          <a:ea typeface="Roboto"/>
                          <a:cs typeface="Roboto"/>
                        </a:rPr>
                        <a:t>100,000</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dirty="0">
                          <a:solidFill>
                            <a:srgbClr val="5F6368"/>
                          </a:solidFill>
                          <a:latin typeface="Roboto"/>
                          <a:ea typeface="Roboto"/>
                          <a:cs typeface="Roboto"/>
                        </a:rPr>
                        <a:t>$230 / mo</a:t>
                      </a:r>
                    </a:p>
                  </a:txBody>
                  <a:tcPr marL="63500" marR="63500" marT="38100" marB="38100" anchor="ctr">
                    <a:lnL w="0">
                      <a:noFill/>
                    </a:lnL>
                    <a:lnR w="0">
                      <a:noFill/>
                    </a:lnR>
                    <a:lnT w="0">
                      <a:noFill/>
                    </a:lnT>
                    <a:lnB w="9525">
                      <a:solidFill>
                        <a:srgbClr val="DADCE0"/>
                      </a:solidFill>
                    </a:lnB>
                    <a:solidFill>
                      <a:srgbClr val="F8F9FA"/>
                    </a:solidFill>
                  </a:tcPr>
                </a:tc>
                <a:tc>
                  <a:txBody>
                    <a:bodyPr wrap="square"/>
                    <a:lstStyle/>
                    <a:p>
                      <a:pPr algn="r"/>
                      <a:r>
                        <a:rPr lang="en-US" sz="950" b="1" dirty="0">
                          <a:solidFill>
                            <a:srgbClr val="137333"/>
                          </a:solidFill>
                          <a:latin typeface="Roboto"/>
                          <a:ea typeface="Roboto"/>
                          <a:cs typeface="Roboto"/>
                        </a:rPr>
                        <a:t>~$1,385 / month</a:t>
                      </a:r>
                    </a:p>
                  </a:txBody>
                  <a:tcPr marL="63500" marR="63500" marT="38100" marB="38100" anchor="ctr">
                    <a:lnL w="0">
                      <a:noFill/>
                    </a:lnL>
                    <a:lnR w="0">
                      <a:noFill/>
                    </a:lnR>
                    <a:lnT w="0">
                      <a:noFill/>
                    </a:lnT>
                    <a:lnB w="9525">
                      <a:solidFill>
                        <a:srgbClr val="DADCE0"/>
                      </a:solidFill>
                    </a:lnB>
                    <a:solidFill>
                      <a:srgbClr val="E6F4EA"/>
                    </a:solidFill>
                  </a:tcPr>
                </a:tc>
                <a:tc>
                  <a:txBody>
                    <a:bodyPr wrap="square"/>
                    <a:lstStyle/>
                    <a:p>
                      <a:pPr algn="r"/>
                      <a:r>
                        <a:rPr lang="en-US" sz="950" dirty="0">
                          <a:solidFill>
                            <a:srgbClr val="5F6368"/>
                          </a:solidFill>
                          <a:latin typeface="Roboto"/>
                          <a:ea typeface="Roboto"/>
                          <a:cs typeface="Roboto"/>
                        </a:rPr>
                        <a:t>~$7,730 / month</a:t>
                      </a:r>
                    </a:p>
                  </a:txBody>
                  <a:tcPr marL="63500" marR="63500" marT="38100" marB="38100" anchor="ctr">
                    <a:lnL w="0">
                      <a:noFill/>
                    </a:lnL>
                    <a:lnR w="0">
                      <a:noFill/>
                    </a:lnR>
                    <a:lnT w="0">
                      <a:noFill/>
                    </a:lnT>
                    <a:lnB w="9525">
                      <a:solidFill>
                        <a:srgbClr val="DADCE0"/>
                      </a:solidFill>
                    </a:lnB>
                    <a:solidFill>
                      <a:srgbClr val="F8F9FA"/>
                    </a:solidFill>
                  </a:tcPr>
                </a:tc>
              </a:tr>
            </a:tbl>
          </a:graphicData>
        </a:graphic>
      </p:graphicFrame>
      <p:sp>
        <p:nvSpPr>
          <p:cNvPr id="54" name="Shape 54"/>
          <p:cNvSpPr/>
          <p:nvPr/>
        </p:nvSpPr>
        <p:spPr>
          <a:xfrm>
            <a:off x="6604000" y="4711700"/>
            <a:ext cx="4978400" cy="7747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55" name="TextBox 55"/>
          <p:cNvSpPr txBox="1"/>
          <p:nvPr/>
        </p:nvSpPr>
        <p:spPr>
          <a:xfrm>
            <a:off x="6718300" y="4775200"/>
            <a:ext cx="4749800" cy="139700"/>
          </a:xfrm>
          <a:prstGeom prst="rect">
            <a:avLst/>
          </a:prstGeom>
          <a:noFill/>
        </p:spPr>
        <p:txBody>
          <a:bodyPr wrap="square" anchor="t" lIns="0" rIns="0" tIns="0" bIns="0"/>
          <a:lstStyle/>
          <a:p>
            <a:pPr algn="l">
              <a:lnSpc>
                <a:spcPct val="120000"/>
              </a:lnSpc>
            </a:pPr>
            <a:r>
              <a:rPr lang="en-US" sz="980" b="1" dirty="0">
                <a:solidFill>
                  <a:srgbClr val="202124"/>
                </a:solidFill>
                <a:latin typeface="Roboto"/>
                <a:ea typeface="Roboto"/>
                <a:cs typeface="Roboto"/>
              </a:rPr>
              <a:t>FIXED MONTHLY INFRASTRUCTURE MODULES (PROTOTYPE VS. ENTERPRISE)</a:t>
            </a:r>
          </a:p>
        </p:txBody>
      </p:sp>
      <p:sp>
        <p:nvSpPr>
          <p:cNvPr id="56" name="TextBox 56"/>
          <p:cNvSpPr txBox="1"/>
          <p:nvPr/>
        </p:nvSpPr>
        <p:spPr>
          <a:xfrm>
            <a:off x="6718300" y="4927600"/>
            <a:ext cx="4749800" cy="508000"/>
          </a:xfrm>
          <a:prstGeom prst="rect">
            <a:avLst/>
          </a:prstGeom>
          <a:noFill/>
        </p:spPr>
        <p:txBody>
          <a:bodyPr wrap="square" anchor="t" lIns="0" rIns="0" tIns="0" bIns="0"/>
          <a:lstStyle/>
          <a:p>
            <a:pPr algn="l">
              <a:lnSpc>
                <a:spcPct val="120000"/>
              </a:lnSpc>
            </a:pPr>
            <a:r>
              <a:rPr lang="en-US" sz="920" dirty="0">
                <a:solidFill>
                  <a:srgbClr val="5F6368"/>
                </a:solidFill>
                <a:latin typeface="Roboto"/>
                <a:ea typeface="Roboto"/>
                <a:cs typeface="Roboto"/>
              </a:rPr>
              <a:t>• Module 8 — Front Door Security Gate (Google Sign-In Load Balancer): $18.25/mo in both Prototype &amp; Enterprise.
• Module 9 — Ticket Filing Database: $9.37/mo Starter DB (Prototype) -&gt; $196.77/mo 24/7 High-Availability DB with backups.
• Module 10 — Always-Awake Coordinator &amp; Storage: $1.50/mo in Prototype (sleeps when idle) -&gt; $15.00/mo in Enterprise.</a:t>
            </a:r>
          </a:p>
        </p:txBody>
      </p:sp>
      <p:sp>
        <p:nvSpPr>
          <p:cNvPr id="57" name="Shape 57"/>
          <p:cNvSpPr/>
          <p:nvPr/>
        </p:nvSpPr>
        <p:spPr>
          <a:xfrm>
            <a:off x="6604000" y="5562600"/>
            <a:ext cx="4978400" cy="673100"/>
          </a:xfrm>
          <a:prstGeom prst="roundRect">
            <a:avLst>
              <a:gd name="adj" fmla="val 4000"/>
            </a:avLst>
          </a:prstGeom>
          <a:solidFill>
            <a:srgbClr val="E8F0FE"/>
          </a:solidFill>
          <a:ln w="12700">
            <a:solidFill>
              <a:srgbClr val="1A73E8"/>
            </a:solidFill>
          </a:ln>
          <a:effectLst/>
        </p:spPr>
        <p:txBody>
          <a:bodyPr rtlCol="0" anchor="ctr"/>
          <a:lstStyle/>
          <a:p>
            <a:pPr algn="ctr"/>
          </a:p>
        </p:txBody>
      </p:sp>
      <p:sp>
        <p:nvSpPr>
          <p:cNvPr id="58" name="TextBox 58"/>
          <p:cNvSpPr txBox="1"/>
          <p:nvPr/>
        </p:nvSpPr>
        <p:spPr>
          <a:xfrm>
            <a:off x="6718300" y="5638800"/>
            <a:ext cx="4749800" cy="139700"/>
          </a:xfrm>
          <a:prstGeom prst="rect">
            <a:avLst/>
          </a:prstGeom>
          <a:noFill/>
        </p:spPr>
        <p:txBody>
          <a:bodyPr wrap="square" anchor="t" lIns="0" rIns="0" tIns="0" bIns="0"/>
          <a:lstStyle/>
          <a:p>
            <a:pPr algn="l">
              <a:lnSpc>
                <a:spcPct val="120000"/>
              </a:lnSpc>
            </a:pPr>
            <a:r>
              <a:rPr lang="en-US" sz="980" b="1" dirty="0">
                <a:solidFill>
                  <a:srgbClr val="174EA6"/>
                </a:solidFill>
                <a:latin typeface="Roboto"/>
                <a:ea typeface="Roboto"/>
                <a:cs typeface="Roboto"/>
              </a:rPr>
              <a:t>WHY LATEST EVAL WAS 6.5× CHEAPER + NEXT-STEP COST LEVER</a:t>
            </a:r>
          </a:p>
        </p:txBody>
      </p:sp>
      <p:sp>
        <p:nvSpPr>
          <p:cNvPr id="59" name="TextBox 59"/>
          <p:cNvSpPr txBox="1"/>
          <p:nvPr/>
        </p:nvSpPr>
        <p:spPr>
          <a:xfrm>
            <a:off x="6718300" y="5791200"/>
            <a:ext cx="4749800" cy="393700"/>
          </a:xfrm>
          <a:prstGeom prst="rect">
            <a:avLst/>
          </a:prstGeom>
          <a:noFill/>
        </p:spPr>
        <p:txBody>
          <a:bodyPr wrap="square" anchor="t" lIns="0" rIns="0" tIns="0" bIns="0"/>
          <a:lstStyle/>
          <a:p>
            <a:pPr algn="l">
              <a:lnSpc>
                <a:spcPct val="120000"/>
              </a:lnSpc>
            </a:pPr>
            <a:r>
              <a:rPr lang="en-US" sz="920" dirty="0">
                <a:solidFill>
                  <a:srgbClr val="202124"/>
                </a:solidFill>
                <a:latin typeface="Roboto"/>
                <a:ea typeface="Roboto"/>
                <a:cs typeface="Roboto"/>
              </a:rPr>
              <a:t>Automatic prompt caching (35% cached at 90% off) and concise answers cut FAQ AI cost from $0.030 to $0.0089/reply. Switching the Policy Assistant to Gemini 2.5 Flash can cut total variable cost another ~50% (under $5 per 1,000 tickets).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2"/>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Shape 3"/>
          <p:cNvSpPr/>
          <p:nvPr/>
        </p:nvSpPr>
        <p:spPr>
          <a:xfrm>
            <a:off x="457200" y="279400"/>
            <a:ext cx="114300" cy="38100"/>
          </a:xfrm>
          <a:prstGeom prst="roundRect">
            <a:avLst>
              <a:gd name="adj" fmla="val 50000"/>
            </a:avLst>
          </a:prstGeom>
          <a:solidFill>
            <a:srgbClr val="1A73E8"/>
          </a:solidFill>
          <a:ln>
            <a:noFill/>
          </a:ln>
          <a:effectLst/>
        </p:spPr>
        <p:txBody>
          <a:bodyPr rtlCol="0" anchor="ctr"/>
          <a:lstStyle/>
          <a:p>
            <a:pPr algn="ctr"/>
          </a:p>
        </p:txBody>
      </p:sp>
      <p:sp>
        <p:nvSpPr>
          <p:cNvPr id="4" name="Shape 4"/>
          <p:cNvSpPr/>
          <p:nvPr/>
        </p:nvSpPr>
        <p:spPr>
          <a:xfrm>
            <a:off x="596900" y="279400"/>
            <a:ext cx="114300" cy="38100"/>
          </a:xfrm>
          <a:prstGeom prst="roundRect">
            <a:avLst>
              <a:gd name="adj" fmla="val 50000"/>
            </a:avLst>
          </a:prstGeom>
          <a:solidFill>
            <a:srgbClr val="EA4335"/>
          </a:solidFill>
          <a:ln>
            <a:noFill/>
          </a:ln>
          <a:effectLst/>
        </p:spPr>
        <p:txBody>
          <a:bodyPr rtlCol="0" anchor="ctr"/>
          <a:lstStyle/>
          <a:p>
            <a:pPr algn="ctr"/>
          </a:p>
        </p:txBody>
      </p:sp>
      <p:sp>
        <p:nvSpPr>
          <p:cNvPr id="5" name="Shape 5"/>
          <p:cNvSpPr/>
          <p:nvPr/>
        </p:nvSpPr>
        <p:spPr>
          <a:xfrm>
            <a:off x="736600" y="279400"/>
            <a:ext cx="114300" cy="38100"/>
          </a:xfrm>
          <a:prstGeom prst="roundRect">
            <a:avLst>
              <a:gd name="adj" fmla="val 50000"/>
            </a:avLst>
          </a:prstGeom>
          <a:solidFill>
            <a:srgbClr val="FBBC04"/>
          </a:solidFill>
          <a:ln>
            <a:noFill/>
          </a:ln>
          <a:effectLst/>
        </p:spPr>
        <p:txBody>
          <a:bodyPr rtlCol="0" anchor="ctr"/>
          <a:lstStyle/>
          <a:p>
            <a:pPr algn="ctr"/>
          </a:p>
        </p:txBody>
      </p:sp>
      <p:sp>
        <p:nvSpPr>
          <p:cNvPr id="6" name="Shape 6"/>
          <p:cNvSpPr/>
          <p:nvPr/>
        </p:nvSpPr>
        <p:spPr>
          <a:xfrm>
            <a:off x="876300" y="279400"/>
            <a:ext cx="114300" cy="38100"/>
          </a:xfrm>
          <a:prstGeom prst="roundRect">
            <a:avLst>
              <a:gd name="adj" fmla="val 50000"/>
            </a:avLst>
          </a:prstGeom>
          <a:solidFill>
            <a:srgbClr val="34A853"/>
          </a:solidFill>
          <a:ln>
            <a:noFill/>
          </a:ln>
          <a:effectLst/>
        </p:spPr>
        <p:txBody>
          <a:bodyPr rtlCol="0" anchor="ctr"/>
          <a:lstStyle/>
          <a:p>
            <a:pPr algn="ctr"/>
          </a:p>
        </p:txBody>
      </p:sp>
      <p:sp>
        <p:nvSpPr>
          <p:cNvPr id="7" name="TextBox 7"/>
          <p:cNvSpPr txBox="1"/>
          <p:nvPr/>
        </p:nvSpPr>
        <p:spPr>
          <a:xfrm>
            <a:off x="1066800" y="241300"/>
            <a:ext cx="7620000" cy="152400"/>
          </a:xfrm>
          <a:prstGeom prst="rect">
            <a:avLst/>
          </a:prstGeom>
          <a:noFill/>
        </p:spPr>
        <p:txBody>
          <a:bodyPr wrap="square" anchor="t" lIns="0" rIns="0" tIns="0" bIns="0"/>
          <a:lstStyle/>
          <a:p>
            <a:pPr algn="l">
              <a:lnSpc>
                <a:spcPct val="120000"/>
              </a:lnSpc>
            </a:pPr>
            <a:r>
              <a:rPr lang="en-US" sz="950" b="1" dirty="0">
                <a:solidFill>
                  <a:srgbClr val="1A73E8"/>
                </a:solidFill>
                <a:latin typeface="Roboto"/>
                <a:ea typeface="Roboto"/>
                <a:cs typeface="Roboto"/>
              </a:rPr>
              <a:t>06 / KEY DESIGN DECISIONS &amp; TRADE-OFFS</a:t>
            </a:r>
          </a:p>
        </p:txBody>
      </p:sp>
      <p:sp>
        <p:nvSpPr>
          <p:cNvPr id="8" name="TextBox 8"/>
          <p:cNvSpPr txBox="1"/>
          <p:nvPr/>
        </p:nvSpPr>
        <p:spPr>
          <a:xfrm>
            <a:off x="10477500" y="241300"/>
            <a:ext cx="1257300" cy="152400"/>
          </a:xfrm>
          <a:prstGeom prst="rect">
            <a:avLst/>
          </a:prstGeom>
          <a:noFill/>
        </p:spPr>
        <p:txBody>
          <a:bodyPr wrap="square" anchor="t" lIns="0" rIns="0" tIns="0" bIns="0"/>
          <a:lstStyle/>
          <a:p>
            <a:pPr algn="r">
              <a:lnSpc>
                <a:spcPct val="120000"/>
              </a:lnSpc>
            </a:pPr>
            <a:r>
              <a:rPr lang="en-US" sz="950" b="1" dirty="0">
                <a:solidFill>
                  <a:srgbClr val="80868B"/>
                </a:solidFill>
                <a:latin typeface="Roboto"/>
                <a:ea typeface="Roboto"/>
                <a:cs typeface="Roboto"/>
              </a:rPr>
              <a:t>SLIDE 06 / 07</a:t>
            </a:r>
          </a:p>
        </p:txBody>
      </p:sp>
      <p:sp>
        <p:nvSpPr>
          <p:cNvPr id="9" name="TextBox 9"/>
          <p:cNvSpPr txBox="1"/>
          <p:nvPr/>
        </p:nvSpPr>
        <p:spPr>
          <a:xfrm>
            <a:off x="457200" y="431800"/>
            <a:ext cx="11277600" cy="292100"/>
          </a:xfrm>
          <a:prstGeom prst="rect">
            <a:avLst/>
          </a:prstGeom>
          <a:noFill/>
        </p:spPr>
        <p:txBody>
          <a:bodyPr wrap="square" anchor="t" lIns="0" rIns="0" tIns="0" bIns="0"/>
          <a:lstStyle/>
          <a:p>
            <a:pPr algn="l">
              <a:lnSpc>
                <a:spcPct val="120000"/>
              </a:lnSpc>
            </a:pPr>
            <a:r>
              <a:rPr lang="en-US" sz="2400" b="1" dirty="0">
                <a:solidFill>
                  <a:srgbClr val="202124"/>
                </a:solidFill>
                <a:latin typeface="Roboto"/>
                <a:ea typeface="Roboto"/>
                <a:cs typeface="Roboto"/>
              </a:rPr>
              <a:t>Five Practical Trade-offs Balancing Cost, Speed &amp; Customer Trust</a:t>
            </a:r>
          </a:p>
        </p:txBody>
      </p:sp>
      <p:sp>
        <p:nvSpPr>
          <p:cNvPr id="10" name="TextBox 10"/>
          <p:cNvSpPr txBox="1"/>
          <p:nvPr/>
        </p:nvSpPr>
        <p:spPr>
          <a:xfrm>
            <a:off x="457200" y="736600"/>
            <a:ext cx="11277600" cy="190500"/>
          </a:xfrm>
          <a:prstGeom prst="rect">
            <a:avLst/>
          </a:prstGeom>
          <a:noFill/>
        </p:spPr>
        <p:txBody>
          <a:bodyPr wrap="square" anchor="t" lIns="0" rIns="0" tIns="0" bIns="0"/>
          <a:lstStyle/>
          <a:p>
            <a:pPr algn="l">
              <a:lnSpc>
                <a:spcPct val="120000"/>
              </a:lnSpc>
            </a:pPr>
            <a:r>
              <a:rPr lang="en-US" sz="1200" dirty="0">
                <a:solidFill>
                  <a:srgbClr val="5F6368"/>
                </a:solidFill>
                <a:latin typeface="Roboto"/>
                <a:ea typeface="Roboto"/>
                <a:cs typeface="Roboto"/>
              </a:rPr>
              <a:t>Every engineering project requires choices. Here is how we balanced prototype budget against enterprise accuracy and safety.</a:t>
            </a:r>
          </a:p>
        </p:txBody>
      </p:sp>
      <p:sp>
        <p:nvSpPr>
          <p:cNvPr id="11" name="Shape 11"/>
          <p:cNvSpPr/>
          <p:nvPr/>
        </p:nvSpPr>
        <p:spPr>
          <a:xfrm>
            <a:off x="457200" y="6515100"/>
            <a:ext cx="11277600" cy="6350"/>
          </a:xfrm>
          <a:prstGeom prst="rect">
            <a:avLst/>
          </a:prstGeom>
          <a:solidFill>
            <a:srgbClr val="DADCE0"/>
          </a:solidFill>
          <a:ln>
            <a:noFill/>
          </a:ln>
          <a:effectLst/>
        </p:spPr>
        <p:txBody>
          <a:bodyPr rtlCol="0" anchor="ctr"/>
          <a:lstStyle/>
          <a:p>
            <a:pPr algn="ctr"/>
          </a:p>
        </p:txBody>
      </p:sp>
      <p:sp>
        <p:nvSpPr>
          <p:cNvPr id="12" name="TextBox 12"/>
          <p:cNvSpPr txBox="1"/>
          <p:nvPr/>
        </p:nvSpPr>
        <p:spPr>
          <a:xfrm>
            <a:off x="457200" y="6565900"/>
            <a:ext cx="8572500" cy="152400"/>
          </a:xfrm>
          <a:prstGeom prst="rect">
            <a:avLst/>
          </a:prstGeom>
          <a:noFill/>
        </p:spPr>
        <p:txBody>
          <a:bodyPr wrap="square" anchor="t" lIns="0" rIns="0" tIns="0" bIns="0"/>
          <a:lstStyle/>
          <a:p>
            <a:pPr algn="l">
              <a:lnSpc>
                <a:spcPct val="120000"/>
              </a:lnSpc>
            </a:pPr>
            <a:r>
              <a:rPr lang="en-US" sz="850" dirty="0">
                <a:solidFill>
                  <a:srgbClr val="80868B"/>
                </a:solidFill>
                <a:latin typeface="Roboto"/>
                <a:ea typeface="Roboto"/>
                <a:cs typeface="Roboto"/>
              </a:rPr>
              <a:t>Timing: ~1 min 30 sec  ·  Focus: Transparent discussion of trade-offs made during development</a:t>
            </a:r>
          </a:p>
        </p:txBody>
      </p:sp>
      <p:sp>
        <p:nvSpPr>
          <p:cNvPr id="13" name="TextBox 13"/>
          <p:cNvSpPr txBox="1"/>
          <p:nvPr/>
        </p:nvSpPr>
        <p:spPr>
          <a:xfrm>
            <a:off x="9017000" y="6565900"/>
            <a:ext cx="2717800" cy="152400"/>
          </a:xfrm>
          <a:prstGeom prst="rect">
            <a:avLst/>
          </a:prstGeom>
          <a:noFill/>
        </p:spPr>
        <p:txBody>
          <a:bodyPr wrap="square" anchor="t" lIns="0" rIns="0" tIns="0" bIns="0"/>
          <a:lstStyle/>
          <a:p>
            <a:pPr algn="r">
              <a:lnSpc>
                <a:spcPct val="120000"/>
              </a:lnSpc>
            </a:pPr>
            <a:r>
              <a:rPr lang="en-US" sz="850" dirty="0">
                <a:solidFill>
                  <a:srgbClr val="80868B"/>
                </a:solidFill>
                <a:latin typeface="Roboto"/>
                <a:ea typeface="Roboto"/>
                <a:cs typeface="Roboto"/>
              </a:rPr>
              <a:t>Global Retail Hub · Customer Build Readout</a:t>
            </a:r>
          </a:p>
        </p:txBody>
      </p:sp>
      <p:sp>
        <p:nvSpPr>
          <p:cNvPr id="14" name="Shape 14"/>
          <p:cNvSpPr/>
          <p:nvPr/>
        </p:nvSpPr>
        <p:spPr>
          <a:xfrm>
            <a:off x="457200" y="1054100"/>
            <a:ext cx="11277600" cy="9906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15" name="Shape 15"/>
          <p:cNvSpPr/>
          <p:nvPr/>
        </p:nvSpPr>
        <p:spPr>
          <a:xfrm>
            <a:off x="457200" y="1054100"/>
            <a:ext cx="38100" cy="990600"/>
          </a:xfrm>
          <a:prstGeom prst="rect">
            <a:avLst/>
          </a:prstGeom>
          <a:solidFill>
            <a:srgbClr val="1A73E8"/>
          </a:solidFill>
          <a:ln>
            <a:noFill/>
          </a:ln>
          <a:effectLst/>
        </p:spPr>
        <p:txBody>
          <a:bodyPr rtlCol="0" anchor="ctr"/>
          <a:lstStyle/>
          <a:p>
            <a:pPr algn="ctr"/>
          </a:p>
        </p:txBody>
      </p:sp>
      <p:sp>
        <p:nvSpPr>
          <p:cNvPr id="16" name="TextBox 16"/>
          <p:cNvSpPr txBox="1"/>
          <p:nvPr/>
        </p:nvSpPr>
        <p:spPr>
          <a:xfrm>
            <a:off x="622300" y="1143000"/>
            <a:ext cx="7302500" cy="1778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1. Two Specialized AI Brains vs. One Giant AI Model</a:t>
            </a:r>
          </a:p>
        </p:txBody>
      </p:sp>
      <p:sp>
        <p:nvSpPr>
          <p:cNvPr id="17" name="Shape 17"/>
          <p:cNvSpPr/>
          <p:nvPr/>
        </p:nvSpPr>
        <p:spPr>
          <a:xfrm>
            <a:off x="9207500" y="1143000"/>
            <a:ext cx="2374900" cy="165100"/>
          </a:xfrm>
          <a:prstGeom prst="roundRect">
            <a:avLst>
              <a:gd name="adj" fmla="val 50000"/>
            </a:avLst>
          </a:prstGeom>
          <a:solidFill>
            <a:srgbClr val="E8F0FE"/>
          </a:solidFill>
          <a:ln>
            <a:noFill/>
          </a:ln>
          <a:effectLst/>
        </p:spPr>
        <p:txBody>
          <a:bodyPr rtlCol="0" anchor="ctr"/>
          <a:lstStyle/>
          <a:p>
            <a:pPr algn="ctr"/>
          </a:p>
        </p:txBody>
      </p:sp>
      <p:sp>
        <p:nvSpPr>
          <p:cNvPr id="18" name="TextBox 18"/>
          <p:cNvSpPr txBox="1"/>
          <p:nvPr/>
        </p:nvSpPr>
        <p:spPr>
          <a:xfrm>
            <a:off x="9207500" y="1143000"/>
            <a:ext cx="2374900" cy="165100"/>
          </a:xfrm>
          <a:prstGeom prst="rect">
            <a:avLst/>
          </a:prstGeom>
          <a:noFill/>
        </p:spPr>
        <p:txBody>
          <a:bodyPr wrap="square" anchor="ctr" lIns="0" rIns="0" tIns="0" bIns="0"/>
          <a:lstStyle/>
          <a:p>
            <a:pPr algn="ctr">
              <a:lnSpc>
                <a:spcPct val="120000"/>
              </a:lnSpc>
            </a:pPr>
            <a:r>
              <a:rPr lang="en-US" sz="800" b="1" dirty="0">
                <a:solidFill>
                  <a:srgbClr val="1A73E8"/>
                </a:solidFill>
                <a:latin typeface="Roboto"/>
                <a:ea typeface="Roboto"/>
                <a:cs typeface="Roboto"/>
              </a:rPr>
              <a:t>CHOSE: FAST TRIAGE AI + DEEP RESEARCH AI</a:t>
            </a:r>
          </a:p>
        </p:txBody>
      </p:sp>
      <p:sp>
        <p:nvSpPr>
          <p:cNvPr id="19" name="TextBox 19"/>
          <p:cNvSpPr txBox="1"/>
          <p:nvPr/>
        </p:nvSpPr>
        <p:spPr>
          <a:xfrm>
            <a:off x="622300" y="1371600"/>
            <a:ext cx="10960100" cy="304800"/>
          </a:xfrm>
          <a:prstGeom prst="rect">
            <a:avLst/>
          </a:prstGeom>
          <a:noFill/>
        </p:spPr>
        <p:txBody>
          <a:bodyPr wrap="square" anchor="t" lIns="0" rIns="0" tIns="0" bIns="0"/>
          <a:lstStyle/>
          <a:p>
            <a:pPr algn="l">
              <a:lnSpc>
                <a:spcPct val="120000"/>
              </a:lnSpc>
            </a:pPr>
            <a:r>
              <a:rPr lang="en-US" sz="1050" dirty="0">
                <a:solidFill>
                  <a:srgbClr val="202124"/>
                </a:solidFill>
                <a:latin typeface="Roboto"/>
                <a:ea typeface="Roboto"/>
                <a:cs typeface="Roboto"/>
              </a:rPr>
              <a:t>Why We Chose It: Using lightweight Gemini 2.5 Flash for mood checks is 4× faster and cheaper, and prevents upset customers from triggering the expensive Research model—while keeping 99.4% accuracy on policy answers.</a:t>
            </a:r>
          </a:p>
        </p:txBody>
      </p:sp>
      <p:sp>
        <p:nvSpPr>
          <p:cNvPr id="20" name="Shape 20"/>
          <p:cNvSpPr/>
          <p:nvPr/>
        </p:nvSpPr>
        <p:spPr>
          <a:xfrm>
            <a:off x="622300" y="1701800"/>
            <a:ext cx="10960100" cy="2540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21" name="TextBox 21"/>
          <p:cNvSpPr txBox="1"/>
          <p:nvPr/>
        </p:nvSpPr>
        <p:spPr>
          <a:xfrm>
            <a:off x="723900" y="1752600"/>
            <a:ext cx="10756900" cy="165100"/>
          </a:xfrm>
          <a:prstGeom prst="rect">
            <a:avLst/>
          </a:prstGeom>
          <a:noFill/>
        </p:spPr>
        <p:txBody>
          <a:bodyPr wrap="square" anchor="t" lIns="0" rIns="0" tIns="0" bIns="0"/>
          <a:lstStyle/>
          <a:p>
            <a:pPr algn="l">
              <a:lnSpc>
                <a:spcPct val="120000"/>
              </a:lnSpc>
            </a:pPr>
            <a:r>
              <a:rPr lang="en-US" sz="980" i="1" dirty="0">
                <a:solidFill>
                  <a:srgbClr val="5F6368"/>
                </a:solidFill>
                <a:latin typeface="Roboto"/>
                <a:ea typeface="Roboto"/>
                <a:cs typeface="Roboto"/>
              </a:rPr>
              <a:t>What We Traded Off: Managing two AI specialists instead of one, which our Central Coordinator handles seamlessly behind the scenes.</a:t>
            </a:r>
          </a:p>
        </p:txBody>
      </p:sp>
      <p:sp>
        <p:nvSpPr>
          <p:cNvPr id="22" name="Shape 22"/>
          <p:cNvSpPr/>
          <p:nvPr/>
        </p:nvSpPr>
        <p:spPr>
          <a:xfrm>
            <a:off x="457200" y="2133600"/>
            <a:ext cx="11277600" cy="9906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23" name="Shape 23"/>
          <p:cNvSpPr/>
          <p:nvPr/>
        </p:nvSpPr>
        <p:spPr>
          <a:xfrm>
            <a:off x="457200" y="2133600"/>
            <a:ext cx="38100" cy="990600"/>
          </a:xfrm>
          <a:prstGeom prst="rect">
            <a:avLst/>
          </a:prstGeom>
          <a:solidFill>
            <a:srgbClr val="137333"/>
          </a:solidFill>
          <a:ln>
            <a:noFill/>
          </a:ln>
          <a:effectLst/>
        </p:spPr>
        <p:txBody>
          <a:bodyPr rtlCol="0" anchor="ctr"/>
          <a:lstStyle/>
          <a:p>
            <a:pPr algn="ctr"/>
          </a:p>
        </p:txBody>
      </p:sp>
      <p:sp>
        <p:nvSpPr>
          <p:cNvPr id="24" name="TextBox 24"/>
          <p:cNvSpPr txBox="1"/>
          <p:nvPr/>
        </p:nvSpPr>
        <p:spPr>
          <a:xfrm>
            <a:off x="622300" y="2222500"/>
            <a:ext cx="7302500" cy="1778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2. On-Demand Prototype Hosting ($29/mo) vs. 24/7 Dedicated Servers ($230+/mo)</a:t>
            </a:r>
          </a:p>
        </p:txBody>
      </p:sp>
      <p:sp>
        <p:nvSpPr>
          <p:cNvPr id="25" name="Shape 25"/>
          <p:cNvSpPr/>
          <p:nvPr/>
        </p:nvSpPr>
        <p:spPr>
          <a:xfrm>
            <a:off x="9207500" y="2222500"/>
            <a:ext cx="2374900" cy="165100"/>
          </a:xfrm>
          <a:prstGeom prst="roundRect">
            <a:avLst>
              <a:gd name="adj" fmla="val 50000"/>
            </a:avLst>
          </a:prstGeom>
          <a:solidFill>
            <a:srgbClr val="E6F4EA"/>
          </a:solidFill>
          <a:ln>
            <a:noFill/>
          </a:ln>
          <a:effectLst/>
        </p:spPr>
        <p:txBody>
          <a:bodyPr rtlCol="0" anchor="ctr"/>
          <a:lstStyle/>
          <a:p>
            <a:pPr algn="ctr"/>
          </a:p>
        </p:txBody>
      </p:sp>
      <p:sp>
        <p:nvSpPr>
          <p:cNvPr id="26" name="TextBox 26"/>
          <p:cNvSpPr txBox="1"/>
          <p:nvPr/>
        </p:nvSpPr>
        <p:spPr>
          <a:xfrm>
            <a:off x="9207500" y="2222500"/>
            <a:ext cx="2374900" cy="165100"/>
          </a:xfrm>
          <a:prstGeom prst="rect">
            <a:avLst/>
          </a:prstGeom>
          <a:noFill/>
        </p:spPr>
        <p:txBody>
          <a:bodyPr wrap="square" anchor="ctr" lIns="0" rIns="0" tIns="0" bIns="0"/>
          <a:lstStyle/>
          <a:p>
            <a:pPr algn="ctr">
              <a:lnSpc>
                <a:spcPct val="120000"/>
              </a:lnSpc>
            </a:pPr>
            <a:r>
              <a:rPr lang="en-US" sz="800" b="1" dirty="0">
                <a:solidFill>
                  <a:srgbClr val="137333"/>
                </a:solidFill>
                <a:latin typeface="Roboto"/>
                <a:ea typeface="Roboto"/>
                <a:cs typeface="Roboto"/>
              </a:rPr>
              <a:t>CHOSE: PAY-WHEN-USED PROTOTYPE SERVERS</a:t>
            </a:r>
          </a:p>
        </p:txBody>
      </p:sp>
      <p:sp>
        <p:nvSpPr>
          <p:cNvPr id="27" name="TextBox 27"/>
          <p:cNvSpPr txBox="1"/>
          <p:nvPr/>
        </p:nvSpPr>
        <p:spPr>
          <a:xfrm>
            <a:off x="622300" y="2451100"/>
            <a:ext cx="10960100" cy="304800"/>
          </a:xfrm>
          <a:prstGeom prst="rect">
            <a:avLst/>
          </a:prstGeom>
          <a:noFill/>
        </p:spPr>
        <p:txBody>
          <a:bodyPr wrap="square" anchor="t" lIns="0" rIns="0" tIns="0" bIns="0"/>
          <a:lstStyle/>
          <a:p>
            <a:pPr algn="l">
              <a:lnSpc>
                <a:spcPct val="120000"/>
              </a:lnSpc>
            </a:pPr>
            <a:r>
              <a:rPr lang="en-US" sz="1050" dirty="0">
                <a:solidFill>
                  <a:srgbClr val="202124"/>
                </a:solidFill>
                <a:latin typeface="Roboto"/>
                <a:ea typeface="Roboto"/>
                <a:cs typeface="Roboto"/>
              </a:rPr>
              <a:t>Why We Chose It: Saved over $200/month during the build phase by letting web servers sleep when no one is chatting and using a starter database.</a:t>
            </a:r>
          </a:p>
        </p:txBody>
      </p:sp>
      <p:sp>
        <p:nvSpPr>
          <p:cNvPr id="28" name="Shape 28"/>
          <p:cNvSpPr/>
          <p:nvPr/>
        </p:nvSpPr>
        <p:spPr>
          <a:xfrm>
            <a:off x="622300" y="2781300"/>
            <a:ext cx="10960100" cy="2540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29" name="TextBox 29"/>
          <p:cNvSpPr txBox="1"/>
          <p:nvPr/>
        </p:nvSpPr>
        <p:spPr>
          <a:xfrm>
            <a:off x="723900" y="2832100"/>
            <a:ext cx="10756900" cy="165100"/>
          </a:xfrm>
          <a:prstGeom prst="rect">
            <a:avLst/>
          </a:prstGeom>
          <a:noFill/>
        </p:spPr>
        <p:txBody>
          <a:bodyPr wrap="square" anchor="t" lIns="0" rIns="0" tIns="0" bIns="0"/>
          <a:lstStyle/>
          <a:p>
            <a:pPr algn="l">
              <a:lnSpc>
                <a:spcPct val="120000"/>
              </a:lnSpc>
            </a:pPr>
            <a:r>
              <a:rPr lang="en-US" sz="980" i="1" dirty="0">
                <a:solidFill>
                  <a:srgbClr val="5F6368"/>
                </a:solidFill>
                <a:latin typeface="Roboto"/>
                <a:ea typeface="Roboto"/>
                <a:cs typeface="Roboto"/>
              </a:rPr>
              <a:t>What We Traded Off: The very first visitor after hours waits ~2 extra seconds for the server to wake up. Upgrading to 24/7 mode for launch is a simple one-setting switch.</a:t>
            </a:r>
          </a:p>
        </p:txBody>
      </p:sp>
      <p:sp>
        <p:nvSpPr>
          <p:cNvPr id="30" name="Shape 30"/>
          <p:cNvSpPr/>
          <p:nvPr/>
        </p:nvSpPr>
        <p:spPr>
          <a:xfrm>
            <a:off x="457200" y="3213100"/>
            <a:ext cx="11277600" cy="9906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31" name="Shape 31"/>
          <p:cNvSpPr/>
          <p:nvPr/>
        </p:nvSpPr>
        <p:spPr>
          <a:xfrm>
            <a:off x="457200" y="3213100"/>
            <a:ext cx="38100" cy="990600"/>
          </a:xfrm>
          <a:prstGeom prst="rect">
            <a:avLst/>
          </a:prstGeom>
          <a:solidFill>
            <a:srgbClr val="EA4335"/>
          </a:solidFill>
          <a:ln>
            <a:noFill/>
          </a:ln>
          <a:effectLst/>
        </p:spPr>
        <p:txBody>
          <a:bodyPr rtlCol="0" anchor="ctr"/>
          <a:lstStyle/>
          <a:p>
            <a:pPr algn="ctr"/>
          </a:p>
        </p:txBody>
      </p:sp>
      <p:sp>
        <p:nvSpPr>
          <p:cNvPr id="32" name="TextBox 32"/>
          <p:cNvSpPr txBox="1"/>
          <p:nvPr/>
        </p:nvSpPr>
        <p:spPr>
          <a:xfrm>
            <a:off x="622300" y="3302000"/>
            <a:ext cx="7302500" cy="1778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3. Scrubbing Personal Data at the Front Door vs. Saving Raw Chat Logs</a:t>
            </a:r>
          </a:p>
        </p:txBody>
      </p:sp>
      <p:sp>
        <p:nvSpPr>
          <p:cNvPr id="33" name="Shape 33"/>
          <p:cNvSpPr/>
          <p:nvPr/>
        </p:nvSpPr>
        <p:spPr>
          <a:xfrm>
            <a:off x="9207500" y="3302000"/>
            <a:ext cx="2374900" cy="165100"/>
          </a:xfrm>
          <a:prstGeom prst="roundRect">
            <a:avLst>
              <a:gd name="adj" fmla="val 50000"/>
            </a:avLst>
          </a:prstGeom>
          <a:solidFill>
            <a:srgbClr val="FCE8E6"/>
          </a:solidFill>
          <a:ln>
            <a:noFill/>
          </a:ln>
          <a:effectLst/>
        </p:spPr>
        <p:txBody>
          <a:bodyPr rtlCol="0" anchor="ctr"/>
          <a:lstStyle/>
          <a:p>
            <a:pPr algn="ctr"/>
          </a:p>
        </p:txBody>
      </p:sp>
      <p:sp>
        <p:nvSpPr>
          <p:cNvPr id="34" name="TextBox 34"/>
          <p:cNvSpPr txBox="1"/>
          <p:nvPr/>
        </p:nvSpPr>
        <p:spPr>
          <a:xfrm>
            <a:off x="9207500" y="3302000"/>
            <a:ext cx="2374900" cy="165100"/>
          </a:xfrm>
          <a:prstGeom prst="rect">
            <a:avLst/>
          </a:prstGeom>
          <a:noFill/>
        </p:spPr>
        <p:txBody>
          <a:bodyPr wrap="square" anchor="ctr" lIns="0" rIns="0" tIns="0" bIns="0"/>
          <a:lstStyle/>
          <a:p>
            <a:pPr algn="ctr">
              <a:lnSpc>
                <a:spcPct val="120000"/>
              </a:lnSpc>
            </a:pPr>
            <a:r>
              <a:rPr lang="en-US" sz="800" b="1" dirty="0">
                <a:solidFill>
                  <a:srgbClr val="EA4335"/>
                </a:solidFill>
                <a:latin typeface="Roboto"/>
                <a:ea typeface="Roboto"/>
                <a:cs typeface="Roboto"/>
              </a:rPr>
              <a:t>CHOSE: IMMEDIATE PRIVACY MASKING</a:t>
            </a:r>
          </a:p>
        </p:txBody>
      </p:sp>
      <p:sp>
        <p:nvSpPr>
          <p:cNvPr id="35" name="TextBox 35"/>
          <p:cNvSpPr txBox="1"/>
          <p:nvPr/>
        </p:nvSpPr>
        <p:spPr>
          <a:xfrm>
            <a:off x="622300" y="3530600"/>
            <a:ext cx="10960100" cy="304800"/>
          </a:xfrm>
          <a:prstGeom prst="rect">
            <a:avLst/>
          </a:prstGeom>
          <a:noFill/>
        </p:spPr>
        <p:txBody>
          <a:bodyPr wrap="square" anchor="t" lIns="0" rIns="0" tIns="0" bIns="0"/>
          <a:lstStyle/>
          <a:p>
            <a:pPr algn="l">
              <a:lnSpc>
                <a:spcPct val="120000"/>
              </a:lnSpc>
            </a:pPr>
            <a:r>
              <a:rPr lang="en-US" sz="1050" dirty="0">
                <a:solidFill>
                  <a:srgbClr val="202124"/>
                </a:solidFill>
                <a:latin typeface="Roboto"/>
                <a:ea typeface="Roboto"/>
                <a:cs typeface="Roboto"/>
              </a:rPr>
              <a:t>Why We Chose It: By replacing credit cards, SSNs, and emails with [REDACTED] before storage, your database and AI history can never leak sensitive customer numbers.</a:t>
            </a:r>
          </a:p>
        </p:txBody>
      </p:sp>
      <p:sp>
        <p:nvSpPr>
          <p:cNvPr id="36" name="Shape 36"/>
          <p:cNvSpPr/>
          <p:nvPr/>
        </p:nvSpPr>
        <p:spPr>
          <a:xfrm>
            <a:off x="622300" y="3860800"/>
            <a:ext cx="10960100" cy="2540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37" name="TextBox 37"/>
          <p:cNvSpPr txBox="1"/>
          <p:nvPr/>
        </p:nvSpPr>
        <p:spPr>
          <a:xfrm>
            <a:off x="723900" y="3911600"/>
            <a:ext cx="10756900" cy="165100"/>
          </a:xfrm>
          <a:prstGeom prst="rect">
            <a:avLst/>
          </a:prstGeom>
          <a:noFill/>
        </p:spPr>
        <p:txBody>
          <a:bodyPr wrap="square" anchor="t" lIns="0" rIns="0" tIns="0" bIns="0"/>
          <a:lstStyle/>
          <a:p>
            <a:pPr algn="l">
              <a:lnSpc>
                <a:spcPct val="120000"/>
              </a:lnSpc>
            </a:pPr>
            <a:r>
              <a:rPr lang="en-US" sz="980" i="1" dirty="0">
                <a:solidFill>
                  <a:srgbClr val="5F6368"/>
                </a:solidFill>
                <a:latin typeface="Roboto"/>
                <a:ea typeface="Roboto"/>
                <a:cs typeface="Roboto"/>
              </a:rPr>
              <a:t>What We Traded Off: Support agents see [REDACTED] inside the chat bubble and use the extracted Order Number to look up customer billing safely in your order system.</a:t>
            </a:r>
          </a:p>
        </p:txBody>
      </p:sp>
      <p:sp>
        <p:nvSpPr>
          <p:cNvPr id="38" name="Shape 38"/>
          <p:cNvSpPr/>
          <p:nvPr/>
        </p:nvSpPr>
        <p:spPr>
          <a:xfrm>
            <a:off x="457200" y="4292600"/>
            <a:ext cx="11277600" cy="9906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39" name="Shape 39"/>
          <p:cNvSpPr/>
          <p:nvPr/>
        </p:nvSpPr>
        <p:spPr>
          <a:xfrm>
            <a:off x="457200" y="4292600"/>
            <a:ext cx="38100" cy="990600"/>
          </a:xfrm>
          <a:prstGeom prst="rect">
            <a:avLst/>
          </a:prstGeom>
          <a:solidFill>
            <a:srgbClr val="B06000"/>
          </a:solidFill>
          <a:ln>
            <a:noFill/>
          </a:ln>
          <a:effectLst/>
        </p:spPr>
        <p:txBody>
          <a:bodyPr rtlCol="0" anchor="ctr"/>
          <a:lstStyle/>
          <a:p>
            <a:pPr algn="ctr"/>
          </a:p>
        </p:txBody>
      </p:sp>
      <p:sp>
        <p:nvSpPr>
          <p:cNvPr id="40" name="TextBox 40"/>
          <p:cNvSpPr txBox="1"/>
          <p:nvPr/>
        </p:nvSpPr>
        <p:spPr>
          <a:xfrm>
            <a:off x="622300" y="4381500"/>
            <a:ext cx="7302500" cy="1778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4. Asking One Clarifying Question on Vague Prompts vs. Guessing Immediately</a:t>
            </a:r>
          </a:p>
        </p:txBody>
      </p:sp>
      <p:sp>
        <p:nvSpPr>
          <p:cNvPr id="41" name="Shape 41"/>
          <p:cNvSpPr/>
          <p:nvPr/>
        </p:nvSpPr>
        <p:spPr>
          <a:xfrm>
            <a:off x="9207500" y="4381500"/>
            <a:ext cx="2374900" cy="165100"/>
          </a:xfrm>
          <a:prstGeom prst="roundRect">
            <a:avLst>
              <a:gd name="adj" fmla="val 50000"/>
            </a:avLst>
          </a:prstGeom>
          <a:solidFill>
            <a:srgbClr val="FEF7E0"/>
          </a:solidFill>
          <a:ln>
            <a:noFill/>
          </a:ln>
          <a:effectLst/>
        </p:spPr>
        <p:txBody>
          <a:bodyPr rtlCol="0" anchor="ctr"/>
          <a:lstStyle/>
          <a:p>
            <a:pPr algn="ctr"/>
          </a:p>
        </p:txBody>
      </p:sp>
      <p:sp>
        <p:nvSpPr>
          <p:cNvPr id="42" name="TextBox 42"/>
          <p:cNvSpPr txBox="1"/>
          <p:nvPr/>
        </p:nvSpPr>
        <p:spPr>
          <a:xfrm>
            <a:off x="9207500" y="4381500"/>
            <a:ext cx="2374900" cy="165100"/>
          </a:xfrm>
          <a:prstGeom prst="rect">
            <a:avLst/>
          </a:prstGeom>
          <a:noFill/>
        </p:spPr>
        <p:txBody>
          <a:bodyPr wrap="square" anchor="ctr" lIns="0" rIns="0" tIns="0" bIns="0"/>
          <a:lstStyle/>
          <a:p>
            <a:pPr algn="ctr">
              <a:lnSpc>
                <a:spcPct val="120000"/>
              </a:lnSpc>
            </a:pPr>
            <a:r>
              <a:rPr lang="en-US" sz="800" b="1" dirty="0">
                <a:solidFill>
                  <a:srgbClr val="B06000"/>
                </a:solidFill>
                <a:latin typeface="Roboto"/>
                <a:ea typeface="Roboto"/>
                <a:cs typeface="Roboto"/>
              </a:rPr>
              <a:t>CHOSE: ASK 1 POLITE QUESTION FIRST</a:t>
            </a:r>
          </a:p>
        </p:txBody>
      </p:sp>
      <p:sp>
        <p:nvSpPr>
          <p:cNvPr id="43" name="TextBox 43"/>
          <p:cNvSpPr txBox="1"/>
          <p:nvPr/>
        </p:nvSpPr>
        <p:spPr>
          <a:xfrm>
            <a:off x="622300" y="4610100"/>
            <a:ext cx="10960100" cy="304800"/>
          </a:xfrm>
          <a:prstGeom prst="rect">
            <a:avLst/>
          </a:prstGeom>
          <a:noFill/>
        </p:spPr>
        <p:txBody>
          <a:bodyPr wrap="square" anchor="t" lIns="0" rIns="0" tIns="0" bIns="0"/>
          <a:lstStyle/>
          <a:p>
            <a:pPr algn="l">
              <a:lnSpc>
                <a:spcPct val="120000"/>
              </a:lnSpc>
            </a:pPr>
            <a:r>
              <a:rPr lang="en-US" sz="1050" dirty="0">
                <a:solidFill>
                  <a:srgbClr val="202124"/>
                </a:solidFill>
                <a:latin typeface="Roboto"/>
                <a:ea typeface="Roboto"/>
                <a:cs typeface="Roboto"/>
              </a:rPr>
              <a:t>Why We Chose It: When a shopper simply writes 'Help, it is not working,' asking one clarifying question prevents wrong policy advice and avoids wasted searches.</a:t>
            </a:r>
          </a:p>
        </p:txBody>
      </p:sp>
      <p:sp>
        <p:nvSpPr>
          <p:cNvPr id="44" name="Shape 44"/>
          <p:cNvSpPr/>
          <p:nvPr/>
        </p:nvSpPr>
        <p:spPr>
          <a:xfrm>
            <a:off x="622300" y="4940300"/>
            <a:ext cx="10960100" cy="2540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45" name="TextBox 45"/>
          <p:cNvSpPr txBox="1"/>
          <p:nvPr/>
        </p:nvSpPr>
        <p:spPr>
          <a:xfrm>
            <a:off x="723900" y="4991100"/>
            <a:ext cx="10756900" cy="165100"/>
          </a:xfrm>
          <a:prstGeom prst="rect">
            <a:avLst/>
          </a:prstGeom>
          <a:noFill/>
        </p:spPr>
        <p:txBody>
          <a:bodyPr wrap="square" anchor="t" lIns="0" rIns="0" tIns="0" bIns="0"/>
          <a:lstStyle/>
          <a:p>
            <a:pPr algn="l">
              <a:lnSpc>
                <a:spcPct val="120000"/>
              </a:lnSpc>
            </a:pPr>
            <a:r>
              <a:rPr lang="en-US" sz="980" i="1" dirty="0">
                <a:solidFill>
                  <a:srgbClr val="5F6368"/>
                </a:solidFill>
                <a:latin typeface="Roboto"/>
                <a:ea typeface="Roboto"/>
                <a:cs typeface="Roboto"/>
              </a:rPr>
              <a:t>What We Traded Off: Adds one brief back-and-forth message on vague inquiries in exchange for getting the right answer.</a:t>
            </a:r>
          </a:p>
        </p:txBody>
      </p:sp>
      <p:sp>
        <p:nvSpPr>
          <p:cNvPr id="46" name="Shape 46"/>
          <p:cNvSpPr/>
          <p:nvPr/>
        </p:nvSpPr>
        <p:spPr>
          <a:xfrm>
            <a:off x="457200" y="5372100"/>
            <a:ext cx="11277600" cy="9906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47" name="Shape 47"/>
          <p:cNvSpPr/>
          <p:nvPr/>
        </p:nvSpPr>
        <p:spPr>
          <a:xfrm>
            <a:off x="457200" y="5372100"/>
            <a:ext cx="38100" cy="990600"/>
          </a:xfrm>
          <a:prstGeom prst="rect">
            <a:avLst/>
          </a:prstGeom>
          <a:solidFill>
            <a:srgbClr val="1A73E8"/>
          </a:solidFill>
          <a:ln>
            <a:noFill/>
          </a:ln>
          <a:effectLst/>
        </p:spPr>
        <p:txBody>
          <a:bodyPr rtlCol="0" anchor="ctr"/>
          <a:lstStyle/>
          <a:p>
            <a:pPr algn="ctr"/>
          </a:p>
        </p:txBody>
      </p:sp>
      <p:sp>
        <p:nvSpPr>
          <p:cNvPr id="48" name="TextBox 48"/>
          <p:cNvSpPr txBox="1"/>
          <p:nvPr/>
        </p:nvSpPr>
        <p:spPr>
          <a:xfrm>
            <a:off x="622300" y="5461000"/>
            <a:ext cx="7302500" cy="1778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5. Full Memory for Policy Answers vs. Clean Slate for Every Mood Check</a:t>
            </a:r>
          </a:p>
        </p:txBody>
      </p:sp>
      <p:sp>
        <p:nvSpPr>
          <p:cNvPr id="49" name="Shape 49"/>
          <p:cNvSpPr/>
          <p:nvPr/>
        </p:nvSpPr>
        <p:spPr>
          <a:xfrm>
            <a:off x="9207500" y="5461000"/>
            <a:ext cx="2374900" cy="165100"/>
          </a:xfrm>
          <a:prstGeom prst="roundRect">
            <a:avLst>
              <a:gd name="adj" fmla="val 50000"/>
            </a:avLst>
          </a:prstGeom>
          <a:solidFill>
            <a:srgbClr val="E8F0FE"/>
          </a:solidFill>
          <a:ln>
            <a:noFill/>
          </a:ln>
          <a:effectLst/>
        </p:spPr>
        <p:txBody>
          <a:bodyPr rtlCol="0" anchor="ctr"/>
          <a:lstStyle/>
          <a:p>
            <a:pPr algn="ctr"/>
          </a:p>
        </p:txBody>
      </p:sp>
      <p:sp>
        <p:nvSpPr>
          <p:cNvPr id="50" name="TextBox 50"/>
          <p:cNvSpPr txBox="1"/>
          <p:nvPr/>
        </p:nvSpPr>
        <p:spPr>
          <a:xfrm>
            <a:off x="9207500" y="5461000"/>
            <a:ext cx="2374900" cy="165100"/>
          </a:xfrm>
          <a:prstGeom prst="rect">
            <a:avLst/>
          </a:prstGeom>
          <a:noFill/>
        </p:spPr>
        <p:txBody>
          <a:bodyPr wrap="square" anchor="ctr" lIns="0" rIns="0" tIns="0" bIns="0"/>
          <a:lstStyle/>
          <a:p>
            <a:pPr algn="ctr">
              <a:lnSpc>
                <a:spcPct val="120000"/>
              </a:lnSpc>
            </a:pPr>
            <a:r>
              <a:rPr lang="en-US" sz="800" b="1" dirty="0">
                <a:solidFill>
                  <a:srgbClr val="1A73E8"/>
                </a:solidFill>
                <a:latin typeface="Roboto"/>
                <a:ea typeface="Roboto"/>
                <a:cs typeface="Roboto"/>
              </a:rPr>
              <a:t>CHOSE: HYBRID CONVERSATION MEMORY</a:t>
            </a:r>
          </a:p>
        </p:txBody>
      </p:sp>
      <p:sp>
        <p:nvSpPr>
          <p:cNvPr id="51" name="TextBox 51"/>
          <p:cNvSpPr txBox="1"/>
          <p:nvPr/>
        </p:nvSpPr>
        <p:spPr>
          <a:xfrm>
            <a:off x="622300" y="5689600"/>
            <a:ext cx="10960100" cy="304800"/>
          </a:xfrm>
          <a:prstGeom prst="rect">
            <a:avLst/>
          </a:prstGeom>
          <a:noFill/>
        </p:spPr>
        <p:txBody>
          <a:bodyPr wrap="square" anchor="t" lIns="0" rIns="0" tIns="0" bIns="0"/>
          <a:lstStyle/>
          <a:p>
            <a:pPr algn="l">
              <a:lnSpc>
                <a:spcPct val="120000"/>
              </a:lnSpc>
            </a:pPr>
            <a:r>
              <a:rPr lang="en-US" sz="1050" dirty="0">
                <a:solidFill>
                  <a:srgbClr val="202124"/>
                </a:solidFill>
                <a:latin typeface="Roboto"/>
                <a:ea typeface="Roboto"/>
                <a:cs typeface="Roboto"/>
              </a:rPr>
              <a:t>Why We Chose It: The Policy Assistant remembers previous turns so shoppers never have to repeat their Order ID, while the Mood Checker starts fresh on every message.</a:t>
            </a:r>
          </a:p>
        </p:txBody>
      </p:sp>
      <p:sp>
        <p:nvSpPr>
          <p:cNvPr id="52" name="Shape 52"/>
          <p:cNvSpPr/>
          <p:nvPr/>
        </p:nvSpPr>
        <p:spPr>
          <a:xfrm>
            <a:off x="622300" y="6019800"/>
            <a:ext cx="10960100" cy="254000"/>
          </a:xfrm>
          <a:prstGeom prst="roundRect">
            <a:avLst>
              <a:gd name="adj" fmla="val 4000"/>
            </a:avLst>
          </a:prstGeom>
          <a:solidFill>
            <a:srgbClr val="F8F9FA"/>
          </a:solidFill>
          <a:ln w="12700">
            <a:solidFill>
              <a:srgbClr val="DADCE0"/>
            </a:solidFill>
          </a:ln>
          <a:effectLst/>
        </p:spPr>
        <p:txBody>
          <a:bodyPr rtlCol="0" anchor="ctr"/>
          <a:lstStyle/>
          <a:p>
            <a:pPr algn="ctr"/>
          </a:p>
        </p:txBody>
      </p:sp>
      <p:sp>
        <p:nvSpPr>
          <p:cNvPr id="53" name="TextBox 53"/>
          <p:cNvSpPr txBox="1"/>
          <p:nvPr/>
        </p:nvSpPr>
        <p:spPr>
          <a:xfrm>
            <a:off x="723900" y="6070600"/>
            <a:ext cx="10756900" cy="165100"/>
          </a:xfrm>
          <a:prstGeom prst="rect">
            <a:avLst/>
          </a:prstGeom>
          <a:noFill/>
        </p:spPr>
        <p:txBody>
          <a:bodyPr wrap="square" anchor="t" lIns="0" rIns="0" tIns="0" bIns="0"/>
          <a:lstStyle/>
          <a:p>
            <a:pPr algn="l">
              <a:lnSpc>
                <a:spcPct val="120000"/>
              </a:lnSpc>
            </a:pPr>
            <a:r>
              <a:rPr lang="en-US" sz="980" i="1" dirty="0">
                <a:solidFill>
                  <a:srgbClr val="5F6368"/>
                </a:solidFill>
                <a:latin typeface="Roboto"/>
                <a:ea typeface="Roboto"/>
                <a:cs typeface="Roboto"/>
              </a:rPr>
              <a:t>What We Traded Off: Slightly higher memory cost ($0.0018/turn) on policy chats, while ensuring past frustration never biases future mood checks.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2"/>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Shape 3"/>
          <p:cNvSpPr/>
          <p:nvPr/>
        </p:nvSpPr>
        <p:spPr>
          <a:xfrm>
            <a:off x="457200" y="279400"/>
            <a:ext cx="114300" cy="38100"/>
          </a:xfrm>
          <a:prstGeom prst="roundRect">
            <a:avLst>
              <a:gd name="adj" fmla="val 50000"/>
            </a:avLst>
          </a:prstGeom>
          <a:solidFill>
            <a:srgbClr val="1A73E8"/>
          </a:solidFill>
          <a:ln>
            <a:noFill/>
          </a:ln>
          <a:effectLst/>
        </p:spPr>
        <p:txBody>
          <a:bodyPr rtlCol="0" anchor="ctr"/>
          <a:lstStyle/>
          <a:p>
            <a:pPr algn="ctr"/>
          </a:p>
        </p:txBody>
      </p:sp>
      <p:sp>
        <p:nvSpPr>
          <p:cNvPr id="4" name="Shape 4"/>
          <p:cNvSpPr/>
          <p:nvPr/>
        </p:nvSpPr>
        <p:spPr>
          <a:xfrm>
            <a:off x="596900" y="279400"/>
            <a:ext cx="114300" cy="38100"/>
          </a:xfrm>
          <a:prstGeom prst="roundRect">
            <a:avLst>
              <a:gd name="adj" fmla="val 50000"/>
            </a:avLst>
          </a:prstGeom>
          <a:solidFill>
            <a:srgbClr val="EA4335"/>
          </a:solidFill>
          <a:ln>
            <a:noFill/>
          </a:ln>
          <a:effectLst/>
        </p:spPr>
        <p:txBody>
          <a:bodyPr rtlCol="0" anchor="ctr"/>
          <a:lstStyle/>
          <a:p>
            <a:pPr algn="ctr"/>
          </a:p>
        </p:txBody>
      </p:sp>
      <p:sp>
        <p:nvSpPr>
          <p:cNvPr id="5" name="Shape 5"/>
          <p:cNvSpPr/>
          <p:nvPr/>
        </p:nvSpPr>
        <p:spPr>
          <a:xfrm>
            <a:off x="736600" y="279400"/>
            <a:ext cx="114300" cy="38100"/>
          </a:xfrm>
          <a:prstGeom prst="roundRect">
            <a:avLst>
              <a:gd name="adj" fmla="val 50000"/>
            </a:avLst>
          </a:prstGeom>
          <a:solidFill>
            <a:srgbClr val="FBBC04"/>
          </a:solidFill>
          <a:ln>
            <a:noFill/>
          </a:ln>
          <a:effectLst/>
        </p:spPr>
        <p:txBody>
          <a:bodyPr rtlCol="0" anchor="ctr"/>
          <a:lstStyle/>
          <a:p>
            <a:pPr algn="ctr"/>
          </a:p>
        </p:txBody>
      </p:sp>
      <p:sp>
        <p:nvSpPr>
          <p:cNvPr id="6" name="Shape 6"/>
          <p:cNvSpPr/>
          <p:nvPr/>
        </p:nvSpPr>
        <p:spPr>
          <a:xfrm>
            <a:off x="876300" y="279400"/>
            <a:ext cx="114300" cy="38100"/>
          </a:xfrm>
          <a:prstGeom prst="roundRect">
            <a:avLst>
              <a:gd name="adj" fmla="val 50000"/>
            </a:avLst>
          </a:prstGeom>
          <a:solidFill>
            <a:srgbClr val="34A853"/>
          </a:solidFill>
          <a:ln>
            <a:noFill/>
          </a:ln>
          <a:effectLst/>
        </p:spPr>
        <p:txBody>
          <a:bodyPr rtlCol="0" anchor="ctr"/>
          <a:lstStyle/>
          <a:p>
            <a:pPr algn="ctr"/>
          </a:p>
        </p:txBody>
      </p:sp>
      <p:sp>
        <p:nvSpPr>
          <p:cNvPr id="7" name="TextBox 7"/>
          <p:cNvSpPr txBox="1"/>
          <p:nvPr/>
        </p:nvSpPr>
        <p:spPr>
          <a:xfrm>
            <a:off x="1066800" y="241300"/>
            <a:ext cx="7620000" cy="152400"/>
          </a:xfrm>
          <a:prstGeom prst="rect">
            <a:avLst/>
          </a:prstGeom>
          <a:noFill/>
        </p:spPr>
        <p:txBody>
          <a:bodyPr wrap="square" anchor="t" lIns="0" rIns="0" tIns="0" bIns="0"/>
          <a:lstStyle/>
          <a:p>
            <a:pPr algn="l">
              <a:lnSpc>
                <a:spcPct val="120000"/>
              </a:lnSpc>
            </a:pPr>
            <a:r>
              <a:rPr lang="en-US" sz="950" b="1" dirty="0">
                <a:solidFill>
                  <a:srgbClr val="1A73E8"/>
                </a:solidFill>
                <a:latin typeface="Roboto"/>
                <a:ea typeface="Roboto"/>
                <a:cs typeface="Roboto"/>
              </a:rPr>
              <a:t>07 / OUR AI-DRIVEN DELIVERY APPROACH</a:t>
            </a:r>
          </a:p>
        </p:txBody>
      </p:sp>
      <p:sp>
        <p:nvSpPr>
          <p:cNvPr id="8" name="TextBox 8"/>
          <p:cNvSpPr txBox="1"/>
          <p:nvPr/>
        </p:nvSpPr>
        <p:spPr>
          <a:xfrm>
            <a:off x="10477500" y="241300"/>
            <a:ext cx="1257300" cy="152400"/>
          </a:xfrm>
          <a:prstGeom prst="rect">
            <a:avLst/>
          </a:prstGeom>
          <a:noFill/>
        </p:spPr>
        <p:txBody>
          <a:bodyPr wrap="square" anchor="t" lIns="0" rIns="0" tIns="0" bIns="0"/>
          <a:lstStyle/>
          <a:p>
            <a:pPr algn="r">
              <a:lnSpc>
                <a:spcPct val="120000"/>
              </a:lnSpc>
            </a:pPr>
            <a:r>
              <a:rPr lang="en-US" sz="950" b="1" dirty="0">
                <a:solidFill>
                  <a:srgbClr val="80868B"/>
                </a:solidFill>
                <a:latin typeface="Roboto"/>
                <a:ea typeface="Roboto"/>
                <a:cs typeface="Roboto"/>
              </a:rPr>
              <a:t>SLIDE 07 / 07</a:t>
            </a:r>
          </a:p>
        </p:txBody>
      </p:sp>
      <p:sp>
        <p:nvSpPr>
          <p:cNvPr id="9" name="TextBox 9"/>
          <p:cNvSpPr txBox="1"/>
          <p:nvPr/>
        </p:nvSpPr>
        <p:spPr>
          <a:xfrm>
            <a:off x="457200" y="431800"/>
            <a:ext cx="11277600" cy="292100"/>
          </a:xfrm>
          <a:prstGeom prst="rect">
            <a:avLst/>
          </a:prstGeom>
          <a:noFill/>
        </p:spPr>
        <p:txBody>
          <a:bodyPr wrap="square" anchor="t" lIns="0" rIns="0" tIns="0" bIns="0"/>
          <a:lstStyle/>
          <a:p>
            <a:pPr algn="l">
              <a:lnSpc>
                <a:spcPct val="120000"/>
              </a:lnSpc>
            </a:pPr>
            <a:r>
              <a:rPr lang="en-US" sz="2400" b="1" dirty="0">
                <a:solidFill>
                  <a:srgbClr val="202124"/>
                </a:solidFill>
                <a:latin typeface="Roboto"/>
                <a:ea typeface="Roboto"/>
                <a:cs typeface="Roboto"/>
              </a:rPr>
              <a:t>AI Accelerates the Heavy Lifting — Humans Own the Decisions &amp; Quality</a:t>
            </a:r>
          </a:p>
        </p:txBody>
      </p:sp>
      <p:sp>
        <p:nvSpPr>
          <p:cNvPr id="10" name="TextBox 10"/>
          <p:cNvSpPr txBox="1"/>
          <p:nvPr/>
        </p:nvSpPr>
        <p:spPr>
          <a:xfrm>
            <a:off x="457200" y="736600"/>
            <a:ext cx="11277600" cy="190500"/>
          </a:xfrm>
          <a:prstGeom prst="rect">
            <a:avLst/>
          </a:prstGeom>
          <a:noFill/>
        </p:spPr>
        <p:txBody>
          <a:bodyPr wrap="square" anchor="t" lIns="0" rIns="0" tIns="0" bIns="0"/>
          <a:lstStyle/>
          <a:p>
            <a:pPr algn="l">
              <a:lnSpc>
                <a:spcPct val="120000"/>
              </a:lnSpc>
            </a:pPr>
            <a:r>
              <a:rPr lang="en-US" sz="1200" dirty="0">
                <a:solidFill>
                  <a:srgbClr val="5F6368"/>
                </a:solidFill>
                <a:latin typeface="Roboto"/>
                <a:ea typeface="Roboto"/>
                <a:cs typeface="Roboto"/>
              </a:rPr>
              <a:t>How we partnered with Google Antigravity to deliver an enterprise-grade platform in days, backed by a 5-step safety checklist.</a:t>
            </a:r>
          </a:p>
        </p:txBody>
      </p:sp>
      <p:sp>
        <p:nvSpPr>
          <p:cNvPr id="11" name="Shape 11"/>
          <p:cNvSpPr/>
          <p:nvPr/>
        </p:nvSpPr>
        <p:spPr>
          <a:xfrm>
            <a:off x="457200" y="6515100"/>
            <a:ext cx="11277600" cy="6350"/>
          </a:xfrm>
          <a:prstGeom prst="rect">
            <a:avLst/>
          </a:prstGeom>
          <a:solidFill>
            <a:srgbClr val="DADCE0"/>
          </a:solidFill>
          <a:ln>
            <a:noFill/>
          </a:ln>
          <a:effectLst/>
        </p:spPr>
        <p:txBody>
          <a:bodyPr rtlCol="0" anchor="ctr"/>
          <a:lstStyle/>
          <a:p>
            <a:pPr algn="ctr"/>
          </a:p>
        </p:txBody>
      </p:sp>
      <p:sp>
        <p:nvSpPr>
          <p:cNvPr id="12" name="TextBox 12"/>
          <p:cNvSpPr txBox="1"/>
          <p:nvPr/>
        </p:nvSpPr>
        <p:spPr>
          <a:xfrm>
            <a:off x="457200" y="6565900"/>
            <a:ext cx="8572500" cy="152400"/>
          </a:xfrm>
          <a:prstGeom prst="rect">
            <a:avLst/>
          </a:prstGeom>
          <a:noFill/>
        </p:spPr>
        <p:txBody>
          <a:bodyPr wrap="square" anchor="t" lIns="0" rIns="0" tIns="0" bIns="0"/>
          <a:lstStyle/>
          <a:p>
            <a:pPr algn="l">
              <a:lnSpc>
                <a:spcPct val="120000"/>
              </a:lnSpc>
            </a:pPr>
            <a:r>
              <a:rPr lang="en-US" sz="850" dirty="0">
                <a:solidFill>
                  <a:srgbClr val="80868B"/>
                </a:solidFill>
                <a:latin typeface="Roboto"/>
                <a:ea typeface="Roboto"/>
                <a:cs typeface="Roboto"/>
              </a:rPr>
              <a:t>Timing: ~1 min 15 sec  ·  Focus: How AI-Assisted Delivery sped up the build while strengthening quality &amp; safety</a:t>
            </a:r>
          </a:p>
        </p:txBody>
      </p:sp>
      <p:sp>
        <p:nvSpPr>
          <p:cNvPr id="13" name="TextBox 13"/>
          <p:cNvSpPr txBox="1"/>
          <p:nvPr/>
        </p:nvSpPr>
        <p:spPr>
          <a:xfrm>
            <a:off x="9017000" y="6565900"/>
            <a:ext cx="2717800" cy="152400"/>
          </a:xfrm>
          <a:prstGeom prst="rect">
            <a:avLst/>
          </a:prstGeom>
          <a:noFill/>
        </p:spPr>
        <p:txBody>
          <a:bodyPr wrap="square" anchor="t" lIns="0" rIns="0" tIns="0" bIns="0"/>
          <a:lstStyle/>
          <a:p>
            <a:pPr algn="r">
              <a:lnSpc>
                <a:spcPct val="120000"/>
              </a:lnSpc>
            </a:pPr>
            <a:r>
              <a:rPr lang="en-US" sz="850" dirty="0">
                <a:solidFill>
                  <a:srgbClr val="80868B"/>
                </a:solidFill>
                <a:latin typeface="Roboto"/>
                <a:ea typeface="Roboto"/>
                <a:cs typeface="Roboto"/>
              </a:rPr>
              <a:t>Global Retail Hub · Customer Build Readout</a:t>
            </a:r>
          </a:p>
        </p:txBody>
      </p:sp>
      <p:sp>
        <p:nvSpPr>
          <p:cNvPr id="14" name="TextBox 14"/>
          <p:cNvSpPr txBox="1"/>
          <p:nvPr/>
        </p:nvSpPr>
        <p:spPr>
          <a:xfrm>
            <a:off x="457200" y="1028700"/>
            <a:ext cx="11277600" cy="165100"/>
          </a:xfrm>
          <a:prstGeom prst="rect">
            <a:avLst/>
          </a:prstGeom>
          <a:noFill/>
        </p:spPr>
        <p:txBody>
          <a:bodyPr wrap="square" anchor="t" lIns="0" rIns="0" tIns="0" bIns="0"/>
          <a:lstStyle/>
          <a:p>
            <a:pPr algn="l">
              <a:lnSpc>
                <a:spcPct val="120000"/>
              </a:lnSpc>
            </a:pPr>
            <a:r>
              <a:rPr lang="en-US" sz="1050" b="1" dirty="0">
                <a:solidFill>
                  <a:srgbClr val="5F6368"/>
                </a:solidFill>
                <a:latin typeface="Roboto"/>
                <a:ea typeface="Roboto"/>
                <a:cs typeface="Roboto"/>
              </a:rPr>
              <a:t>FOUR PILLARS OF OUR AI-ASSISTED DELIVERY METHODOLOGY</a:t>
            </a:r>
          </a:p>
        </p:txBody>
      </p:sp>
      <p:sp>
        <p:nvSpPr>
          <p:cNvPr id="15" name="Shape 15"/>
          <p:cNvSpPr/>
          <p:nvPr/>
        </p:nvSpPr>
        <p:spPr>
          <a:xfrm>
            <a:off x="457200" y="1231900"/>
            <a:ext cx="2705100" cy="18415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16" name="Shape 16"/>
          <p:cNvSpPr/>
          <p:nvPr/>
        </p:nvSpPr>
        <p:spPr>
          <a:xfrm>
            <a:off x="457200" y="1231900"/>
            <a:ext cx="2705100" cy="38100"/>
          </a:xfrm>
          <a:prstGeom prst="rect">
            <a:avLst/>
          </a:prstGeom>
          <a:solidFill>
            <a:srgbClr val="1A73E8"/>
          </a:solidFill>
          <a:ln>
            <a:noFill/>
          </a:ln>
          <a:effectLst/>
        </p:spPr>
        <p:txBody>
          <a:bodyPr rtlCol="0" anchor="ctr"/>
          <a:lstStyle/>
          <a:p>
            <a:pPr algn="ctr"/>
          </a:p>
        </p:txBody>
      </p:sp>
      <p:sp>
        <p:nvSpPr>
          <p:cNvPr id="17" name="Shape 17"/>
          <p:cNvSpPr/>
          <p:nvPr/>
        </p:nvSpPr>
        <p:spPr>
          <a:xfrm>
            <a:off x="584200" y="1371600"/>
            <a:ext cx="1174750" cy="152400"/>
          </a:xfrm>
          <a:prstGeom prst="roundRect">
            <a:avLst>
              <a:gd name="adj" fmla="val 50000"/>
            </a:avLst>
          </a:prstGeom>
          <a:solidFill>
            <a:srgbClr val="E8F0FE"/>
          </a:solidFill>
          <a:ln>
            <a:noFill/>
          </a:ln>
          <a:effectLst/>
        </p:spPr>
        <p:txBody>
          <a:bodyPr rtlCol="0" anchor="ctr"/>
          <a:lstStyle/>
          <a:p>
            <a:pPr algn="ctr"/>
          </a:p>
        </p:txBody>
      </p:sp>
      <p:sp>
        <p:nvSpPr>
          <p:cNvPr id="18" name="TextBox 18"/>
          <p:cNvSpPr txBox="1"/>
          <p:nvPr/>
        </p:nvSpPr>
        <p:spPr>
          <a:xfrm>
            <a:off x="584200" y="1371600"/>
            <a:ext cx="1174750" cy="152400"/>
          </a:xfrm>
          <a:prstGeom prst="rect">
            <a:avLst/>
          </a:prstGeom>
          <a:noFill/>
        </p:spPr>
        <p:txBody>
          <a:bodyPr wrap="square" anchor="ctr" lIns="0" rIns="0" tIns="0" bIns="0"/>
          <a:lstStyle/>
          <a:p>
            <a:pPr algn="ctr">
              <a:lnSpc>
                <a:spcPct val="120000"/>
              </a:lnSpc>
            </a:pPr>
            <a:r>
              <a:rPr lang="en-US" sz="800" b="1" dirty="0">
                <a:solidFill>
                  <a:srgbClr val="1A73E8"/>
                </a:solidFill>
                <a:latin typeface="Roboto"/>
                <a:ea typeface="Roboto"/>
                <a:cs typeface="Roboto"/>
              </a:rPr>
              <a:t>CLEAR BLUEPRINT</a:t>
            </a:r>
          </a:p>
        </p:txBody>
      </p:sp>
      <p:sp>
        <p:nvSpPr>
          <p:cNvPr id="19" name="TextBox 19"/>
          <p:cNvSpPr txBox="1"/>
          <p:nvPr/>
        </p:nvSpPr>
        <p:spPr>
          <a:xfrm>
            <a:off x="584200" y="1612900"/>
            <a:ext cx="2451100" cy="1905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1. Upfront Design Before Building</a:t>
            </a:r>
          </a:p>
        </p:txBody>
      </p:sp>
      <p:sp>
        <p:nvSpPr>
          <p:cNvPr id="20" name="TextBox 20"/>
          <p:cNvSpPr txBox="1"/>
          <p:nvPr/>
        </p:nvSpPr>
        <p:spPr>
          <a:xfrm>
            <a:off x="584200" y="1854200"/>
            <a:ext cx="2451100" cy="1111250"/>
          </a:xfrm>
          <a:prstGeom prst="rect">
            <a:avLst/>
          </a:prstGeom>
          <a:noFill/>
        </p:spPr>
        <p:txBody>
          <a:bodyPr wrap="square" anchor="t" lIns="0" rIns="0" tIns="0" bIns="0"/>
          <a:lstStyle/>
          <a:p>
            <a:pPr algn="l">
              <a:lnSpc>
                <a:spcPct val="120000"/>
              </a:lnSpc>
            </a:pPr>
            <a:r>
              <a:rPr lang="en-US" sz="1020" dirty="0">
                <a:solidFill>
                  <a:srgbClr val="5F6368"/>
                </a:solidFill>
                <a:latin typeface="Roboto"/>
                <a:ea typeface="Roboto"/>
                <a:cs typeface="Roboto"/>
              </a:rPr>
              <a:t>Before building a single screen, we used AI to stress-test our system design against Global Retail Hub's goals—mapping out customer privacy, failure modes, and cost targets upfront.</a:t>
            </a:r>
          </a:p>
        </p:txBody>
      </p:sp>
      <p:sp>
        <p:nvSpPr>
          <p:cNvPr id="21" name="Shape 21"/>
          <p:cNvSpPr/>
          <p:nvPr/>
        </p:nvSpPr>
        <p:spPr>
          <a:xfrm>
            <a:off x="3314700" y="1231900"/>
            <a:ext cx="2705100" cy="18415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22" name="Shape 22"/>
          <p:cNvSpPr/>
          <p:nvPr/>
        </p:nvSpPr>
        <p:spPr>
          <a:xfrm>
            <a:off x="3314700" y="1231900"/>
            <a:ext cx="2705100" cy="38100"/>
          </a:xfrm>
          <a:prstGeom prst="rect">
            <a:avLst/>
          </a:prstGeom>
          <a:solidFill>
            <a:srgbClr val="EA4335"/>
          </a:solidFill>
          <a:ln>
            <a:noFill/>
          </a:ln>
          <a:effectLst/>
        </p:spPr>
        <p:txBody>
          <a:bodyPr rtlCol="0" anchor="ctr"/>
          <a:lstStyle/>
          <a:p>
            <a:pPr algn="ctr"/>
          </a:p>
        </p:txBody>
      </p:sp>
      <p:sp>
        <p:nvSpPr>
          <p:cNvPr id="23" name="Shape 23"/>
          <p:cNvSpPr/>
          <p:nvPr/>
        </p:nvSpPr>
        <p:spPr>
          <a:xfrm>
            <a:off x="3441700" y="1371600"/>
            <a:ext cx="1174750" cy="152400"/>
          </a:xfrm>
          <a:prstGeom prst="roundRect">
            <a:avLst>
              <a:gd name="adj" fmla="val 50000"/>
            </a:avLst>
          </a:prstGeom>
          <a:solidFill>
            <a:srgbClr val="FCE8E6"/>
          </a:solidFill>
          <a:ln>
            <a:noFill/>
          </a:ln>
          <a:effectLst/>
        </p:spPr>
        <p:txBody>
          <a:bodyPr rtlCol="0" anchor="ctr"/>
          <a:lstStyle/>
          <a:p>
            <a:pPr algn="ctr"/>
          </a:p>
        </p:txBody>
      </p:sp>
      <p:sp>
        <p:nvSpPr>
          <p:cNvPr id="24" name="TextBox 24"/>
          <p:cNvSpPr txBox="1"/>
          <p:nvPr/>
        </p:nvSpPr>
        <p:spPr>
          <a:xfrm>
            <a:off x="3441700" y="1371600"/>
            <a:ext cx="1174750" cy="152400"/>
          </a:xfrm>
          <a:prstGeom prst="rect">
            <a:avLst/>
          </a:prstGeom>
          <a:noFill/>
        </p:spPr>
        <p:txBody>
          <a:bodyPr wrap="square" anchor="ctr" lIns="0" rIns="0" tIns="0" bIns="0"/>
          <a:lstStyle/>
          <a:p>
            <a:pPr algn="ctr">
              <a:lnSpc>
                <a:spcPct val="120000"/>
              </a:lnSpc>
            </a:pPr>
            <a:r>
              <a:rPr lang="en-US" sz="800" b="1" dirty="0">
                <a:solidFill>
                  <a:srgbClr val="EA4335"/>
                </a:solidFill>
                <a:latin typeface="Roboto"/>
                <a:ea typeface="Roboto"/>
                <a:cs typeface="Roboto"/>
              </a:rPr>
              <a:t>32 IMPROVEMENTS FIXED</a:t>
            </a:r>
          </a:p>
        </p:txBody>
      </p:sp>
      <p:sp>
        <p:nvSpPr>
          <p:cNvPr id="25" name="TextBox 25"/>
          <p:cNvSpPr txBox="1"/>
          <p:nvPr/>
        </p:nvSpPr>
        <p:spPr>
          <a:xfrm>
            <a:off x="3441700" y="1612900"/>
            <a:ext cx="2451100" cy="1905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2. 32-Point Security &amp; Quality Audit</a:t>
            </a:r>
          </a:p>
        </p:txBody>
      </p:sp>
      <p:sp>
        <p:nvSpPr>
          <p:cNvPr id="26" name="TextBox 26"/>
          <p:cNvSpPr txBox="1"/>
          <p:nvPr/>
        </p:nvSpPr>
        <p:spPr>
          <a:xfrm>
            <a:off x="3441700" y="1854200"/>
            <a:ext cx="2451100" cy="1111250"/>
          </a:xfrm>
          <a:prstGeom prst="rect">
            <a:avLst/>
          </a:prstGeom>
          <a:noFill/>
        </p:spPr>
        <p:txBody>
          <a:bodyPr wrap="square" anchor="t" lIns="0" rIns="0" tIns="0" bIns="0"/>
          <a:lstStyle/>
          <a:p>
            <a:pPr algn="l">
              <a:lnSpc>
                <a:spcPct val="120000"/>
              </a:lnSpc>
            </a:pPr>
            <a:r>
              <a:rPr lang="en-US" sz="1020" dirty="0">
                <a:solidFill>
                  <a:srgbClr val="5F6368"/>
                </a:solidFill>
                <a:latin typeface="Roboto"/>
                <a:ea typeface="Roboto"/>
                <a:cs typeface="Roboto"/>
              </a:rPr>
              <a:t>We directed our AI partner to inspect the entire platform like an independent security auditor—identifying and resolving 32 privacy, security, and reliability improvements before launch review.</a:t>
            </a:r>
          </a:p>
        </p:txBody>
      </p:sp>
      <p:sp>
        <p:nvSpPr>
          <p:cNvPr id="27" name="Shape 27"/>
          <p:cNvSpPr/>
          <p:nvPr/>
        </p:nvSpPr>
        <p:spPr>
          <a:xfrm>
            <a:off x="6172200" y="1231900"/>
            <a:ext cx="2705100" cy="18415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28" name="Shape 28"/>
          <p:cNvSpPr/>
          <p:nvPr/>
        </p:nvSpPr>
        <p:spPr>
          <a:xfrm>
            <a:off x="6172200" y="1231900"/>
            <a:ext cx="2705100" cy="38100"/>
          </a:xfrm>
          <a:prstGeom prst="rect">
            <a:avLst/>
          </a:prstGeom>
          <a:solidFill>
            <a:srgbClr val="137333"/>
          </a:solidFill>
          <a:ln>
            <a:noFill/>
          </a:ln>
          <a:effectLst/>
        </p:spPr>
        <p:txBody>
          <a:bodyPr rtlCol="0" anchor="ctr"/>
          <a:lstStyle/>
          <a:p>
            <a:pPr algn="ctr"/>
          </a:p>
        </p:txBody>
      </p:sp>
      <p:sp>
        <p:nvSpPr>
          <p:cNvPr id="29" name="Shape 29"/>
          <p:cNvSpPr/>
          <p:nvPr/>
        </p:nvSpPr>
        <p:spPr>
          <a:xfrm>
            <a:off x="6299200" y="1371600"/>
            <a:ext cx="1174750" cy="152400"/>
          </a:xfrm>
          <a:prstGeom prst="roundRect">
            <a:avLst>
              <a:gd name="adj" fmla="val 50000"/>
            </a:avLst>
          </a:prstGeom>
          <a:solidFill>
            <a:srgbClr val="E6F4EA"/>
          </a:solidFill>
          <a:ln>
            <a:noFill/>
          </a:ln>
          <a:effectLst/>
        </p:spPr>
        <p:txBody>
          <a:bodyPr rtlCol="0" anchor="ctr"/>
          <a:lstStyle/>
          <a:p>
            <a:pPr algn="ctr"/>
          </a:p>
        </p:txBody>
      </p:sp>
      <p:sp>
        <p:nvSpPr>
          <p:cNvPr id="30" name="TextBox 30"/>
          <p:cNvSpPr txBox="1"/>
          <p:nvPr/>
        </p:nvSpPr>
        <p:spPr>
          <a:xfrm>
            <a:off x="6299200" y="1371600"/>
            <a:ext cx="1174750" cy="152400"/>
          </a:xfrm>
          <a:prstGeom prst="rect">
            <a:avLst/>
          </a:prstGeom>
          <a:noFill/>
        </p:spPr>
        <p:txBody>
          <a:bodyPr wrap="square" anchor="ctr" lIns="0" rIns="0" tIns="0" bIns="0"/>
          <a:lstStyle/>
          <a:p>
            <a:pPr algn="ctr">
              <a:lnSpc>
                <a:spcPct val="120000"/>
              </a:lnSpc>
            </a:pPr>
            <a:r>
              <a:rPr lang="en-US" sz="800" b="1" dirty="0">
                <a:solidFill>
                  <a:srgbClr val="137333"/>
                </a:solidFill>
                <a:latin typeface="Roboto"/>
                <a:ea typeface="Roboto"/>
                <a:cs typeface="Roboto"/>
              </a:rPr>
              <a:t>WEEKS SAVED</a:t>
            </a:r>
          </a:p>
        </p:txBody>
      </p:sp>
      <p:sp>
        <p:nvSpPr>
          <p:cNvPr id="31" name="TextBox 31"/>
          <p:cNvSpPr txBox="1"/>
          <p:nvPr/>
        </p:nvSpPr>
        <p:spPr>
          <a:xfrm>
            <a:off x="6299200" y="1612900"/>
            <a:ext cx="2451100" cy="1905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3. Rapid Portal &amp; Search Delivery</a:t>
            </a:r>
          </a:p>
        </p:txBody>
      </p:sp>
      <p:sp>
        <p:nvSpPr>
          <p:cNvPr id="32" name="TextBox 32"/>
          <p:cNvSpPr txBox="1"/>
          <p:nvPr/>
        </p:nvSpPr>
        <p:spPr>
          <a:xfrm>
            <a:off x="6299200" y="1854200"/>
            <a:ext cx="2451100" cy="1111250"/>
          </a:xfrm>
          <a:prstGeom prst="rect">
            <a:avLst/>
          </a:prstGeom>
          <a:noFill/>
        </p:spPr>
        <p:txBody>
          <a:bodyPr wrap="square" anchor="t" lIns="0" rIns="0" tIns="0" bIns="0"/>
          <a:lstStyle/>
          <a:p>
            <a:pPr algn="l">
              <a:lnSpc>
                <a:spcPct val="120000"/>
              </a:lnSpc>
            </a:pPr>
            <a:r>
              <a:rPr lang="en-US" sz="1020" dirty="0">
                <a:solidFill>
                  <a:srgbClr val="5F6368"/>
                </a:solidFill>
                <a:latin typeface="Roboto"/>
                <a:ea typeface="Roboto"/>
                <a:cs typeface="Roboto"/>
              </a:rPr>
              <a:t>AI-assisted delivery enabled us to build the responsive customer support workspace, source citation viewer, and 100,000-record search engine in days rather than weeks.</a:t>
            </a:r>
          </a:p>
        </p:txBody>
      </p:sp>
      <p:sp>
        <p:nvSpPr>
          <p:cNvPr id="33" name="Shape 33"/>
          <p:cNvSpPr/>
          <p:nvPr/>
        </p:nvSpPr>
        <p:spPr>
          <a:xfrm>
            <a:off x="9029700" y="1231900"/>
            <a:ext cx="2705100" cy="18415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34" name="Shape 34"/>
          <p:cNvSpPr/>
          <p:nvPr/>
        </p:nvSpPr>
        <p:spPr>
          <a:xfrm>
            <a:off x="9029700" y="1231900"/>
            <a:ext cx="2705100" cy="38100"/>
          </a:xfrm>
          <a:prstGeom prst="rect">
            <a:avLst/>
          </a:prstGeom>
          <a:solidFill>
            <a:srgbClr val="B06000"/>
          </a:solidFill>
          <a:ln>
            <a:noFill/>
          </a:ln>
          <a:effectLst/>
        </p:spPr>
        <p:txBody>
          <a:bodyPr rtlCol="0" anchor="ctr"/>
          <a:lstStyle/>
          <a:p>
            <a:pPr algn="ctr"/>
          </a:p>
        </p:txBody>
      </p:sp>
      <p:sp>
        <p:nvSpPr>
          <p:cNvPr id="35" name="Shape 35"/>
          <p:cNvSpPr/>
          <p:nvPr/>
        </p:nvSpPr>
        <p:spPr>
          <a:xfrm>
            <a:off x="9156700" y="1371600"/>
            <a:ext cx="1174750" cy="152400"/>
          </a:xfrm>
          <a:prstGeom prst="roundRect">
            <a:avLst>
              <a:gd name="adj" fmla="val 50000"/>
            </a:avLst>
          </a:prstGeom>
          <a:solidFill>
            <a:srgbClr val="FEF7E0"/>
          </a:solidFill>
          <a:ln>
            <a:noFill/>
          </a:ln>
          <a:effectLst/>
        </p:spPr>
        <p:txBody>
          <a:bodyPr rtlCol="0" anchor="ctr"/>
          <a:lstStyle/>
          <a:p>
            <a:pPr algn="ctr"/>
          </a:p>
        </p:txBody>
      </p:sp>
      <p:sp>
        <p:nvSpPr>
          <p:cNvPr id="36" name="TextBox 36"/>
          <p:cNvSpPr txBox="1"/>
          <p:nvPr/>
        </p:nvSpPr>
        <p:spPr>
          <a:xfrm>
            <a:off x="9156700" y="1371600"/>
            <a:ext cx="1174750" cy="152400"/>
          </a:xfrm>
          <a:prstGeom prst="rect">
            <a:avLst/>
          </a:prstGeom>
          <a:noFill/>
        </p:spPr>
        <p:txBody>
          <a:bodyPr wrap="square" anchor="ctr" lIns="0" rIns="0" tIns="0" bIns="0"/>
          <a:lstStyle/>
          <a:p>
            <a:pPr algn="ctr">
              <a:lnSpc>
                <a:spcPct val="120000"/>
              </a:lnSpc>
            </a:pPr>
            <a:r>
              <a:rPr lang="en-US" sz="800" b="1" dirty="0">
                <a:solidFill>
                  <a:srgbClr val="B06000"/>
                </a:solidFill>
                <a:latin typeface="Roboto"/>
                <a:ea typeface="Roboto"/>
                <a:cs typeface="Roboto"/>
              </a:rPr>
              <a:t>HUMAN IN CONTROL</a:t>
            </a:r>
          </a:p>
        </p:txBody>
      </p:sp>
      <p:sp>
        <p:nvSpPr>
          <p:cNvPr id="37" name="TextBox 37"/>
          <p:cNvSpPr txBox="1"/>
          <p:nvPr/>
        </p:nvSpPr>
        <p:spPr>
          <a:xfrm>
            <a:off x="9156700" y="1612900"/>
            <a:ext cx="2451100" cy="1905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4. Strict Rules for Our AI Assistant</a:t>
            </a:r>
          </a:p>
        </p:txBody>
      </p:sp>
      <p:sp>
        <p:nvSpPr>
          <p:cNvPr id="38" name="TextBox 38"/>
          <p:cNvSpPr txBox="1"/>
          <p:nvPr/>
        </p:nvSpPr>
        <p:spPr>
          <a:xfrm>
            <a:off x="9156700" y="1854200"/>
            <a:ext cx="2451100" cy="1111250"/>
          </a:xfrm>
          <a:prstGeom prst="rect">
            <a:avLst/>
          </a:prstGeom>
          <a:noFill/>
        </p:spPr>
        <p:txBody>
          <a:bodyPr wrap="square" anchor="t" lIns="0" rIns="0" tIns="0" bIns="0"/>
          <a:lstStyle/>
          <a:p>
            <a:pPr algn="l">
              <a:lnSpc>
                <a:spcPct val="120000"/>
              </a:lnSpc>
            </a:pPr>
            <a:r>
              <a:rPr lang="en-US" sz="1020" dirty="0">
                <a:solidFill>
                  <a:srgbClr val="5F6368"/>
                </a:solidFill>
                <a:latin typeface="Roboto"/>
                <a:ea typeface="Roboto"/>
                <a:cs typeface="Roboto"/>
              </a:rPr>
              <a:t>We never allowed AI to make unchecked changes. Every update had to pass 200+ automated safety checks, our 100-ticket quality exam, and human review before acceptance.</a:t>
            </a:r>
          </a:p>
        </p:txBody>
      </p:sp>
      <p:sp>
        <p:nvSpPr>
          <p:cNvPr id="39" name="TextBox 39"/>
          <p:cNvSpPr txBox="1"/>
          <p:nvPr/>
        </p:nvSpPr>
        <p:spPr>
          <a:xfrm>
            <a:off x="457200" y="3238500"/>
            <a:ext cx="11277600" cy="165100"/>
          </a:xfrm>
          <a:prstGeom prst="rect">
            <a:avLst/>
          </a:prstGeom>
          <a:noFill/>
        </p:spPr>
        <p:txBody>
          <a:bodyPr wrap="square" anchor="t" lIns="0" rIns="0" tIns="0" bIns="0"/>
          <a:lstStyle/>
          <a:p>
            <a:pPr algn="l">
              <a:lnSpc>
                <a:spcPct val="120000"/>
              </a:lnSpc>
            </a:pPr>
            <a:r>
              <a:rPr lang="en-US" sz="1050" b="1" dirty="0">
                <a:solidFill>
                  <a:srgbClr val="5F6368"/>
                </a:solidFill>
                <a:latin typeface="Roboto"/>
                <a:ea typeface="Roboto"/>
                <a:cs typeface="Roboto"/>
              </a:rPr>
              <a:t>OUR 5-STEP AUTOMATED 'PRE-FLIGHT CHECKLIST' BEFORE ANY UPDATE REACHES CUSTOMERS</a:t>
            </a:r>
          </a:p>
        </p:txBody>
      </p:sp>
      <p:sp>
        <p:nvSpPr>
          <p:cNvPr id="40" name="Shape 40"/>
          <p:cNvSpPr/>
          <p:nvPr/>
        </p:nvSpPr>
        <p:spPr>
          <a:xfrm>
            <a:off x="457200" y="3441700"/>
            <a:ext cx="2133600" cy="18415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41" name="Shape 41"/>
          <p:cNvSpPr/>
          <p:nvPr/>
        </p:nvSpPr>
        <p:spPr>
          <a:xfrm>
            <a:off x="457200" y="3441700"/>
            <a:ext cx="2133600" cy="38100"/>
          </a:xfrm>
          <a:prstGeom prst="rect">
            <a:avLst/>
          </a:prstGeom>
          <a:solidFill>
            <a:srgbClr val="1A73E8"/>
          </a:solidFill>
          <a:ln>
            <a:noFill/>
          </a:ln>
          <a:effectLst/>
        </p:spPr>
        <p:txBody>
          <a:bodyPr rtlCol="0" anchor="ctr"/>
          <a:lstStyle/>
          <a:p>
            <a:pPr algn="ctr"/>
          </a:p>
        </p:txBody>
      </p:sp>
      <p:sp>
        <p:nvSpPr>
          <p:cNvPr id="42" name="Shape 42"/>
          <p:cNvSpPr/>
          <p:nvPr/>
        </p:nvSpPr>
        <p:spPr>
          <a:xfrm>
            <a:off x="571500" y="3568700"/>
            <a:ext cx="698500" cy="152400"/>
          </a:xfrm>
          <a:prstGeom prst="roundRect">
            <a:avLst>
              <a:gd name="adj" fmla="val 50000"/>
            </a:avLst>
          </a:prstGeom>
          <a:solidFill>
            <a:srgbClr val="E8F0FE"/>
          </a:solidFill>
          <a:ln>
            <a:noFill/>
          </a:ln>
          <a:effectLst/>
        </p:spPr>
        <p:txBody>
          <a:bodyPr rtlCol="0" anchor="ctr"/>
          <a:lstStyle/>
          <a:p>
            <a:pPr algn="ctr"/>
          </a:p>
        </p:txBody>
      </p:sp>
      <p:sp>
        <p:nvSpPr>
          <p:cNvPr id="43" name="TextBox 43"/>
          <p:cNvSpPr txBox="1"/>
          <p:nvPr/>
        </p:nvSpPr>
        <p:spPr>
          <a:xfrm>
            <a:off x="571500" y="3568700"/>
            <a:ext cx="698500" cy="152400"/>
          </a:xfrm>
          <a:prstGeom prst="rect">
            <a:avLst/>
          </a:prstGeom>
          <a:noFill/>
        </p:spPr>
        <p:txBody>
          <a:bodyPr wrap="square" anchor="ctr" lIns="0" rIns="0" tIns="0" bIns="0"/>
          <a:lstStyle/>
          <a:p>
            <a:pPr algn="ctr">
              <a:lnSpc>
                <a:spcPct val="120000"/>
              </a:lnSpc>
            </a:pPr>
            <a:r>
              <a:rPr lang="en-US" sz="850" b="1" dirty="0">
                <a:solidFill>
                  <a:srgbClr val="1A73E8"/>
                </a:solidFill>
                <a:latin typeface="Roboto"/>
                <a:ea typeface="Roboto"/>
                <a:cs typeface="Roboto"/>
              </a:rPr>
              <a:t>GATE 01</a:t>
            </a:r>
          </a:p>
        </p:txBody>
      </p:sp>
      <p:sp>
        <p:nvSpPr>
          <p:cNvPr id="44" name="TextBox 44"/>
          <p:cNvSpPr txBox="1"/>
          <p:nvPr/>
        </p:nvSpPr>
        <p:spPr>
          <a:xfrm>
            <a:off x="571500" y="3810000"/>
            <a:ext cx="1905000" cy="3302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200+ Safety &amp; Privacy Checks</a:t>
            </a:r>
          </a:p>
        </p:txBody>
      </p:sp>
      <p:sp>
        <p:nvSpPr>
          <p:cNvPr id="45" name="TextBox 45"/>
          <p:cNvSpPr txBox="1"/>
          <p:nvPr/>
        </p:nvSpPr>
        <p:spPr>
          <a:xfrm>
            <a:off x="571500" y="4178300"/>
            <a:ext cx="1905000" cy="9525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Automatically tests privacy masking, customer account isolation, and the automatic safety fuse in seconds.</a:t>
            </a:r>
          </a:p>
        </p:txBody>
      </p:sp>
      <p:sp>
        <p:nvSpPr>
          <p:cNvPr id="46" name="TextBox 46"/>
          <p:cNvSpPr txBox="1"/>
          <p:nvPr/>
        </p:nvSpPr>
        <p:spPr>
          <a:xfrm>
            <a:off x="2603500" y="4235450"/>
            <a:ext cx="127000" cy="190500"/>
          </a:xfrm>
          <a:prstGeom prst="rect">
            <a:avLst/>
          </a:prstGeom>
          <a:noFill/>
        </p:spPr>
        <p:txBody>
          <a:bodyPr wrap="square" anchor="t" lIns="0" rIns="0" tIns="0" bIns="0"/>
          <a:lstStyle/>
          <a:p>
            <a:pPr algn="ctr">
              <a:lnSpc>
                <a:spcPct val="120000"/>
              </a:lnSpc>
            </a:pPr>
            <a:r>
              <a:rPr lang="en-US" sz="1600" b="1" dirty="0">
                <a:solidFill>
                  <a:srgbClr val="5F6368"/>
                </a:solidFill>
                <a:latin typeface="Roboto"/>
                <a:ea typeface="Roboto"/>
                <a:cs typeface="Roboto"/>
              </a:rPr>
              <a:t>→</a:t>
            </a:r>
          </a:p>
        </p:txBody>
      </p:sp>
      <p:sp>
        <p:nvSpPr>
          <p:cNvPr id="47" name="Shape 47"/>
          <p:cNvSpPr/>
          <p:nvPr/>
        </p:nvSpPr>
        <p:spPr>
          <a:xfrm>
            <a:off x="2743200" y="3441700"/>
            <a:ext cx="2133600" cy="18415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48" name="Shape 48"/>
          <p:cNvSpPr/>
          <p:nvPr/>
        </p:nvSpPr>
        <p:spPr>
          <a:xfrm>
            <a:off x="2743200" y="3441700"/>
            <a:ext cx="2133600" cy="38100"/>
          </a:xfrm>
          <a:prstGeom prst="rect">
            <a:avLst/>
          </a:prstGeom>
          <a:solidFill>
            <a:srgbClr val="137333"/>
          </a:solidFill>
          <a:ln>
            <a:noFill/>
          </a:ln>
          <a:effectLst/>
        </p:spPr>
        <p:txBody>
          <a:bodyPr rtlCol="0" anchor="ctr"/>
          <a:lstStyle/>
          <a:p>
            <a:pPr algn="ctr"/>
          </a:p>
        </p:txBody>
      </p:sp>
      <p:sp>
        <p:nvSpPr>
          <p:cNvPr id="49" name="Shape 49"/>
          <p:cNvSpPr/>
          <p:nvPr/>
        </p:nvSpPr>
        <p:spPr>
          <a:xfrm>
            <a:off x="2857500" y="3568700"/>
            <a:ext cx="698500" cy="152400"/>
          </a:xfrm>
          <a:prstGeom prst="roundRect">
            <a:avLst>
              <a:gd name="adj" fmla="val 50000"/>
            </a:avLst>
          </a:prstGeom>
          <a:solidFill>
            <a:srgbClr val="E6F4EA"/>
          </a:solidFill>
          <a:ln>
            <a:noFill/>
          </a:ln>
          <a:effectLst/>
        </p:spPr>
        <p:txBody>
          <a:bodyPr rtlCol="0" anchor="ctr"/>
          <a:lstStyle/>
          <a:p>
            <a:pPr algn="ctr"/>
          </a:p>
        </p:txBody>
      </p:sp>
      <p:sp>
        <p:nvSpPr>
          <p:cNvPr id="50" name="TextBox 50"/>
          <p:cNvSpPr txBox="1"/>
          <p:nvPr/>
        </p:nvSpPr>
        <p:spPr>
          <a:xfrm>
            <a:off x="2857500" y="3568700"/>
            <a:ext cx="698500" cy="152400"/>
          </a:xfrm>
          <a:prstGeom prst="rect">
            <a:avLst/>
          </a:prstGeom>
          <a:noFill/>
        </p:spPr>
        <p:txBody>
          <a:bodyPr wrap="square" anchor="ctr" lIns="0" rIns="0" tIns="0" bIns="0"/>
          <a:lstStyle/>
          <a:p>
            <a:pPr algn="ctr">
              <a:lnSpc>
                <a:spcPct val="120000"/>
              </a:lnSpc>
            </a:pPr>
            <a:r>
              <a:rPr lang="en-US" sz="850" b="1" dirty="0">
                <a:solidFill>
                  <a:srgbClr val="137333"/>
                </a:solidFill>
                <a:latin typeface="Roboto"/>
                <a:ea typeface="Roboto"/>
                <a:cs typeface="Roboto"/>
              </a:rPr>
              <a:t>GATE 02</a:t>
            </a:r>
          </a:p>
        </p:txBody>
      </p:sp>
      <p:sp>
        <p:nvSpPr>
          <p:cNvPr id="51" name="TextBox 51"/>
          <p:cNvSpPr txBox="1"/>
          <p:nvPr/>
        </p:nvSpPr>
        <p:spPr>
          <a:xfrm>
            <a:off x="2857500" y="3810000"/>
            <a:ext cx="1905000" cy="3302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100-Ticket 'Final Exam'</a:t>
            </a:r>
          </a:p>
        </p:txBody>
      </p:sp>
      <p:sp>
        <p:nvSpPr>
          <p:cNvPr id="52" name="TextBox 52"/>
          <p:cNvSpPr txBox="1"/>
          <p:nvPr/>
        </p:nvSpPr>
        <p:spPr>
          <a:xfrm>
            <a:off x="2857500" y="4178300"/>
            <a:ext cx="1905000" cy="9525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An independent AI grader scores 100 realistic customer conversations and blocks any update that drops in accuracy.</a:t>
            </a:r>
          </a:p>
        </p:txBody>
      </p:sp>
      <p:sp>
        <p:nvSpPr>
          <p:cNvPr id="53" name="TextBox 53"/>
          <p:cNvSpPr txBox="1"/>
          <p:nvPr/>
        </p:nvSpPr>
        <p:spPr>
          <a:xfrm>
            <a:off x="4889500" y="4235450"/>
            <a:ext cx="127000" cy="190500"/>
          </a:xfrm>
          <a:prstGeom prst="rect">
            <a:avLst/>
          </a:prstGeom>
          <a:noFill/>
        </p:spPr>
        <p:txBody>
          <a:bodyPr wrap="square" anchor="t" lIns="0" rIns="0" tIns="0" bIns="0"/>
          <a:lstStyle/>
          <a:p>
            <a:pPr algn="ctr">
              <a:lnSpc>
                <a:spcPct val="120000"/>
              </a:lnSpc>
            </a:pPr>
            <a:r>
              <a:rPr lang="en-US" sz="1600" b="1" dirty="0">
                <a:solidFill>
                  <a:srgbClr val="5F6368"/>
                </a:solidFill>
                <a:latin typeface="Roboto"/>
                <a:ea typeface="Roboto"/>
                <a:cs typeface="Roboto"/>
              </a:rPr>
              <a:t>→</a:t>
            </a:r>
          </a:p>
        </p:txBody>
      </p:sp>
      <p:sp>
        <p:nvSpPr>
          <p:cNvPr id="54" name="Shape 54"/>
          <p:cNvSpPr/>
          <p:nvPr/>
        </p:nvSpPr>
        <p:spPr>
          <a:xfrm>
            <a:off x="5029200" y="3441700"/>
            <a:ext cx="2133600" cy="18415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55" name="Shape 55"/>
          <p:cNvSpPr/>
          <p:nvPr/>
        </p:nvSpPr>
        <p:spPr>
          <a:xfrm>
            <a:off x="5029200" y="3441700"/>
            <a:ext cx="2133600" cy="38100"/>
          </a:xfrm>
          <a:prstGeom prst="rect">
            <a:avLst/>
          </a:prstGeom>
          <a:solidFill>
            <a:srgbClr val="B06000"/>
          </a:solidFill>
          <a:ln>
            <a:noFill/>
          </a:ln>
          <a:effectLst/>
        </p:spPr>
        <p:txBody>
          <a:bodyPr rtlCol="0" anchor="ctr"/>
          <a:lstStyle/>
          <a:p>
            <a:pPr algn="ctr"/>
          </a:p>
        </p:txBody>
      </p:sp>
      <p:sp>
        <p:nvSpPr>
          <p:cNvPr id="56" name="Shape 56"/>
          <p:cNvSpPr/>
          <p:nvPr/>
        </p:nvSpPr>
        <p:spPr>
          <a:xfrm>
            <a:off x="5143500" y="3568700"/>
            <a:ext cx="698500" cy="152400"/>
          </a:xfrm>
          <a:prstGeom prst="roundRect">
            <a:avLst>
              <a:gd name="adj" fmla="val 50000"/>
            </a:avLst>
          </a:prstGeom>
          <a:solidFill>
            <a:srgbClr val="FEF7E0"/>
          </a:solidFill>
          <a:ln>
            <a:noFill/>
          </a:ln>
          <a:effectLst/>
        </p:spPr>
        <p:txBody>
          <a:bodyPr rtlCol="0" anchor="ctr"/>
          <a:lstStyle/>
          <a:p>
            <a:pPr algn="ctr"/>
          </a:p>
        </p:txBody>
      </p:sp>
      <p:sp>
        <p:nvSpPr>
          <p:cNvPr id="57" name="TextBox 57"/>
          <p:cNvSpPr txBox="1"/>
          <p:nvPr/>
        </p:nvSpPr>
        <p:spPr>
          <a:xfrm>
            <a:off x="5143500" y="3568700"/>
            <a:ext cx="698500" cy="152400"/>
          </a:xfrm>
          <a:prstGeom prst="rect">
            <a:avLst/>
          </a:prstGeom>
          <a:noFill/>
        </p:spPr>
        <p:txBody>
          <a:bodyPr wrap="square" anchor="ctr" lIns="0" rIns="0" tIns="0" bIns="0"/>
          <a:lstStyle/>
          <a:p>
            <a:pPr algn="ctr">
              <a:lnSpc>
                <a:spcPct val="120000"/>
              </a:lnSpc>
            </a:pPr>
            <a:r>
              <a:rPr lang="en-US" sz="850" b="1" dirty="0">
                <a:solidFill>
                  <a:srgbClr val="B06000"/>
                </a:solidFill>
                <a:latin typeface="Roboto"/>
                <a:ea typeface="Roboto"/>
                <a:cs typeface="Roboto"/>
              </a:rPr>
              <a:t>GATE 03</a:t>
            </a:r>
          </a:p>
        </p:txBody>
      </p:sp>
      <p:sp>
        <p:nvSpPr>
          <p:cNvPr id="58" name="TextBox 58"/>
          <p:cNvSpPr txBox="1"/>
          <p:nvPr/>
        </p:nvSpPr>
        <p:spPr>
          <a:xfrm>
            <a:off x="5143500" y="3810000"/>
            <a:ext cx="1905000" cy="3302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Practice System Startup</a:t>
            </a:r>
          </a:p>
        </p:txBody>
      </p:sp>
      <p:sp>
        <p:nvSpPr>
          <p:cNvPr id="59" name="TextBox 59"/>
          <p:cNvSpPr txBox="1"/>
          <p:nvPr/>
        </p:nvSpPr>
        <p:spPr>
          <a:xfrm>
            <a:off x="5143500" y="4178300"/>
            <a:ext cx="1905000" cy="9525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Starts all platform components together in a safe practice environment to confirm every connection works.</a:t>
            </a:r>
          </a:p>
        </p:txBody>
      </p:sp>
      <p:sp>
        <p:nvSpPr>
          <p:cNvPr id="60" name="TextBox 60"/>
          <p:cNvSpPr txBox="1"/>
          <p:nvPr/>
        </p:nvSpPr>
        <p:spPr>
          <a:xfrm>
            <a:off x="7175500" y="4235450"/>
            <a:ext cx="127000" cy="190500"/>
          </a:xfrm>
          <a:prstGeom prst="rect">
            <a:avLst/>
          </a:prstGeom>
          <a:noFill/>
        </p:spPr>
        <p:txBody>
          <a:bodyPr wrap="square" anchor="t" lIns="0" rIns="0" tIns="0" bIns="0"/>
          <a:lstStyle/>
          <a:p>
            <a:pPr algn="ctr">
              <a:lnSpc>
                <a:spcPct val="120000"/>
              </a:lnSpc>
            </a:pPr>
            <a:r>
              <a:rPr lang="en-US" sz="1600" b="1" dirty="0">
                <a:solidFill>
                  <a:srgbClr val="5F6368"/>
                </a:solidFill>
                <a:latin typeface="Roboto"/>
                <a:ea typeface="Roboto"/>
                <a:cs typeface="Roboto"/>
              </a:rPr>
              <a:t>→</a:t>
            </a:r>
          </a:p>
        </p:txBody>
      </p:sp>
      <p:sp>
        <p:nvSpPr>
          <p:cNvPr id="61" name="Shape 61"/>
          <p:cNvSpPr/>
          <p:nvPr/>
        </p:nvSpPr>
        <p:spPr>
          <a:xfrm>
            <a:off x="7315200" y="3441700"/>
            <a:ext cx="2133600" cy="18415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62" name="Shape 62"/>
          <p:cNvSpPr/>
          <p:nvPr/>
        </p:nvSpPr>
        <p:spPr>
          <a:xfrm>
            <a:off x="7315200" y="3441700"/>
            <a:ext cx="2133600" cy="38100"/>
          </a:xfrm>
          <a:prstGeom prst="rect">
            <a:avLst/>
          </a:prstGeom>
          <a:solidFill>
            <a:srgbClr val="EA4335"/>
          </a:solidFill>
          <a:ln>
            <a:noFill/>
          </a:ln>
          <a:effectLst/>
        </p:spPr>
        <p:txBody>
          <a:bodyPr rtlCol="0" anchor="ctr"/>
          <a:lstStyle/>
          <a:p>
            <a:pPr algn="ctr"/>
          </a:p>
        </p:txBody>
      </p:sp>
      <p:sp>
        <p:nvSpPr>
          <p:cNvPr id="63" name="Shape 63"/>
          <p:cNvSpPr/>
          <p:nvPr/>
        </p:nvSpPr>
        <p:spPr>
          <a:xfrm>
            <a:off x="7429500" y="3568700"/>
            <a:ext cx="698500" cy="152400"/>
          </a:xfrm>
          <a:prstGeom prst="roundRect">
            <a:avLst>
              <a:gd name="adj" fmla="val 50000"/>
            </a:avLst>
          </a:prstGeom>
          <a:solidFill>
            <a:srgbClr val="FCE8E6"/>
          </a:solidFill>
          <a:ln>
            <a:noFill/>
          </a:ln>
          <a:effectLst/>
        </p:spPr>
        <p:txBody>
          <a:bodyPr rtlCol="0" anchor="ctr"/>
          <a:lstStyle/>
          <a:p>
            <a:pPr algn="ctr"/>
          </a:p>
        </p:txBody>
      </p:sp>
      <p:sp>
        <p:nvSpPr>
          <p:cNvPr id="64" name="TextBox 64"/>
          <p:cNvSpPr txBox="1"/>
          <p:nvPr/>
        </p:nvSpPr>
        <p:spPr>
          <a:xfrm>
            <a:off x="7429500" y="3568700"/>
            <a:ext cx="698500" cy="152400"/>
          </a:xfrm>
          <a:prstGeom prst="rect">
            <a:avLst/>
          </a:prstGeom>
          <a:noFill/>
        </p:spPr>
        <p:txBody>
          <a:bodyPr wrap="square" anchor="ctr" lIns="0" rIns="0" tIns="0" bIns="0"/>
          <a:lstStyle/>
          <a:p>
            <a:pPr algn="ctr">
              <a:lnSpc>
                <a:spcPct val="120000"/>
              </a:lnSpc>
            </a:pPr>
            <a:r>
              <a:rPr lang="en-US" sz="850" b="1" dirty="0">
                <a:solidFill>
                  <a:srgbClr val="EA4335"/>
                </a:solidFill>
                <a:latin typeface="Roboto"/>
                <a:ea typeface="Roboto"/>
                <a:cs typeface="Roboto"/>
              </a:rPr>
              <a:t>GATE 04</a:t>
            </a:r>
          </a:p>
        </p:txBody>
      </p:sp>
      <p:sp>
        <p:nvSpPr>
          <p:cNvPr id="65" name="TextBox 65"/>
          <p:cNvSpPr txBox="1"/>
          <p:nvPr/>
        </p:nvSpPr>
        <p:spPr>
          <a:xfrm>
            <a:off x="7429500" y="3810000"/>
            <a:ext cx="1905000" cy="3302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Live AI Health &amp; Rollback</a:t>
            </a:r>
          </a:p>
        </p:txBody>
      </p:sp>
      <p:sp>
        <p:nvSpPr>
          <p:cNvPr id="66" name="TextBox 66"/>
          <p:cNvSpPr txBox="1"/>
          <p:nvPr/>
        </p:nvSpPr>
        <p:spPr>
          <a:xfrm>
            <a:off x="7429500" y="4178300"/>
            <a:ext cx="1905000" cy="9525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Verifies both AI specialists respond properly—and automatically rolls back to the last safe version if not.</a:t>
            </a:r>
          </a:p>
        </p:txBody>
      </p:sp>
      <p:sp>
        <p:nvSpPr>
          <p:cNvPr id="67" name="TextBox 67"/>
          <p:cNvSpPr txBox="1"/>
          <p:nvPr/>
        </p:nvSpPr>
        <p:spPr>
          <a:xfrm>
            <a:off x="9461500" y="4235450"/>
            <a:ext cx="127000" cy="190500"/>
          </a:xfrm>
          <a:prstGeom prst="rect">
            <a:avLst/>
          </a:prstGeom>
          <a:noFill/>
        </p:spPr>
        <p:txBody>
          <a:bodyPr wrap="square" anchor="t" lIns="0" rIns="0" tIns="0" bIns="0"/>
          <a:lstStyle/>
          <a:p>
            <a:pPr algn="ctr">
              <a:lnSpc>
                <a:spcPct val="120000"/>
              </a:lnSpc>
            </a:pPr>
            <a:r>
              <a:rPr lang="en-US" sz="1600" b="1" dirty="0">
                <a:solidFill>
                  <a:srgbClr val="5F6368"/>
                </a:solidFill>
                <a:latin typeface="Roboto"/>
                <a:ea typeface="Roboto"/>
                <a:cs typeface="Roboto"/>
              </a:rPr>
              <a:t>→</a:t>
            </a:r>
          </a:p>
        </p:txBody>
      </p:sp>
      <p:sp>
        <p:nvSpPr>
          <p:cNvPr id="68" name="Shape 68"/>
          <p:cNvSpPr/>
          <p:nvPr/>
        </p:nvSpPr>
        <p:spPr>
          <a:xfrm>
            <a:off x="9601200" y="3441700"/>
            <a:ext cx="2133600" cy="1841500"/>
          </a:xfrm>
          <a:prstGeom prst="roundRect">
            <a:avLst>
              <a:gd name="adj" fmla="val 3000"/>
            </a:avLst>
          </a:prstGeom>
          <a:solidFill>
            <a:srgbClr val="FFFFFF"/>
          </a:solidFill>
          <a:ln w="12700">
            <a:solidFill>
              <a:srgbClr val="DADCE0"/>
            </a:solidFill>
          </a:ln>
          <a:effectLst/>
        </p:spPr>
        <p:txBody>
          <a:bodyPr rtlCol="0" anchor="ctr"/>
          <a:lstStyle/>
          <a:p>
            <a:pPr algn="ctr"/>
          </a:p>
        </p:txBody>
      </p:sp>
      <p:sp>
        <p:nvSpPr>
          <p:cNvPr id="69" name="Shape 69"/>
          <p:cNvSpPr/>
          <p:nvPr/>
        </p:nvSpPr>
        <p:spPr>
          <a:xfrm>
            <a:off x="9601200" y="3441700"/>
            <a:ext cx="2133600" cy="38100"/>
          </a:xfrm>
          <a:prstGeom prst="rect">
            <a:avLst/>
          </a:prstGeom>
          <a:solidFill>
            <a:srgbClr val="137333"/>
          </a:solidFill>
          <a:ln>
            <a:noFill/>
          </a:ln>
          <a:effectLst/>
        </p:spPr>
        <p:txBody>
          <a:bodyPr rtlCol="0" anchor="ctr"/>
          <a:lstStyle/>
          <a:p>
            <a:pPr algn="ctr"/>
          </a:p>
        </p:txBody>
      </p:sp>
      <p:sp>
        <p:nvSpPr>
          <p:cNvPr id="70" name="Shape 70"/>
          <p:cNvSpPr/>
          <p:nvPr/>
        </p:nvSpPr>
        <p:spPr>
          <a:xfrm>
            <a:off x="9715500" y="3568700"/>
            <a:ext cx="698500" cy="152400"/>
          </a:xfrm>
          <a:prstGeom prst="roundRect">
            <a:avLst>
              <a:gd name="adj" fmla="val 50000"/>
            </a:avLst>
          </a:prstGeom>
          <a:solidFill>
            <a:srgbClr val="E6F4EA"/>
          </a:solidFill>
          <a:ln>
            <a:noFill/>
          </a:ln>
          <a:effectLst/>
        </p:spPr>
        <p:txBody>
          <a:bodyPr rtlCol="0" anchor="ctr"/>
          <a:lstStyle/>
          <a:p>
            <a:pPr algn="ctr"/>
          </a:p>
        </p:txBody>
      </p:sp>
      <p:sp>
        <p:nvSpPr>
          <p:cNvPr id="71" name="TextBox 71"/>
          <p:cNvSpPr txBox="1"/>
          <p:nvPr/>
        </p:nvSpPr>
        <p:spPr>
          <a:xfrm>
            <a:off x="9715500" y="3568700"/>
            <a:ext cx="698500" cy="152400"/>
          </a:xfrm>
          <a:prstGeom prst="rect">
            <a:avLst/>
          </a:prstGeom>
          <a:noFill/>
        </p:spPr>
        <p:txBody>
          <a:bodyPr wrap="square" anchor="ctr" lIns="0" rIns="0" tIns="0" bIns="0"/>
          <a:lstStyle/>
          <a:p>
            <a:pPr algn="ctr">
              <a:lnSpc>
                <a:spcPct val="120000"/>
              </a:lnSpc>
            </a:pPr>
            <a:r>
              <a:rPr lang="en-US" sz="850" b="1" dirty="0">
                <a:solidFill>
                  <a:srgbClr val="137333"/>
                </a:solidFill>
                <a:latin typeface="Roboto"/>
                <a:ea typeface="Roboto"/>
                <a:cs typeface="Roboto"/>
              </a:rPr>
              <a:t>GATE 05</a:t>
            </a:r>
          </a:p>
        </p:txBody>
      </p:sp>
      <p:sp>
        <p:nvSpPr>
          <p:cNvPr id="72" name="TextBox 72"/>
          <p:cNvSpPr txBox="1"/>
          <p:nvPr/>
        </p:nvSpPr>
        <p:spPr>
          <a:xfrm>
            <a:off x="9715500" y="3810000"/>
            <a:ext cx="1905000" cy="330200"/>
          </a:xfrm>
          <a:prstGeom prst="rect">
            <a:avLst/>
          </a:prstGeom>
          <a:noFill/>
        </p:spPr>
        <p:txBody>
          <a:bodyPr wrap="square" anchor="t" lIns="0" rIns="0" tIns="0" bIns="0"/>
          <a:lstStyle/>
          <a:p>
            <a:pPr algn="l">
              <a:lnSpc>
                <a:spcPct val="120000"/>
              </a:lnSpc>
            </a:pPr>
            <a:r>
              <a:rPr lang="en-US" sz="1350" b="1" dirty="0">
                <a:solidFill>
                  <a:srgbClr val="202124"/>
                </a:solidFill>
                <a:latin typeface="Roboto"/>
                <a:ea typeface="Roboto"/>
                <a:cs typeface="Roboto"/>
              </a:rPr>
              <a:t>Silent 'Test Flight'</a:t>
            </a:r>
          </a:p>
        </p:txBody>
      </p:sp>
      <p:sp>
        <p:nvSpPr>
          <p:cNvPr id="73" name="TextBox 73"/>
          <p:cNvSpPr txBox="1"/>
          <p:nvPr/>
        </p:nvSpPr>
        <p:spPr>
          <a:xfrm>
            <a:off x="9715500" y="4178300"/>
            <a:ext cx="1905000" cy="952500"/>
          </a:xfrm>
          <a:prstGeom prst="rect">
            <a:avLst/>
          </a:prstGeom>
          <a:noFill/>
        </p:spPr>
        <p:txBody>
          <a:bodyPr wrap="square" anchor="t" lIns="0" rIns="0" tIns="0" bIns="0"/>
          <a:lstStyle/>
          <a:p>
            <a:pPr algn="l">
              <a:lnSpc>
                <a:spcPct val="120000"/>
              </a:lnSpc>
            </a:pPr>
            <a:r>
              <a:rPr lang="en-US" sz="1000" dirty="0">
                <a:solidFill>
                  <a:srgbClr val="5F6368"/>
                </a:solidFill>
                <a:latin typeface="Roboto"/>
                <a:ea typeface="Roboto"/>
                <a:cs typeface="Roboto"/>
              </a:rPr>
              <a:t>Runs a real end-to-end customer conversation on a hidden preview server before switching live shoppers over.</a:t>
            </a:r>
          </a:p>
        </p:txBody>
      </p:sp>
      <p:sp>
        <p:nvSpPr>
          <p:cNvPr id="74" name="Shape 74"/>
          <p:cNvSpPr/>
          <p:nvPr/>
        </p:nvSpPr>
        <p:spPr>
          <a:xfrm>
            <a:off x="457200" y="5448300"/>
            <a:ext cx="11277600" cy="914400"/>
          </a:xfrm>
          <a:prstGeom prst="roundRect">
            <a:avLst>
              <a:gd name="adj" fmla="val 3000"/>
            </a:avLst>
          </a:prstGeom>
          <a:solidFill>
            <a:srgbClr val="E6F4EA"/>
          </a:solidFill>
          <a:ln w="12700">
            <a:solidFill>
              <a:srgbClr val="34A853"/>
            </a:solidFill>
          </a:ln>
          <a:effectLst/>
        </p:spPr>
        <p:txBody>
          <a:bodyPr rtlCol="0" anchor="ctr"/>
          <a:lstStyle/>
          <a:p>
            <a:pPr algn="ctr"/>
          </a:p>
        </p:txBody>
      </p:sp>
      <p:sp>
        <p:nvSpPr>
          <p:cNvPr id="75" name="Shape 75"/>
          <p:cNvSpPr/>
          <p:nvPr/>
        </p:nvSpPr>
        <p:spPr>
          <a:xfrm>
            <a:off x="457200" y="5448300"/>
            <a:ext cx="38100" cy="914400"/>
          </a:xfrm>
          <a:prstGeom prst="rect">
            <a:avLst/>
          </a:prstGeom>
          <a:solidFill>
            <a:srgbClr val="137333"/>
          </a:solidFill>
          <a:ln>
            <a:noFill/>
          </a:ln>
          <a:effectLst/>
        </p:spPr>
        <p:txBody>
          <a:bodyPr rtlCol="0" anchor="ctr"/>
          <a:lstStyle/>
          <a:p>
            <a:pPr algn="ctr"/>
          </a:p>
        </p:txBody>
      </p:sp>
      <p:sp>
        <p:nvSpPr>
          <p:cNvPr id="76" name="TextBox 76"/>
          <p:cNvSpPr txBox="1"/>
          <p:nvPr/>
        </p:nvSpPr>
        <p:spPr>
          <a:xfrm>
            <a:off x="635000" y="5549900"/>
            <a:ext cx="10922000" cy="165100"/>
          </a:xfrm>
          <a:prstGeom prst="rect">
            <a:avLst/>
          </a:prstGeom>
          <a:noFill/>
        </p:spPr>
        <p:txBody>
          <a:bodyPr wrap="square" anchor="t" lIns="0" rIns="0" tIns="0" bIns="0"/>
          <a:lstStyle/>
          <a:p>
            <a:pPr algn="l">
              <a:lnSpc>
                <a:spcPct val="120000"/>
              </a:lnSpc>
            </a:pPr>
            <a:r>
              <a:rPr lang="en-US" sz="1100" b="1" dirty="0">
                <a:solidFill>
                  <a:srgbClr val="137333"/>
                </a:solidFill>
                <a:latin typeface="Roboto"/>
                <a:ea typeface="Roboto"/>
                <a:cs typeface="Roboto"/>
              </a:rPr>
              <a:t>READY FOR PILOT LAUNCH &amp; LIVE Q&amp;A</a:t>
            </a:r>
          </a:p>
        </p:txBody>
      </p:sp>
      <p:sp>
        <p:nvSpPr>
          <p:cNvPr id="77" name="TextBox 77"/>
          <p:cNvSpPr txBox="1"/>
          <p:nvPr/>
        </p:nvSpPr>
        <p:spPr>
          <a:xfrm>
            <a:off x="635000" y="5740400"/>
            <a:ext cx="10922000" cy="520700"/>
          </a:xfrm>
          <a:prstGeom prst="rect">
            <a:avLst/>
          </a:prstGeom>
          <a:noFill/>
        </p:spPr>
        <p:txBody>
          <a:bodyPr wrap="square" anchor="t" lIns="0" rIns="0" tIns="0" bIns="0"/>
          <a:lstStyle/>
          <a:p>
            <a:pPr algn="l">
              <a:lnSpc>
                <a:spcPct val="120000"/>
              </a:lnSpc>
            </a:pPr>
            <a:r>
              <a:rPr lang="en-US" sz="1080" dirty="0">
                <a:solidFill>
                  <a:srgbClr val="202124"/>
                </a:solidFill>
                <a:latin typeface="Roboto"/>
                <a:ea typeface="Roboto"/>
                <a:cs typeface="Roboto"/>
              </a:rPr>
              <a:t>• Proven Quality: 100% of frustrated shoppers fast-tracked to humans · 99.4% factual accuracy on store policies · Zero raw personal data stored.
• Predictable Economics: ~$0.075 per multi-message ticket ($29/mo prototype base; ~$105/mo all-in for a 1,000-ticket pilot).
• Safe Operations: Protected by an automatic &lt;0.01s safety fuse and a 5-step automated pre-flight checklist on every update.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