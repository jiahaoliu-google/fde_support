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cost of the FDE Support platform (modeled estimate, +/-40%, list prices us-central1, Oct 2026).</a:t>
            </a:r>
          </a:p>
          <a:p/>
          <a:p>
            <a:r>
              <a:t>Per AI turn = $0.0352: Gemini 2.5 Pro FAQ agent (~8K input / 2K output tokens incl. thinking) $0.0300, Agent Engine sessions (~7 events at $0.25/1K) $0.0018, Agent Engine compute (4 vCPU / 4 GiB, ~10 s busy) $0.0011, Gemini 2.5 Flash sentiment (~600 in / 350 out) $0.0011, Vertex AI Search ($1.50/1K x 60% of turns) $0.0009, Cloud Run + Trace + Logging $0.0003.</a:t>
            </a:r>
          </a:p>
          <a:p/>
          <a:p>
            <a:r>
              <a:t>Per ticket = 85% non-urgent x 2.5 AI turns x $0.0352 + 15% urgent x sentiment-only = ~$0.075 ($75 per 1K tickets).</a:t>
            </a:r>
          </a:p>
          <a:p/>
          <a:p>
            <a:r>
              <a:t>Fixed: prototype $29/mo (IAP external HTTPS load balancer $18.25, Cloud SQL db-f1-micro + 10 GB $9.37, registry/GCS/secrets ~$1-2). Production $230/mo (HA Cloud SQL db-custom-2-7680 ~$197, LB, Cloud Run backend min-instance ~$10).</a:t>
            </a:r>
          </a:p>
          <a:p/>
          <a:p>
            <a:r>
              <a:t>Risks: Agent Engine idle instances are not billed in Preview; at GA the defaults (min 1 instance, 4 vCPU / 4 GiB, x2 agents) would add ~$557/mo. Nightly 100-case eval on 2.5 Pro + judge ~$105/mo. Token counts are estimates until eval metrics M3/M4 record real usage_metadata.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LLMOps, evaluation framework and observability (source: docs/EVALUATION_PLAN.md).</a:t>
            </a:r>
          </a:p>
          <a:p/>
          <a:p>
            <a:r>
              <a:t>Offline: one versioned 100-ticket golden set taken from records in the RAG datastore, so every expected answer traces to a document ID. Composition: 45 search-ready in corpus, 25 urgent/frustrated, 15 vague single-turn, 10 multi-turn, 5 out of corpus. Scorers: deterministic metrics (routing F1, ROUGE-L, BLEU, search gating, latency, token accounting), an LLM judge (grounding recall, faithfulness) and per-case dynamic rubrics.</a:t>
            </a:r>
          </a:p>
          <a:p/>
          <a:p>
            <a:r>
              <a:t>Gates: PR mode runs deterministic KPIs and blocks merges; nightly adds LLM-judged KPIs and failure analysis. Latency and error targets are proposed project targets (the TDD sets none).</a:t>
            </a:r>
          </a:p>
          <a:p/>
          <a:p>
            <a:r>
              <a:t>Online: OpenTelemetry instrumentation of the FastAPI backend and httpx calls exports to Cloud Trace; Cloud Logging sinks to BigQuery Agent Analytics; sampled live traces are scored asynchronously; Model Armor / Cloud DLP redacts PII before it reaches agents or logs; the circuit breaker opens after 3 failures and retries after 30 s.</a:t>
            </a:r>
          </a:p>
          <a:p/>
          <a:p>
            <a:r>
              <a:t>Status: framework and static rubric evaluator are built; the first baseline run has not happened yet, so no measured KPI values are shown.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and future of the FDE Support platform (source: docs/SYSTEM_ANALYSIS.md, sections 4 and 5).</a:t>
            </a:r>
          </a:p>
          <a:p/>
          <a:p>
            <a:r>
              <a:t>Now (Oct 2026): all P0 findings are resolved in code: IAP JWT verification with owner-only ticket access, CORS removed, schema-validated fail-closed sentiment routing, fail-fast production DB config, escalated tickets bypass the LLM, golden set + rubric evaluator, 178 unit tests. Still to do: commit, redeploy the agents and backend, and run the IAM script.</a:t>
            </a:r>
          </a:p>
          <a:p/>
          <a:p>
            <a:r>
              <a:t>Next (1-2 weeks): CI pipeline with an eval gate, first golden-set baseline against live agents, circuit breaker v2 (#8), outside-in timeout budget (#9), parallel sentiment + FAQ with a Flash vs. Pro benchmark (#10), UI ticket-ID race and output escaping (N1, #18).</a:t>
            </a:r>
          </a:p>
          <a:p/>
          <a:p>
            <a:r>
              <a:t>Later (1-2 months): full Terraform + SHA-tagged images (#19-20), real Model Armor integration (#14), human-agent console with Pub/Sub notifications and Alembic migrations (#27-28), corpus curation (#24), private-IP / backed-up / HA Cloud SQL (#16).</a:t>
            </a:r>
          </a:p>
          <a:p/>
          <a:p>
            <a:r>
              <a:t>Future (2027, vision, not yet scoped): streaming answers, agentic actions with approved tools, agent assist for human specialists, production failures feeding the golden set, multilingual / multi-brand corpora, publishing to Gemini Enterprise.</a:t>
            </a:r>
          </a:p>
          <a:p/>
          <a:p>
            <a:r>
              <a:t>Success measures reuse the TDD and evaluation-plan targets; the latency target is a proposed project target.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AI-driven development for the FDE Support platform.</a:t>
            </a:r>
          </a:p>
          <a:p/>
          <a:p>
            <a:r>
              <a:t>Left: what AI agents have already delivered on this repo: the prioritised system analysis (32 findings across P0-P3, all P0 fixed in code; docs/SYSTEM_ANALYSIS.md), 178 unit tests, the 100-ticket golden set with a rubric evaluator (docs/EVALUATION_PLAN.md), and this deck, generated as code. PRESENTATION.md also credits AI with the OpenTelemetry instrumentation and the Docker / Cloud Build setup.</a:t>
            </a:r>
          </a:p>
          <a:p/>
          <a:p>
            <a:r>
              <a:t>Right: where agents can help at each stage, what the human still owns, and an example tool. Plan (Antigravity planning mode), Build (parallel agents on isolated branches; agents-cli scaffolding for ADK agents), Review &amp; secure (AI code review, SecureCoder scans), Test &amp; evaluate (generated tests and golden-set cases, nightly LLM judges), Deploy &amp; operate (incident triage from Cloud Trace and logs), Optimise (prompt and model tuning against the eval set).</a:t>
            </a:r>
          </a:p>
          <a:p/>
          <a:p>
            <a:r>
              <a:t>Guardrails: agents propose, people approve. Every agent change goes through PR review, CI and the eval gate; agents use scoped credentials; plans and diffs stay with each change; impact is measured with DORA metrics and the eval KPIs.</a:t>
            </a:r>
          </a:p>
          <a:p/>
          <a:p>
            <a:r>
              <a:t>These are possible uses, not commitments; the tools are examples.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Security, Enterprise Compliance &amp; Resilience (Zero-Trust Strategy) for the FDE Support platform.</a:t>
            </a:r>
          </a:p>
          <a:p/>
          <a:p>
            <a:r>
              <a:t>1. Zero-Trust Network &amp; Identity:</a:t>
            </a:r>
          </a:p>
          <a:p>
            <a:r>
              <a:t>   - IAP Cryptographic Auth: Verification of x-goog-iap-jwt-assertion tokens at both frontend proxy and backend services ensures request origin authenticity and prevents client-side identity spoofing.</a:t>
            </a:r>
          </a:p>
          <a:p>
            <a:r>
              <a:t>   - Tenant-Isolated Authorization: All ticket operations (creation, chat history, resolution) strictly enforce ownership checks against verified user credentials.</a:t>
            </a:r>
          </a:p>
          <a:p>
            <a:r>
              <a:t>   - VPC Service Controls (VPC-SC): Defines a strict network perimeter blocking unauthorized external egress and exfiltration vectors.</a:t>
            </a:r>
          </a:p>
          <a:p>
            <a:r>
              <a:t>   - Least-Privilege IAM: Cloud Run invoker permissions restricted explicitly to destination service accounts rather than project-wide roles.</a:t>
            </a:r>
          </a:p>
          <a:p/>
          <a:p>
            <a:r>
              <a:t>2. Compliance &amp; Data Privacy:</a:t>
            </a:r>
          </a:p>
          <a:p>
            <a:r>
              <a:t>   - Model Armor &amp; Cloud DLP: Input/output prompt sanitization removing SSNs, credit card numbers (Luhn validated), and email addresses prior to LLM submission and logging.</a:t>
            </a:r>
          </a:p>
          <a:p>
            <a:r>
              <a:t>   - Fail-Closed Routing: Pydantic output schemas enforce strict enum validation on sentiment outputs. Unparseable responses default to human escalation.</a:t>
            </a:r>
          </a:p>
          <a:p>
            <a:r>
              <a:t>   - Production Database Enforcement: Production runtime requires Cloud SQL UNIX socket connectors and Secret Manager credentials, preventing ephemeral SQLite fallbacks.</a:t>
            </a:r>
          </a:p>
          <a:p>
            <a:r>
              <a:t>   - Audit Trail: Immutable logging pipeline streaming to BigQuery Agent Analytics for compliance auditing.</a:t>
            </a:r>
          </a:p>
          <a:p/>
          <a:p>
            <a:r>
              <a:t>3. Enterprise Resilience &amp; High Availability:</a:t>
            </a:r>
          </a:p>
          <a:p>
            <a:r>
              <a:t>   - Circuit Breaker: Dependency isolation preventing downstream failure cascades with 3-failure threshold and single-probe HALF_OPEN recovery state.</a:t>
            </a:r>
          </a:p>
          <a:p>
            <a:r>
              <a:t>   - Soft-Fallback Escalation: Handles downstream agent timeouts gracefully by setting escalation flags and notifying users without throwing 500 errors.</a:t>
            </a:r>
          </a:p>
          <a:p>
            <a:r>
              <a:t>   - Timeout Budgeting: Outer-to-inner timeout cascading (Proxy 90s -&gt; Backend 75s -&gt; Agent 25s) combined with exponential backoff and jitter.</a:t>
            </a:r>
          </a:p>
          <a:p>
            <a:r>
              <a:t>   - Stateless Serverless: Cloud Run scale-to-zero elasticity backed by cached IAM authentication tokens and connection pooling.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69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6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26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Roboto"/>
              </a:rPr>
              <a:t>COST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400"/>
            <a:ext cx="8890000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02124"/>
                </a:solidFill>
                <a:latin typeface="Roboto"/>
              </a:rPr>
              <a:t>Expected cost: </a:t>
            </a:r>
            <a:r>
              <a:rPr sz="2600" b="1">
                <a:solidFill>
                  <a:srgbClr val="1A73E8"/>
                </a:solidFill>
                <a:latin typeface="Roboto"/>
              </a:rPr>
              <a:t>~$0.075 per support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66800"/>
            <a:ext cx="825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Roboto"/>
              </a:rPr>
              <a:t>Modeled at list prices (us-central1, Oct 2026) from the current architecture.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604000"/>
            <a:ext cx="112776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54800"/>
            <a:ext cx="508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5" b="0">
                <a:solidFill>
                  <a:srgbClr val="5F6368"/>
                </a:solidFill>
                <a:latin typeface="Roboto"/>
              </a:rPr>
              <a:t>FDE Support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4800" y="6654800"/>
            <a:ext cx="127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75" b="0">
                <a:solidFill>
                  <a:srgbClr val="5F6368"/>
                </a:solidFill>
                <a:latin typeface="Roboto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749300"/>
            <a:ext cx="1244600" cy="24130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B06000"/>
                </a:solidFill>
                <a:latin typeface="Roboto"/>
              </a:rPr>
              <a:t>Estimate · ±40%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90200" y="749300"/>
            <a:ext cx="1244600" cy="2413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1A73E8"/>
                </a:solidFill>
                <a:latin typeface="Roboto"/>
              </a:rPr>
              <a:t>Current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397000"/>
            <a:ext cx="3657600" cy="10414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524000"/>
            <a:ext cx="38100" cy="7874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1536700"/>
            <a:ext cx="330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Roboto"/>
              </a:rPr>
              <a:t>Variable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00" y="1689100"/>
            <a:ext cx="330200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100" b="1">
                <a:solidFill>
                  <a:srgbClr val="202124"/>
                </a:solidFill>
                <a:latin typeface="Roboto"/>
              </a:rPr>
              <a:t>$75</a:t>
            </a:r>
            <a:r>
              <a:rPr sz="1000" b="0">
                <a:solidFill>
                  <a:srgbClr val="5F6368"/>
                </a:solidFill>
                <a:latin typeface="Roboto"/>
              </a:rPr>
              <a:t>  per 1K tickets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" y="2184400"/>
            <a:ext cx="3302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Roboto"/>
              </a:rPr>
              <a:t>~2.1 AI-answered messages per ticket at $0.035 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7200" y="1397000"/>
            <a:ext cx="3657600" cy="10414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7200" y="1524000"/>
            <a:ext cx="38100" cy="787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0400" y="1536700"/>
            <a:ext cx="330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Roboto"/>
              </a:rPr>
              <a:t>Fixed platform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0400" y="1689100"/>
            <a:ext cx="330200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100" b="1">
                <a:solidFill>
                  <a:srgbClr val="202124"/>
                </a:solidFill>
                <a:latin typeface="Roboto"/>
              </a:rPr>
              <a:t>$29</a:t>
            </a:r>
            <a:r>
              <a:rPr sz="1000" b="0">
                <a:solidFill>
                  <a:srgbClr val="5F6368"/>
                </a:solidFill>
                <a:latin typeface="Roboto"/>
              </a:rPr>
              <a:t>  per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0400" y="2184400"/>
            <a:ext cx="3302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Roboto"/>
              </a:rPr>
              <a:t>Prototype. Production with HA Cloud SQL: ~$230 / 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7200" y="1397000"/>
            <a:ext cx="3657600" cy="10414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7200" y="1524000"/>
            <a:ext cx="38100" cy="787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0400" y="1536700"/>
            <a:ext cx="330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Roboto"/>
              </a:rPr>
              <a:t>At launch volume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400" y="1689100"/>
            <a:ext cx="330200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100" b="1">
                <a:solidFill>
                  <a:srgbClr val="202124"/>
                </a:solidFill>
                <a:latin typeface="Roboto"/>
              </a:rPr>
              <a:t>$780</a:t>
            </a:r>
            <a:r>
              <a:rPr sz="1000" b="0">
                <a:solidFill>
                  <a:srgbClr val="5F6368"/>
                </a:solidFill>
                <a:latin typeface="Roboto"/>
              </a:rPr>
              <a:t>  per 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400" y="2184400"/>
            <a:ext cx="3302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F6368"/>
                </a:solidFill>
                <a:latin typeface="Roboto"/>
              </a:rPr>
              <a:t>10,000 tickets / month, all-in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590800"/>
            <a:ext cx="5949950" cy="2870200"/>
          </a:xfrm>
          <a:prstGeom prst="roundRect">
            <a:avLst>
              <a:gd name="adj" fmla="val 2654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400" y="2755900"/>
            <a:ext cx="554355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02124"/>
                </a:solidFill>
                <a:latin typeface="Roboto"/>
              </a:rPr>
              <a:t>Where each AI turn's $0.035 goes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" y="2984500"/>
            <a:ext cx="55435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5F6368"/>
                </a:solidFill>
                <a:latin typeface="Roboto"/>
              </a:rPr>
              <a:t>One customer message answered by the AI (sentiment agent + FAQ agent)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400" y="3238500"/>
            <a:ext cx="4724616" cy="2286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85016" y="3238500"/>
            <a:ext cx="283477" cy="2286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8493" y="3238500"/>
            <a:ext cx="173236" cy="2286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41729" y="3238500"/>
            <a:ext cx="173236" cy="2286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14965" y="3238500"/>
            <a:ext cx="141738" cy="228600"/>
          </a:xfrm>
          <a:prstGeom prst="rect">
            <a:avLst/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56704" y="3238500"/>
            <a:ext cx="47246" cy="228600"/>
          </a:xfrm>
          <a:prstGeom prst="rect">
            <a:avLst/>
          </a:prstGeom>
          <a:solidFill>
            <a:srgbClr val="BDC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0400" y="36449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8200" y="3581400"/>
            <a:ext cx="3556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Roboto"/>
              </a:rPr>
              <a:t>Gemini 2.5 Pro · FAQ agent (8K in / 2K out)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6450" y="3581400"/>
            <a:ext cx="952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202124"/>
                </a:solidFill>
                <a:latin typeface="Roboto Mono"/>
              </a:rPr>
              <a:t>$0.0300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32450" y="3581400"/>
            <a:ext cx="571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5F6368"/>
                </a:solidFill>
                <a:latin typeface="Roboto Mono"/>
              </a:rPr>
              <a:t>85%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0400" y="38608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200" y="3797300"/>
            <a:ext cx="3556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Roboto"/>
              </a:rPr>
              <a:t>Agent Engine sessions (~7 events)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6450" y="3797300"/>
            <a:ext cx="952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202124"/>
                </a:solidFill>
                <a:latin typeface="Roboto Mono"/>
              </a:rPr>
              <a:t>$0.0018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2450" y="3797300"/>
            <a:ext cx="571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5F6368"/>
                </a:solidFill>
                <a:latin typeface="Roboto Mono"/>
              </a:rPr>
              <a:t>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0400" y="40767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200" y="4013200"/>
            <a:ext cx="3556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Roboto"/>
              </a:rPr>
              <a:t>Agent Engine compute (4 vCPU, ~10 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6450" y="4013200"/>
            <a:ext cx="952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202124"/>
                </a:solidFill>
                <a:latin typeface="Roboto Mono"/>
              </a:rPr>
              <a:t>$0.0011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2450" y="4013200"/>
            <a:ext cx="571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5F6368"/>
                </a:solidFill>
                <a:latin typeface="Roboto Mono"/>
              </a:rPr>
              <a:t>3%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0400" y="42926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200" y="4229100"/>
            <a:ext cx="3556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Roboto"/>
              </a:rPr>
              <a:t>Gemini 2.5 Flash · sentiment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6450" y="4229100"/>
            <a:ext cx="952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202124"/>
                </a:solidFill>
                <a:latin typeface="Roboto Mono"/>
              </a:rPr>
              <a:t>$0.0011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32450" y="4229100"/>
            <a:ext cx="571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5F6368"/>
                </a:solidFill>
                <a:latin typeface="Roboto Mono"/>
              </a:rPr>
              <a:t>3%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0400" y="45085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8AB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8200" y="4445000"/>
            <a:ext cx="3556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Roboto"/>
              </a:rPr>
              <a:t>Vertex AI Search (60% of turns)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6450" y="4445000"/>
            <a:ext cx="952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202124"/>
                </a:solidFill>
                <a:latin typeface="Roboto Mono"/>
              </a:rPr>
              <a:t>$0.0009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32450" y="4445000"/>
            <a:ext cx="571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5F6368"/>
                </a:solidFill>
                <a:latin typeface="Roboto Mono"/>
              </a:rPr>
              <a:t>3%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0400" y="4724400"/>
            <a:ext cx="88900" cy="88900"/>
          </a:xfrm>
          <a:prstGeom prst="roundRect">
            <a:avLst>
              <a:gd name="adj" fmla="val 50000"/>
            </a:avLst>
          </a:prstGeom>
          <a:solidFill>
            <a:srgbClr val="BDC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8200" y="4660900"/>
            <a:ext cx="3556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202124"/>
                </a:solidFill>
                <a:latin typeface="Roboto"/>
              </a:rPr>
              <a:t>Cloud Run · Trace · Logging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16450" y="4660900"/>
            <a:ext cx="952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202124"/>
                </a:solidFill>
                <a:latin typeface="Roboto Mono"/>
              </a:rPr>
              <a:t>$0.0003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32450" y="4660900"/>
            <a:ext cx="571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0">
                <a:solidFill>
                  <a:srgbClr val="5F6368"/>
                </a:solidFill>
                <a:latin typeface="Roboto Mono"/>
              </a:rPr>
              <a:t>1%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0400" y="4927600"/>
            <a:ext cx="554355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8200" y="4978400"/>
            <a:ext cx="35560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202124"/>
                </a:solidFill>
                <a:latin typeface="Roboto"/>
              </a:rPr>
              <a:t>Total per AI turn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6450" y="4978400"/>
            <a:ext cx="952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1">
                <a:solidFill>
                  <a:srgbClr val="202124"/>
                </a:solidFill>
                <a:latin typeface="Roboto Mono"/>
              </a:rPr>
              <a:t>$0.0352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32450" y="4978400"/>
            <a:ext cx="571500" cy="215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75" b="1">
                <a:solidFill>
                  <a:srgbClr val="5F6368"/>
                </a:solidFill>
                <a:latin typeface="Roboto Mono"/>
              </a:rPr>
              <a:t>100%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59550" y="2590800"/>
            <a:ext cx="5175250" cy="2870200"/>
          </a:xfrm>
          <a:prstGeom prst="roundRect">
            <a:avLst>
              <a:gd name="adj" fmla="val 2654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62750" y="2755900"/>
            <a:ext cx="476885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02124"/>
                </a:solidFill>
                <a:latin typeface="Roboto"/>
              </a:rPr>
              <a:t>Expected monthly cost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2750" y="2984500"/>
            <a:ext cx="4768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5F6368"/>
                </a:solidFill>
                <a:latin typeface="Roboto"/>
              </a:rPr>
              <a:t>Variable + fixed. Production infrastructure assumed at 100K</a:t>
            </a:r>
          </a:p>
        </p:txBody>
      </p: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6762750" y="3225800"/>
          <a:ext cx="4768850" cy="1397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/>
                <a:gridCol w="952500"/>
                <a:gridCol w="825500"/>
                <a:gridCol w="1085850"/>
              </a:tblGrid>
              <a:tr h="215900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5F6368"/>
                          </a:solidFill>
                          <a:latin typeface="Roboto"/>
                        </a:rPr>
                        <a:t>Tickets / month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5F6368"/>
                          </a:solidFill>
                          <a:latin typeface="Roboto"/>
                        </a:rPr>
                        <a:t>Variable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5F6368"/>
                          </a:solidFill>
                          <a:latin typeface="Roboto"/>
                        </a:rPr>
                        <a:t>Fixed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00" b="1">
                          <a:solidFill>
                            <a:srgbClr val="5F6368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Roboto"/>
                        </a:rPr>
                        <a:t>1,000</a:t>
                      </a:r>
                    </a:p>
                    <a:p>
                      <a:pPr algn="l"/>
                      <a:r>
                        <a:rPr sz="725" b="0">
                          <a:solidFill>
                            <a:srgbClr val="5F6368"/>
                          </a:solidFill>
                          <a:latin typeface="Roboto"/>
                        </a:rPr>
                        <a:t>Pilot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F6368"/>
                          </a:solidFill>
                          <a:latin typeface="Roboto Mono"/>
                        </a:rPr>
                        <a:t>$75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F6368"/>
                          </a:solidFill>
                          <a:latin typeface="Roboto Mono"/>
                        </a:rPr>
                        <a:t>$29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73E8"/>
                          </a:solidFill>
                          <a:latin typeface="Roboto Mono"/>
                        </a:rPr>
                        <a:t>$105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Roboto"/>
                        </a:rPr>
                        <a:t>10,000</a:t>
                      </a:r>
                    </a:p>
                    <a:p>
                      <a:pPr algn="l"/>
                      <a:r>
                        <a:rPr sz="725" b="0">
                          <a:solidFill>
                            <a:srgbClr val="5F6368"/>
                          </a:solidFill>
                          <a:latin typeface="Roboto"/>
                        </a:rPr>
                        <a:t>Launch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F6368"/>
                          </a:solidFill>
                          <a:latin typeface="Roboto Mono"/>
                        </a:rPr>
                        <a:t>$750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F6368"/>
                          </a:solidFill>
                          <a:latin typeface="Roboto Mono"/>
                        </a:rPr>
                        <a:t>$29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73E8"/>
                          </a:solidFill>
                          <a:latin typeface="Roboto Mono"/>
                        </a:rPr>
                        <a:t>$780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02124"/>
                          </a:solidFill>
                          <a:latin typeface="Roboto"/>
                        </a:rPr>
                        <a:t>100,000</a:t>
                      </a:r>
                    </a:p>
                    <a:p>
                      <a:pPr algn="l"/>
                      <a:r>
                        <a:rPr sz="725" b="0">
                          <a:solidFill>
                            <a:srgbClr val="5F6368"/>
                          </a:solidFill>
                          <a:latin typeface="Roboto"/>
                        </a:rPr>
                        <a:t>Scale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F6368"/>
                          </a:solidFill>
                          <a:latin typeface="Roboto Mono"/>
                        </a:rPr>
                        <a:t>$7,500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F6368"/>
                          </a:solidFill>
                          <a:latin typeface="Roboto Mono"/>
                        </a:rPr>
                        <a:t>$230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73E8"/>
                          </a:solidFill>
                          <a:latin typeface="Roboto Mono"/>
                        </a:rPr>
                        <a:t>$7,730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" name="Rounded Rectangle 70"/>
          <p:cNvSpPr/>
          <p:nvPr/>
        </p:nvSpPr>
        <p:spPr>
          <a:xfrm>
            <a:off x="6762750" y="4648200"/>
            <a:ext cx="2339975" cy="660400"/>
          </a:xfrm>
          <a:prstGeom prst="roundRect">
            <a:avLst>
              <a:gd name="adj" fmla="val 961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64350" y="4724400"/>
            <a:ext cx="2136775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5" b="1">
                <a:solidFill>
                  <a:srgbClr val="5F6368"/>
                </a:solidFill>
                <a:latin typeface="Roboto"/>
              </a:rPr>
              <a:t>FIXED · PROTOTYPE</a:t>
            </a:r>
          </a:p>
          <a:p>
            <a:pPr algn="l"/>
            <a:r>
              <a:rPr sz="1100" b="1">
                <a:solidFill>
                  <a:srgbClr val="202124"/>
                </a:solidFill>
                <a:latin typeface="Roboto Mono"/>
              </a:rPr>
              <a:t>$29 / mo</a:t>
            </a:r>
          </a:p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IAP LB $18 · SQL f1-micro $9 · misc $2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191625" y="4648200"/>
            <a:ext cx="2339975" cy="660400"/>
          </a:xfrm>
          <a:prstGeom prst="roundRect">
            <a:avLst>
              <a:gd name="adj" fmla="val 961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93225" y="4724400"/>
            <a:ext cx="2136775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5" b="1">
                <a:solidFill>
                  <a:srgbClr val="5F6368"/>
                </a:solidFill>
                <a:latin typeface="Roboto"/>
              </a:rPr>
              <a:t>FIXED · PRODUCTION</a:t>
            </a:r>
          </a:p>
          <a:p>
            <a:pPr algn="l"/>
            <a:r>
              <a:rPr sz="1100" b="1">
                <a:solidFill>
                  <a:srgbClr val="202124"/>
                </a:solidFill>
                <a:latin typeface="Roboto Mono"/>
              </a:rPr>
              <a:t>$230 / mo</a:t>
            </a:r>
          </a:p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HA SQL $197 · LB $18 · Cloud Run $10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613400"/>
            <a:ext cx="6673850" cy="889000"/>
          </a:xfrm>
          <a:prstGeom prst="roundRect">
            <a:avLst>
              <a:gd name="adj" fmla="val 8571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9600" y="5715000"/>
            <a:ext cx="254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202124"/>
                </a:solidFill>
                <a:latin typeface="Roboto"/>
              </a:rPr>
              <a:t>Key assumptions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9600" y="5905500"/>
            <a:ext cx="3111500" cy="546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>
                <a:solidFill>
                  <a:srgbClr val="1A73E8"/>
                </a:solidFill>
                <a:latin typeface="Roboto"/>
              </a:rPr>
              <a:t>•  </a:t>
            </a:r>
            <a:r>
              <a:rPr sz="775" b="1">
                <a:solidFill>
                  <a:srgbClr val="202124"/>
                </a:solidFill>
                <a:latin typeface="Roboto"/>
              </a:rPr>
              <a:t>3</a:t>
            </a:r>
            <a:r>
              <a:rPr sz="775" b="0">
                <a:solidFill>
                  <a:srgbClr val="5F6368"/>
                </a:solidFill>
                <a:latin typeface="Roboto"/>
              </a:rPr>
              <a:t> customer messages / ticket</a:t>
            </a:r>
          </a:p>
          <a:p>
            <a:pPr algn="l">
              <a:lnSpc>
                <a:spcPct val="110000"/>
              </a:lnSpc>
            </a:pPr>
            <a:r>
              <a:rPr sz="750" b="1">
                <a:solidFill>
                  <a:srgbClr val="1A73E8"/>
                </a:solidFill>
                <a:latin typeface="Roboto"/>
              </a:rPr>
              <a:t>•  </a:t>
            </a:r>
            <a:r>
              <a:rPr sz="775" b="1">
                <a:solidFill>
                  <a:srgbClr val="202124"/>
                </a:solidFill>
                <a:latin typeface="Roboto"/>
              </a:rPr>
              <a:t>15%</a:t>
            </a:r>
            <a:r>
              <a:rPr sz="775" b="0">
                <a:solidFill>
                  <a:srgbClr val="5F6368"/>
                </a:solidFill>
                <a:latin typeface="Roboto"/>
              </a:rPr>
              <a:t> urgent → human on 1st message</a:t>
            </a:r>
          </a:p>
          <a:p>
            <a:pPr algn="l">
              <a:lnSpc>
                <a:spcPct val="110000"/>
              </a:lnSpc>
            </a:pPr>
            <a:r>
              <a:rPr sz="750" b="1">
                <a:solidFill>
                  <a:srgbClr val="1A73E8"/>
                </a:solidFill>
                <a:latin typeface="Roboto"/>
              </a:rPr>
              <a:t>•  </a:t>
            </a:r>
            <a:r>
              <a:rPr sz="775" b="1">
                <a:solidFill>
                  <a:srgbClr val="202124"/>
                </a:solidFill>
                <a:latin typeface="Roboto"/>
              </a:rPr>
              <a:t>2.5</a:t>
            </a:r>
            <a:r>
              <a:rPr sz="775" b="0">
                <a:solidFill>
                  <a:srgbClr val="5F6368"/>
                </a:solidFill>
                <a:latin typeface="Roboto"/>
              </a:rPr>
              <a:t> AI turns per non-urgent ticket</a:t>
            </a:r>
          </a:p>
          <a:p>
            <a:pPr algn="l">
              <a:lnSpc>
                <a:spcPct val="110000"/>
              </a:lnSpc>
            </a:pPr>
            <a:r>
              <a:rPr sz="750" b="1">
                <a:solidFill>
                  <a:srgbClr val="1A73E8"/>
                </a:solidFill>
                <a:latin typeface="Roboto"/>
              </a:rPr>
              <a:t>•  </a:t>
            </a:r>
            <a:r>
              <a:rPr sz="775" b="1">
                <a:solidFill>
                  <a:srgbClr val="202124"/>
                </a:solidFill>
                <a:latin typeface="Roboto"/>
              </a:rPr>
              <a:t/>
            </a:r>
            <a:r>
              <a:rPr sz="775" b="0">
                <a:solidFill>
                  <a:srgbClr val="5F6368"/>
                </a:solidFill>
                <a:latin typeface="Roboto"/>
              </a:rPr>
              <a:t>Follow-ups on escalated tickets skip the LLM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84600" y="5905500"/>
            <a:ext cx="3111500" cy="546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>
                <a:solidFill>
                  <a:srgbClr val="1A73E8"/>
                </a:solidFill>
                <a:latin typeface="Roboto"/>
              </a:rPr>
              <a:t>•  </a:t>
            </a:r>
            <a:r>
              <a:rPr sz="775" b="1">
                <a:solidFill>
                  <a:srgbClr val="202124"/>
                </a:solidFill>
                <a:latin typeface="Roboto"/>
              </a:rPr>
              <a:t/>
            </a:r>
            <a:r>
              <a:rPr sz="775" b="0">
                <a:solidFill>
                  <a:srgbClr val="5F6368"/>
                </a:solidFill>
                <a:latin typeface="Roboto"/>
              </a:rPr>
              <a:t>Pro $1.25 / $10, Flash $0.30 / $2.50 per 1M tokens</a:t>
            </a:r>
          </a:p>
          <a:p>
            <a:pPr algn="l">
              <a:lnSpc>
                <a:spcPct val="110000"/>
              </a:lnSpc>
            </a:pPr>
            <a:r>
              <a:rPr sz="750" b="1">
                <a:solidFill>
                  <a:srgbClr val="1A73E8"/>
                </a:solidFill>
                <a:latin typeface="Roboto"/>
              </a:rPr>
              <a:t>•  </a:t>
            </a:r>
            <a:r>
              <a:rPr sz="775" b="1">
                <a:solidFill>
                  <a:srgbClr val="202124"/>
                </a:solidFill>
                <a:latin typeface="Roboto"/>
              </a:rPr>
              <a:t/>
            </a:r>
            <a:r>
              <a:rPr sz="775" b="0">
                <a:solidFill>
                  <a:srgbClr val="5F6368"/>
                </a:solidFill>
                <a:latin typeface="Roboto"/>
              </a:rPr>
              <a:t>Search $1.50 / 1K · Sessions $0.25 / 1K events</a:t>
            </a:r>
          </a:p>
          <a:p>
            <a:pPr algn="l">
              <a:lnSpc>
                <a:spcPct val="110000"/>
              </a:lnSpc>
            </a:pPr>
            <a:r>
              <a:rPr sz="750" b="1">
                <a:solidFill>
                  <a:srgbClr val="1A73E8"/>
                </a:solidFill>
                <a:latin typeface="Roboto"/>
              </a:rPr>
              <a:t>•  </a:t>
            </a:r>
            <a:r>
              <a:rPr sz="775" b="1">
                <a:solidFill>
                  <a:srgbClr val="202124"/>
                </a:solidFill>
                <a:latin typeface="Roboto"/>
              </a:rPr>
              <a:t/>
            </a:r>
            <a:r>
              <a:rPr sz="775" b="0">
                <a:solidFill>
                  <a:srgbClr val="5F6368"/>
                </a:solidFill>
                <a:latin typeface="Roboto"/>
              </a:rPr>
              <a:t>No free tiers or committed-use discounts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83450" y="5613400"/>
            <a:ext cx="4451350" cy="889000"/>
          </a:xfrm>
          <a:prstGeom prst="roundRect">
            <a:avLst>
              <a:gd name="adj" fmla="val 8571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35850" y="5715000"/>
            <a:ext cx="254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C5221F"/>
                </a:solidFill>
                <a:latin typeface="Roboto"/>
              </a:rPr>
              <a:t>Cost risks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35850" y="5905500"/>
            <a:ext cx="4146550" cy="546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>
                <a:solidFill>
                  <a:srgbClr val="EA4335"/>
                </a:solidFill>
                <a:latin typeface="Roboto"/>
              </a:rPr>
              <a:t>•  </a:t>
            </a:r>
            <a:r>
              <a:rPr sz="775" b="0">
                <a:solidFill>
                  <a:srgbClr val="202124"/>
                </a:solidFill>
                <a:latin typeface="Roboto"/>
              </a:rPr>
              <a:t>Agent Engine idle billing at GA: </a:t>
            </a:r>
            <a:r>
              <a:rPr sz="775" b="1">
                <a:solidFill>
                  <a:srgbClr val="C5221F"/>
                </a:solidFill>
                <a:latin typeface="Roboto"/>
              </a:rPr>
              <a:t>+$557 / mo</a:t>
            </a:r>
          </a:p>
          <a:p>
            <a:pPr algn="l">
              <a:lnSpc>
                <a:spcPct val="110000"/>
              </a:lnSpc>
            </a:pPr>
            <a:r>
              <a:rPr sz="750" b="1">
                <a:solidFill>
                  <a:srgbClr val="EA4335"/>
                </a:solidFill>
                <a:latin typeface="Roboto"/>
              </a:rPr>
              <a:t>•  </a:t>
            </a:r>
            <a:r>
              <a:rPr sz="775" b="0">
                <a:solidFill>
                  <a:srgbClr val="202124"/>
                </a:solidFill>
                <a:latin typeface="Roboto"/>
              </a:rPr>
              <a:t>Nightly eval runs: </a:t>
            </a:r>
            <a:r>
              <a:rPr sz="775" b="1">
                <a:solidFill>
                  <a:srgbClr val="C5221F"/>
                </a:solidFill>
                <a:latin typeface="Roboto"/>
              </a:rPr>
              <a:t>~$105 / mo</a:t>
            </a:r>
          </a:p>
          <a:p>
            <a:pPr algn="l">
              <a:lnSpc>
                <a:spcPct val="110000"/>
              </a:lnSpc>
            </a:pPr>
            <a:r>
              <a:rPr sz="750" b="1">
                <a:solidFill>
                  <a:srgbClr val="EA4335"/>
                </a:solidFill>
                <a:latin typeface="Roboto"/>
              </a:rPr>
              <a:t>•  </a:t>
            </a:r>
            <a:r>
              <a:rPr sz="775" b="0">
                <a:solidFill>
                  <a:srgbClr val="202124"/>
                </a:solidFill>
                <a:latin typeface="Roboto"/>
              </a:rPr>
              <a:t>Pro thinking tokens can 2× on hard queries</a:t>
            </a:r>
            <a:r>
              <a:rPr sz="775" b="1">
                <a:solidFill>
                  <a:srgbClr val="C5221F"/>
                </a:solidFill>
                <a:latin typeface="Roboto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750" b="1">
                <a:solidFill>
                  <a:srgbClr val="EA4335"/>
                </a:solidFill>
                <a:latin typeface="Roboto"/>
              </a:rPr>
              <a:t>•  </a:t>
            </a:r>
            <a:r>
              <a:rPr sz="775" b="0">
                <a:solidFill>
                  <a:srgbClr val="202124"/>
                </a:solidFill>
                <a:latin typeface="Roboto"/>
              </a:rPr>
              <a:t>Token counts not yet measured (eval M3/M4)</a:t>
            </a:r>
            <a:r>
              <a:rPr sz="775" b="1">
                <a:solidFill>
                  <a:srgbClr val="C5221F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69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6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26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Roboto"/>
              </a:rPr>
              <a:t>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400"/>
            <a:ext cx="8890000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02124"/>
                </a:solidFill>
                <a:latin typeface="Roboto"/>
              </a:rPr>
              <a:t>LLMOps, </a:t>
            </a:r>
            <a:r>
              <a:rPr sz="2500" b="1">
                <a:solidFill>
                  <a:srgbClr val="1A73E8"/>
                </a:solidFill>
                <a:latin typeface="Roboto"/>
              </a:rPr>
              <a:t>Evaluation Framework &amp; 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66800"/>
            <a:ext cx="825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Roboto"/>
              </a:rPr>
              <a:t>Every change runs through the same flywheel: gated offline on a golden set, watched online in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604000"/>
            <a:ext cx="112776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54800"/>
            <a:ext cx="508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5" b="0">
                <a:solidFill>
                  <a:srgbClr val="5F6368"/>
                </a:solidFill>
                <a:latin typeface="Roboto"/>
              </a:rPr>
              <a:t>FDE Support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4800" y="6654800"/>
            <a:ext cx="127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75" b="0">
                <a:solidFill>
                  <a:srgbClr val="5F6368"/>
                </a:solidFill>
                <a:latin typeface="Roboto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749300"/>
            <a:ext cx="2362200" cy="24130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B06000"/>
                </a:solidFill>
                <a:latin typeface="Roboto"/>
              </a:rPr>
              <a:t>Framework built · baseline run pending</a:t>
            </a:r>
          </a:p>
        </p:txBody>
      </p:sp>
      <p:sp>
        <p:nvSpPr>
          <p:cNvPr id="14" name="Pentagon 13"/>
          <p:cNvSpPr/>
          <p:nvPr/>
        </p:nvSpPr>
        <p:spPr>
          <a:xfrm>
            <a:off x="457200" y="1371600"/>
            <a:ext cx="1985433" cy="584200"/>
          </a:xfrm>
          <a:prstGeom prst="homePlate">
            <a:avLst>
              <a:gd name="adj" fmla="val 3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215900" tIns="0" bIns="0"/>
          <a:lstStyle/>
          <a:p>
            <a:pPr algn="l"/>
            <a:r>
              <a:rPr sz="750" b="1">
                <a:solidFill>
                  <a:srgbClr val="5F6368"/>
                </a:solidFill>
                <a:latin typeface="Roboto Mono"/>
              </a:rPr>
              <a:t>1  </a:t>
            </a:r>
            <a:r>
              <a:rPr sz="950" b="1">
                <a:solidFill>
                  <a:srgbClr val="202124"/>
                </a:solidFill>
                <a:latin typeface="Roboto"/>
              </a:rPr>
              <a:t>Change</a:t>
            </a:r>
          </a:p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Prompt, model, tool, code</a:t>
            </a:r>
          </a:p>
        </p:txBody>
      </p:sp>
      <p:sp>
        <p:nvSpPr>
          <p:cNvPr id="15" name="Chevron 14"/>
          <p:cNvSpPr/>
          <p:nvPr/>
        </p:nvSpPr>
        <p:spPr>
          <a:xfrm>
            <a:off x="2315633" y="1371600"/>
            <a:ext cx="1985433" cy="584200"/>
          </a:xfrm>
          <a:prstGeom prst="chevron">
            <a:avLst>
              <a:gd name="adj" fmla="val 3043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215900" tIns="0" bIns="0"/>
          <a:lstStyle/>
          <a:p>
            <a:pPr algn="l"/>
            <a:r>
              <a:rPr sz="750" b="1">
                <a:solidFill>
                  <a:srgbClr val="1A73E8"/>
                </a:solidFill>
                <a:latin typeface="Roboto Mono"/>
              </a:rPr>
              <a:t>2  </a:t>
            </a:r>
            <a:r>
              <a:rPr sz="950" b="1">
                <a:solidFill>
                  <a:srgbClr val="202124"/>
                </a:solidFill>
                <a:latin typeface="Roboto"/>
              </a:rPr>
              <a:t>PR gate</a:t>
            </a:r>
          </a:p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Deterministic KPIs</a:t>
            </a:r>
          </a:p>
        </p:txBody>
      </p:sp>
      <p:sp>
        <p:nvSpPr>
          <p:cNvPr id="16" name="Chevron 15"/>
          <p:cNvSpPr/>
          <p:nvPr/>
        </p:nvSpPr>
        <p:spPr>
          <a:xfrm>
            <a:off x="4174067" y="1371600"/>
            <a:ext cx="1985433" cy="584200"/>
          </a:xfrm>
          <a:prstGeom prst="chevron">
            <a:avLst>
              <a:gd name="adj" fmla="val 30434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215900" tIns="0" bIns="0"/>
          <a:lstStyle/>
          <a:p>
            <a:pPr algn="l"/>
            <a:r>
              <a:rPr sz="750" b="1">
                <a:solidFill>
                  <a:srgbClr val="C5221F"/>
                </a:solidFill>
                <a:latin typeface="Roboto Mono"/>
              </a:rPr>
              <a:t>3  </a:t>
            </a:r>
            <a:r>
              <a:rPr sz="950" b="1">
                <a:solidFill>
                  <a:srgbClr val="202124"/>
                </a:solidFill>
                <a:latin typeface="Roboto"/>
              </a:rPr>
              <a:t>Nightly</a:t>
            </a:r>
          </a:p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LLM judges + rubrics</a:t>
            </a:r>
          </a:p>
        </p:txBody>
      </p:sp>
      <p:sp>
        <p:nvSpPr>
          <p:cNvPr id="17" name="Chevron 16"/>
          <p:cNvSpPr/>
          <p:nvPr/>
        </p:nvSpPr>
        <p:spPr>
          <a:xfrm>
            <a:off x="6032500" y="1371600"/>
            <a:ext cx="1985433" cy="584200"/>
          </a:xfrm>
          <a:prstGeom prst="chevron">
            <a:avLst>
              <a:gd name="adj" fmla="val 30434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215900" tIns="0" bIns="0"/>
          <a:lstStyle/>
          <a:p>
            <a:pPr algn="l"/>
            <a:r>
              <a:rPr sz="750" b="1">
                <a:solidFill>
                  <a:srgbClr val="B06000"/>
                </a:solidFill>
                <a:latin typeface="Roboto Mono"/>
              </a:rPr>
              <a:t>4  </a:t>
            </a:r>
            <a:r>
              <a:rPr sz="950" b="1">
                <a:solidFill>
                  <a:srgbClr val="202124"/>
                </a:solidFill>
                <a:latin typeface="Roboto"/>
              </a:rPr>
              <a:t>Deploy</a:t>
            </a:r>
          </a:p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Cloud Build → Cloud Run</a:t>
            </a:r>
          </a:p>
        </p:txBody>
      </p:sp>
      <p:sp>
        <p:nvSpPr>
          <p:cNvPr id="18" name="Chevron 17"/>
          <p:cNvSpPr/>
          <p:nvPr/>
        </p:nvSpPr>
        <p:spPr>
          <a:xfrm>
            <a:off x="7890933" y="1371600"/>
            <a:ext cx="1985433" cy="584200"/>
          </a:xfrm>
          <a:prstGeom prst="chevron">
            <a:avLst>
              <a:gd name="adj" fmla="val 30434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215900" tIns="0" bIns="0"/>
          <a:lstStyle/>
          <a:p>
            <a:pPr algn="l"/>
            <a:r>
              <a:rPr sz="750" b="1">
                <a:solidFill>
                  <a:srgbClr val="137333"/>
                </a:solidFill>
                <a:latin typeface="Roboto Mono"/>
              </a:rPr>
              <a:t>5  </a:t>
            </a:r>
            <a:r>
              <a:rPr sz="950" b="1">
                <a:solidFill>
                  <a:srgbClr val="202124"/>
                </a:solidFill>
                <a:latin typeface="Roboto"/>
              </a:rPr>
              <a:t>Monitor</a:t>
            </a:r>
          </a:p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Traces, logs, alerts</a:t>
            </a:r>
          </a:p>
        </p:txBody>
      </p:sp>
      <p:sp>
        <p:nvSpPr>
          <p:cNvPr id="19" name="Chevron 18"/>
          <p:cNvSpPr/>
          <p:nvPr/>
        </p:nvSpPr>
        <p:spPr>
          <a:xfrm>
            <a:off x="9749367" y="1371600"/>
            <a:ext cx="1985433" cy="584200"/>
          </a:xfrm>
          <a:prstGeom prst="chevron">
            <a:avLst>
              <a:gd name="adj" fmla="val 3043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4800" rIns="215900" tIns="0" bIns="0"/>
          <a:lstStyle/>
          <a:p>
            <a:pPr algn="l"/>
            <a:r>
              <a:rPr sz="750" b="1">
                <a:solidFill>
                  <a:srgbClr val="1A73E8"/>
                </a:solidFill>
                <a:latin typeface="Roboto Mono"/>
              </a:rPr>
              <a:t>6  </a:t>
            </a:r>
            <a:r>
              <a:rPr sz="950" b="1">
                <a:solidFill>
                  <a:srgbClr val="202124"/>
                </a:solidFill>
                <a:latin typeface="Roboto"/>
              </a:rPr>
              <a:t>Learn</a:t>
            </a:r>
          </a:p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Failures → golden 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108200"/>
            <a:ext cx="3302000" cy="4368800"/>
          </a:xfrm>
          <a:prstGeom prst="roundRect">
            <a:avLst>
              <a:gd name="adj" fmla="val 307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000" y="2260600"/>
            <a:ext cx="510667" cy="1778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A73E8"/>
                </a:solidFill>
                <a:latin typeface="Roboto"/>
              </a:rPr>
              <a:t>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01900"/>
            <a:ext cx="29464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Roboto"/>
              </a:rPr>
              <a:t>Evaluation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2743200"/>
            <a:ext cx="2946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5" b="0">
                <a:solidFill>
                  <a:srgbClr val="5F6368"/>
                </a:solidFill>
                <a:latin typeface="Roboto"/>
              </a:rPr>
              <a:t>Golden set: 100 tickets sourced from the RAG corpus</a:t>
            </a:r>
          </a:p>
        </p:txBody>
      </p:sp>
      <p:sp>
        <p:nvSpPr>
          <p:cNvPr id="24" name="Block Arc 23"/>
          <p:cNvSpPr/>
          <p:nvPr/>
        </p:nvSpPr>
        <p:spPr>
          <a:xfrm>
            <a:off x="635000" y="2997200"/>
            <a:ext cx="1270000" cy="1270000"/>
          </a:xfrm>
          <a:prstGeom prst="blockArc">
            <a:avLst>
              <a:gd name="adj1" fmla="val 16290000"/>
              <a:gd name="adj2" fmla="val 4230000"/>
              <a:gd name="adj3" fmla="val 15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lock Arc 24"/>
          <p:cNvSpPr/>
          <p:nvPr/>
        </p:nvSpPr>
        <p:spPr>
          <a:xfrm>
            <a:off x="635000" y="2997200"/>
            <a:ext cx="1270000" cy="1270000"/>
          </a:xfrm>
          <a:prstGeom prst="blockArc">
            <a:avLst>
              <a:gd name="adj1" fmla="val 4410000"/>
              <a:gd name="adj2" fmla="val 9630000"/>
              <a:gd name="adj3" fmla="val 15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lock Arc 25"/>
          <p:cNvSpPr/>
          <p:nvPr/>
        </p:nvSpPr>
        <p:spPr>
          <a:xfrm>
            <a:off x="635000" y="2997200"/>
            <a:ext cx="1270000" cy="1270000"/>
          </a:xfrm>
          <a:prstGeom prst="blockArc">
            <a:avLst>
              <a:gd name="adj1" fmla="val 9810000"/>
              <a:gd name="adj2" fmla="val 12869999"/>
              <a:gd name="adj3" fmla="val 15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lock Arc 26"/>
          <p:cNvSpPr/>
          <p:nvPr/>
        </p:nvSpPr>
        <p:spPr>
          <a:xfrm>
            <a:off x="635000" y="2997200"/>
            <a:ext cx="1270000" cy="1270000"/>
          </a:xfrm>
          <a:prstGeom prst="blockArc">
            <a:avLst>
              <a:gd name="adj1" fmla="val 13050000"/>
              <a:gd name="adj2" fmla="val 15029999"/>
              <a:gd name="adj3" fmla="val 15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lock Arc 27"/>
          <p:cNvSpPr/>
          <p:nvPr/>
        </p:nvSpPr>
        <p:spPr>
          <a:xfrm>
            <a:off x="635000" y="2997200"/>
            <a:ext cx="1270000" cy="1270000"/>
          </a:xfrm>
          <a:prstGeom prst="blockArc">
            <a:avLst>
              <a:gd name="adj1" fmla="val 15210000"/>
              <a:gd name="adj2" fmla="val 16110000"/>
              <a:gd name="adj3" fmla="val 15000"/>
            </a:avLst>
          </a:prstGeom>
          <a:solidFill>
            <a:srgbClr val="BDC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000" y="3378200"/>
            <a:ext cx="1270000" cy="304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02124"/>
                </a:solidFill>
                <a:latin typeface="Roboto"/>
              </a:rPr>
              <a:t>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695700"/>
            <a:ext cx="1270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F6368"/>
                </a:solidFill>
                <a:latin typeface="Roboto"/>
              </a:rPr>
              <a:t>tickets</a:t>
            </a:r>
          </a:p>
        </p:txBody>
      </p:sp>
      <p:sp>
        <p:nvSpPr>
          <p:cNvPr id="31" name="Oval 30"/>
          <p:cNvSpPr/>
          <p:nvPr/>
        </p:nvSpPr>
        <p:spPr>
          <a:xfrm>
            <a:off x="2082800" y="3022600"/>
            <a:ext cx="76200" cy="76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22500" y="2971800"/>
            <a:ext cx="11176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In-corpus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22500" y="3111500"/>
            <a:ext cx="11176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grounded answers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7400" y="2971800"/>
            <a:ext cx="254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202124"/>
                </a:solidFill>
                <a:latin typeface="Roboto Mono"/>
              </a:rPr>
              <a:t>45</a:t>
            </a:r>
          </a:p>
        </p:txBody>
      </p:sp>
      <p:sp>
        <p:nvSpPr>
          <p:cNvPr id="35" name="Oval 34"/>
          <p:cNvSpPr/>
          <p:nvPr/>
        </p:nvSpPr>
        <p:spPr>
          <a:xfrm>
            <a:off x="2082800" y="3289300"/>
            <a:ext cx="76200" cy="7620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22500" y="3238500"/>
            <a:ext cx="11176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Urgent / frustrated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22500" y="3378200"/>
            <a:ext cx="11176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human handoff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7400" y="3238500"/>
            <a:ext cx="254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202124"/>
                </a:solidFill>
                <a:latin typeface="Roboto Mono"/>
              </a:rPr>
              <a:t>25</a:t>
            </a:r>
          </a:p>
        </p:txBody>
      </p:sp>
      <p:sp>
        <p:nvSpPr>
          <p:cNvPr id="39" name="Oval 38"/>
          <p:cNvSpPr/>
          <p:nvPr/>
        </p:nvSpPr>
        <p:spPr>
          <a:xfrm>
            <a:off x="2082800" y="3556000"/>
            <a:ext cx="76200" cy="7620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22500" y="3505200"/>
            <a:ext cx="11176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Vague, single 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22500" y="3644900"/>
            <a:ext cx="11176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clarify, no search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7400" y="3505200"/>
            <a:ext cx="254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202124"/>
                </a:solidFill>
                <a:latin typeface="Roboto Mono"/>
              </a:rPr>
              <a:t>15</a:t>
            </a:r>
          </a:p>
        </p:txBody>
      </p:sp>
      <p:sp>
        <p:nvSpPr>
          <p:cNvPr id="43" name="Oval 42"/>
          <p:cNvSpPr/>
          <p:nvPr/>
        </p:nvSpPr>
        <p:spPr>
          <a:xfrm>
            <a:off x="2082800" y="3822700"/>
            <a:ext cx="76200" cy="762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22500" y="3771900"/>
            <a:ext cx="11176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Multi-turn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22500" y="3911600"/>
            <a:ext cx="11176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gating over turns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27400" y="3771900"/>
            <a:ext cx="254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202124"/>
                </a:solidFill>
                <a:latin typeface="Roboto Mono"/>
              </a:rPr>
              <a:t>10</a:t>
            </a:r>
          </a:p>
        </p:txBody>
      </p:sp>
      <p:sp>
        <p:nvSpPr>
          <p:cNvPr id="47" name="Oval 46"/>
          <p:cNvSpPr/>
          <p:nvPr/>
        </p:nvSpPr>
        <p:spPr>
          <a:xfrm>
            <a:off x="2082800" y="4089400"/>
            <a:ext cx="76200" cy="76200"/>
          </a:xfrm>
          <a:prstGeom prst="ellipse">
            <a:avLst/>
          </a:prstGeom>
          <a:solidFill>
            <a:srgbClr val="BDC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22500" y="4038600"/>
            <a:ext cx="11176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Out of corpus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22500" y="4178300"/>
            <a:ext cx="11176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no hallucination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27400" y="4038600"/>
            <a:ext cx="2540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202124"/>
                </a:solidFill>
                <a:latin typeface="Roboto Mono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000" y="4470400"/>
            <a:ext cx="29464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000" y="4572000"/>
            <a:ext cx="2946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202124"/>
                </a:solidFill>
                <a:latin typeface="Roboto"/>
              </a:rPr>
              <a:t>How answers are scored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000" y="4787900"/>
            <a:ext cx="2946400" cy="457200"/>
          </a:xfrm>
          <a:prstGeom prst="roundRect">
            <a:avLst>
              <a:gd name="adj" fmla="val 13888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300" y="4864100"/>
            <a:ext cx="2717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1A73E8"/>
                </a:solidFill>
                <a:latin typeface="Roboto"/>
              </a:rPr>
              <a:t>Deterministic</a:t>
            </a:r>
          </a:p>
          <a:p>
            <a:pPr algn="l"/>
            <a:r>
              <a:rPr sz="725" b="0">
                <a:solidFill>
                  <a:srgbClr val="202124"/>
                </a:solidFill>
                <a:latin typeface="Roboto"/>
              </a:rPr>
              <a:t>F1, ROUGE-L, BLEU, search gating, latency, tokens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000" y="5308600"/>
            <a:ext cx="2946400" cy="457200"/>
          </a:xfrm>
          <a:prstGeom prst="roundRect">
            <a:avLst>
              <a:gd name="adj" fmla="val 13888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300" y="5384800"/>
            <a:ext cx="2717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C5221F"/>
                </a:solidFill>
                <a:latin typeface="Roboto"/>
              </a:rPr>
              <a:t>LLM judge</a:t>
            </a:r>
          </a:p>
          <a:p>
            <a:pPr algn="l"/>
            <a:r>
              <a:rPr sz="725" b="0">
                <a:solidFill>
                  <a:srgbClr val="202124"/>
                </a:solidFill>
                <a:latin typeface="Roboto"/>
              </a:rPr>
              <a:t>Gemini Flash: grounding recall, faithfulness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000" y="5829300"/>
            <a:ext cx="2946400" cy="457200"/>
          </a:xfrm>
          <a:prstGeom prst="roundRect">
            <a:avLst>
              <a:gd name="adj" fmla="val 13888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300" y="5905500"/>
            <a:ext cx="2717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137333"/>
                </a:solidFill>
                <a:latin typeface="Roboto"/>
              </a:rPr>
              <a:t>Dynamic rubrics</a:t>
            </a:r>
          </a:p>
          <a:p>
            <a:pPr algn="l"/>
            <a:r>
              <a:rPr sz="725" b="0">
                <a:solidFill>
                  <a:srgbClr val="202124"/>
                </a:solidFill>
                <a:latin typeface="Roboto"/>
              </a:rPr>
              <a:t>Per-case criteria for clarifying questions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11600" y="2108200"/>
            <a:ext cx="4368800" cy="4368800"/>
          </a:xfrm>
          <a:prstGeom prst="roundRect">
            <a:avLst>
              <a:gd name="adj" fmla="val 232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089400" y="2260600"/>
            <a:ext cx="817753" cy="1778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C5221F"/>
                </a:solidFill>
                <a:latin typeface="Roboto"/>
              </a:rPr>
              <a:t>RELEASE GATES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89400" y="2501900"/>
            <a:ext cx="40132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Roboto"/>
              </a:rPr>
              <a:t>Quality gates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89400" y="2743200"/>
            <a:ext cx="4013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5" b="0">
                <a:solidFill>
                  <a:srgbClr val="5F6368"/>
                </a:solidFill>
                <a:latin typeface="Roboto"/>
              </a:rPr>
              <a:t>PR = every pull request, deterministic · Nightly = LLM-judged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089400" y="2971800"/>
            <a:ext cx="195580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16400" y="3035300"/>
            <a:ext cx="1193800" cy="2921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Roboto Mono"/>
              </a:rPr>
              <a:t>≥ 95%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16400" y="3352800"/>
            <a:ext cx="179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Routing accuracy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76138" y="3073400"/>
            <a:ext cx="254762" cy="1651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A73E8"/>
                </a:solidFill>
                <a:latin typeface="Roboto"/>
              </a:rPr>
              <a:t>PR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46800" y="2971800"/>
            <a:ext cx="195580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73800" y="3035300"/>
            <a:ext cx="1193800" cy="2921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Roboto Mono"/>
              </a:rPr>
              <a:t>≥ 0.95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73800" y="3352800"/>
            <a:ext cx="179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Urgent / frustrated F1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733538" y="3073400"/>
            <a:ext cx="254762" cy="1651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A73E8"/>
                </a:solidFill>
                <a:latin typeface="Roboto"/>
              </a:rPr>
              <a:t>PR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089400" y="3657600"/>
            <a:ext cx="195580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16400" y="3721100"/>
            <a:ext cx="1193800" cy="2921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Roboto Mono"/>
              </a:rPr>
              <a:t>100%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16400" y="4038600"/>
            <a:ext cx="179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Urgent tickets bypass RAG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76138" y="3759200"/>
            <a:ext cx="254762" cy="1651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A73E8"/>
                </a:solidFill>
                <a:latin typeface="Roboto"/>
              </a:rPr>
              <a:t>PR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46800" y="3657600"/>
            <a:ext cx="195580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73800" y="3721100"/>
            <a:ext cx="1193800" cy="2921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Roboto Mono"/>
              </a:rPr>
              <a:t>≥ 95%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73800" y="4038600"/>
            <a:ext cx="179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Search gating (vague / specific)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33538" y="3759200"/>
            <a:ext cx="254762" cy="1651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A73E8"/>
                </a:solidFill>
                <a:latin typeface="Roboto"/>
              </a:rPr>
              <a:t>PR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089400" y="4343400"/>
            <a:ext cx="195580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16400" y="4406900"/>
            <a:ext cx="1193800" cy="2921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Roboto Mono"/>
              </a:rPr>
              <a:t>≥ 0.35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16400" y="4724400"/>
            <a:ext cx="179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ROUGE-L vs. brand reply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676138" y="4445000"/>
            <a:ext cx="254762" cy="1651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A73E8"/>
                </a:solidFill>
                <a:latin typeface="Roboto"/>
              </a:rPr>
              <a:t>PR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46800" y="4343400"/>
            <a:ext cx="195580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73800" y="4406900"/>
            <a:ext cx="1193800" cy="2921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Roboto Mono"/>
              </a:rPr>
              <a:t>≥ 0.30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73800" y="4724400"/>
            <a:ext cx="179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BLEU-4 vs. brand reply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33538" y="4445000"/>
            <a:ext cx="254762" cy="1651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A73E8"/>
                </a:solidFill>
                <a:latin typeface="Roboto"/>
              </a:rPr>
              <a:t>PR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089400" y="5029200"/>
            <a:ext cx="195580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16400" y="5092700"/>
            <a:ext cx="1193800" cy="2921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Roboto Mono"/>
              </a:rPr>
              <a:t>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16400" y="5410200"/>
            <a:ext cx="179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API error / timeout rate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76138" y="5130800"/>
            <a:ext cx="254762" cy="1651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A73E8"/>
                </a:solidFill>
                <a:latin typeface="Roboto"/>
              </a:rPr>
              <a:t>PR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46800" y="5029200"/>
            <a:ext cx="195580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73800" y="5092700"/>
            <a:ext cx="1193800" cy="2921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Roboto Mono"/>
              </a:rPr>
              <a:t>≤ 3.0 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73800" y="5410200"/>
            <a:ext cx="179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P95 end-to-end latency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733538" y="5130800"/>
            <a:ext cx="254762" cy="1651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A73E8"/>
                </a:solidFill>
                <a:latin typeface="Roboto"/>
              </a:rPr>
              <a:t>PR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089400" y="5715000"/>
            <a:ext cx="195580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216400" y="5778500"/>
            <a:ext cx="1193800" cy="2921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600" b="1">
                <a:solidFill>
                  <a:srgbClr val="C5221F"/>
                </a:solidFill>
                <a:latin typeface="Roboto Mono"/>
              </a:rPr>
              <a:t>≥ 85%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16400" y="6096000"/>
            <a:ext cx="179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Grounding recall (key facts)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420233" y="5816600"/>
            <a:ext cx="510667" cy="1651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C5221F"/>
                </a:solidFill>
                <a:latin typeface="Roboto"/>
              </a:rPr>
              <a:t>Nightly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146800" y="5715000"/>
            <a:ext cx="1955800" cy="6096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73800" y="5778500"/>
            <a:ext cx="1193800" cy="2921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600" b="1">
                <a:solidFill>
                  <a:srgbClr val="C5221F"/>
                </a:solidFill>
                <a:latin typeface="Roboto Mono"/>
              </a:rPr>
              <a:t>≥ 90%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73800" y="6096000"/>
            <a:ext cx="179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RAG faithfulness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477633" y="5816600"/>
            <a:ext cx="510667" cy="1651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C5221F"/>
                </a:solidFill>
                <a:latin typeface="Roboto"/>
              </a:rPr>
              <a:t>Nightly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432800" y="2108200"/>
            <a:ext cx="3302000" cy="4368800"/>
          </a:xfrm>
          <a:prstGeom prst="roundRect">
            <a:avLst>
              <a:gd name="adj" fmla="val 307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610600" y="2260600"/>
            <a:ext cx="459486" cy="1778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37333"/>
                </a:solidFill>
                <a:latin typeface="Roboto"/>
              </a:rPr>
              <a:t>ONLINE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10600" y="2501900"/>
            <a:ext cx="29464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Roboto"/>
              </a:rPr>
              <a:t>Observability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10600" y="2743200"/>
            <a:ext cx="2946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5" b="0">
                <a:solidFill>
                  <a:srgbClr val="5F6368"/>
                </a:solidFill>
                <a:latin typeface="Roboto"/>
              </a:rPr>
              <a:t>Production telemetry on Google Cloud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610600" y="2971800"/>
            <a:ext cx="2946400" cy="508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8610600" y="3060700"/>
            <a:ext cx="31750" cy="330200"/>
          </a:xfrm>
          <a:prstGeom prst="roundRect">
            <a:avLst>
              <a:gd name="adj" fmla="val 4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0761662" y="3048000"/>
            <a:ext cx="693738" cy="1524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1A73E8"/>
                </a:solidFill>
                <a:latin typeface="Roboto"/>
              </a:rPr>
              <a:t>Cloud Trace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750300" y="3048000"/>
            <a:ext cx="193516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202124"/>
                </a:solidFill>
                <a:latin typeface="Roboto"/>
              </a:rPr>
              <a:t>Distributed tracing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750300" y="3213100"/>
            <a:ext cx="2692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OpenTelemetry on FastAPI + httpx; P95 / P99 per hop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10600" y="3543300"/>
            <a:ext cx="2946400" cy="508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610600" y="3632200"/>
            <a:ext cx="31750" cy="330200"/>
          </a:xfrm>
          <a:prstGeom prst="roundRect">
            <a:avLst>
              <a:gd name="adj" fmla="val 40000"/>
            </a:avLst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0909300" y="3619500"/>
            <a:ext cx="546100" cy="1524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137333"/>
                </a:solidFill>
                <a:latin typeface="Roboto"/>
              </a:rPr>
              <a:t>BigQuery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750300" y="3619500"/>
            <a:ext cx="2082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202124"/>
                </a:solidFill>
                <a:latin typeface="Roboto"/>
              </a:rPr>
              <a:t>Structured logs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750300" y="3784600"/>
            <a:ext cx="2692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Cloud Logging sink → Agent Analytics: routes, tokens, cost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610600" y="4114800"/>
            <a:ext cx="2946400" cy="508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610600" y="4203700"/>
            <a:ext cx="31750" cy="330200"/>
          </a:xfrm>
          <a:prstGeom prst="roundRect">
            <a:avLst>
              <a:gd name="adj" fmla="val 40000"/>
            </a:avLst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0712450" y="4191000"/>
            <a:ext cx="742950" cy="15240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B06000"/>
                </a:solidFill>
                <a:latin typeface="Roboto"/>
              </a:rPr>
              <a:t>Gemini judge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750300" y="4191000"/>
            <a:ext cx="1885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202124"/>
                </a:solidFill>
                <a:latin typeface="Roboto"/>
              </a:rPr>
              <a:t>Online quality sampling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750300" y="4356100"/>
            <a:ext cx="2692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Async LLM judge on sampled live traces; escalations, CSAT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610600" y="4686300"/>
            <a:ext cx="2946400" cy="508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8610600" y="4775200"/>
            <a:ext cx="31750" cy="330200"/>
          </a:xfrm>
          <a:prstGeom prst="roundRect">
            <a:avLst>
              <a:gd name="adj" fmla="val 40000"/>
            </a:avLst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10761662" y="4762500"/>
            <a:ext cx="693738" cy="1524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C5221F"/>
                </a:solidFill>
                <a:latin typeface="Roboto"/>
              </a:rPr>
              <a:t>Model Armor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750300" y="4762500"/>
            <a:ext cx="193516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202124"/>
                </a:solidFill>
                <a:latin typeface="Roboto"/>
              </a:rPr>
              <a:t>PII-safe telemetry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750300" y="4927600"/>
            <a:ext cx="2692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Cloud DLP redacts input before agents and logs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610600" y="5257800"/>
            <a:ext cx="2946400" cy="508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8610600" y="5346700"/>
            <a:ext cx="31750" cy="330200"/>
          </a:xfrm>
          <a:prstGeom prst="roundRect">
            <a:avLst>
              <a:gd name="adj" fmla="val 4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0515600" y="5334000"/>
            <a:ext cx="939800" cy="1524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1A73E8"/>
                </a:solidFill>
                <a:latin typeface="Roboto"/>
              </a:rPr>
              <a:t>Cloud Monitoring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750300" y="5334000"/>
            <a:ext cx="168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202124"/>
                </a:solidFill>
                <a:latin typeface="Roboto"/>
              </a:rPr>
              <a:t>Resilience signals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750300" y="5499100"/>
            <a:ext cx="2692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Circuit breaker (3 failures / 30 s); 4xx, 5xx, 429 counts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610600" y="5829300"/>
            <a:ext cx="2946400" cy="508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8610600" y="5918200"/>
            <a:ext cx="31750" cy="330200"/>
          </a:xfrm>
          <a:prstGeom prst="roundRect">
            <a:avLst>
              <a:gd name="adj" fmla="val 40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0860088" y="5905500"/>
            <a:ext cx="595312" cy="152400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5F6368"/>
                </a:solidFill>
                <a:latin typeface="Roboto"/>
              </a:rPr>
              <a:t>PagerDuty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750300" y="5905500"/>
            <a:ext cx="2033588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75" b="1">
                <a:solidFill>
                  <a:srgbClr val="202124"/>
                </a:solidFill>
                <a:latin typeface="Roboto"/>
              </a:rPr>
              <a:t>Alerting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750300" y="6070600"/>
            <a:ext cx="2692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SLO breaches page the on-call engineer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69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6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26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Roboto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400"/>
            <a:ext cx="8890000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02124"/>
                </a:solidFill>
                <a:latin typeface="Roboto"/>
              </a:rPr>
              <a:t>Roadmap &amp; </a:t>
            </a:r>
            <a:r>
              <a:rPr sz="2500" b="1">
                <a:solidFill>
                  <a:srgbClr val="1A73E8"/>
                </a:solidFill>
                <a:latin typeface="Roboto"/>
              </a:rPr>
              <a:t>Future of 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66800"/>
            <a:ext cx="825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Roboto"/>
              </a:rPr>
              <a:t>From a hardened prototype to a measurable, production-grade support platform, then beyond FAQ answers.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604000"/>
            <a:ext cx="112776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54800"/>
            <a:ext cx="508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5" b="0">
                <a:solidFill>
                  <a:srgbClr val="5F6368"/>
                </a:solidFill>
                <a:latin typeface="Roboto"/>
              </a:rPr>
              <a:t>FDE Support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4800" y="6654800"/>
            <a:ext cx="127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75" b="0">
                <a:solidFill>
                  <a:srgbClr val="5F6368"/>
                </a:solidFill>
                <a:latin typeface="Roboto"/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9398000" y="831850"/>
            <a:ext cx="88900" cy="889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7700" y="787400"/>
            <a:ext cx="762000" cy="177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5F6368"/>
                </a:solidFill>
                <a:latin typeface="Roboto"/>
              </a:rPr>
              <a:t>Done</a:t>
            </a:r>
          </a:p>
        </p:txBody>
      </p:sp>
      <p:sp>
        <p:nvSpPr>
          <p:cNvPr id="15" name="Oval 14"/>
          <p:cNvSpPr/>
          <p:nvPr/>
        </p:nvSpPr>
        <p:spPr>
          <a:xfrm>
            <a:off x="9982200" y="831850"/>
            <a:ext cx="88900" cy="8890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21900" y="787400"/>
            <a:ext cx="762000" cy="177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5F6368"/>
                </a:solidFill>
                <a:latin typeface="Roboto"/>
              </a:rPr>
              <a:t>In progress</a:t>
            </a:r>
          </a:p>
        </p:txBody>
      </p:sp>
      <p:sp>
        <p:nvSpPr>
          <p:cNvPr id="17" name="Oval 16"/>
          <p:cNvSpPr/>
          <p:nvPr/>
        </p:nvSpPr>
        <p:spPr>
          <a:xfrm>
            <a:off x="10966450" y="83185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6150" y="787400"/>
            <a:ext cx="762000" cy="177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1">
                <a:solidFill>
                  <a:srgbClr val="5F6368"/>
                </a:solidFill>
                <a:latin typeface="Roboto"/>
              </a:rPr>
              <a:t>Planned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587500"/>
            <a:ext cx="11277600" cy="190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750" y="1320800"/>
            <a:ext cx="1524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37333"/>
                </a:solidFill>
                <a:latin typeface="Roboto"/>
              </a:rPr>
              <a:t>Oct 2026</a:t>
            </a:r>
          </a:p>
        </p:txBody>
      </p:sp>
      <p:sp>
        <p:nvSpPr>
          <p:cNvPr id="21" name="Oval 20"/>
          <p:cNvSpPr/>
          <p:nvPr/>
        </p:nvSpPr>
        <p:spPr>
          <a:xfrm>
            <a:off x="1727200" y="1511300"/>
            <a:ext cx="165100" cy="1651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65300" y="1549400"/>
            <a:ext cx="88900" cy="889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5250" y="1320800"/>
            <a:ext cx="1524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A73E8"/>
                </a:solidFill>
                <a:latin typeface="Roboto"/>
              </a:rPr>
              <a:t>Nov 2026</a:t>
            </a:r>
          </a:p>
        </p:txBody>
      </p:sp>
      <p:sp>
        <p:nvSpPr>
          <p:cNvPr id="24" name="Oval 23"/>
          <p:cNvSpPr/>
          <p:nvPr/>
        </p:nvSpPr>
        <p:spPr>
          <a:xfrm>
            <a:off x="4584700" y="1511300"/>
            <a:ext cx="165100" cy="1651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22800" y="1549400"/>
            <a:ext cx="88900" cy="889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2750" y="1320800"/>
            <a:ext cx="1524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B06000"/>
                </a:solidFill>
                <a:latin typeface="Roboto"/>
              </a:rPr>
              <a:t>Dec 2026</a:t>
            </a:r>
          </a:p>
        </p:txBody>
      </p:sp>
      <p:sp>
        <p:nvSpPr>
          <p:cNvPr id="27" name="Oval 26"/>
          <p:cNvSpPr/>
          <p:nvPr/>
        </p:nvSpPr>
        <p:spPr>
          <a:xfrm>
            <a:off x="7442200" y="1511300"/>
            <a:ext cx="165100" cy="1651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80300" y="1549400"/>
            <a:ext cx="88900" cy="88900"/>
          </a:xfrm>
          <a:prstGeom prst="ellipse">
            <a:avLst/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20250" y="1320800"/>
            <a:ext cx="1524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C5221F"/>
                </a:solidFill>
                <a:latin typeface="Roboto"/>
              </a:rPr>
              <a:t>2027</a:t>
            </a:r>
          </a:p>
        </p:txBody>
      </p:sp>
      <p:sp>
        <p:nvSpPr>
          <p:cNvPr id="30" name="Oval 29"/>
          <p:cNvSpPr/>
          <p:nvPr/>
        </p:nvSpPr>
        <p:spPr>
          <a:xfrm>
            <a:off x="10299700" y="1511300"/>
            <a:ext cx="165100" cy="1651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5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7800" y="1549400"/>
            <a:ext cx="88900" cy="8890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1790700"/>
            <a:ext cx="2705100" cy="3733800"/>
          </a:xfrm>
          <a:prstGeom prst="roundRect">
            <a:avLst>
              <a:gd name="adj" fmla="val 375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1790700"/>
            <a:ext cx="2705100" cy="381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000" y="1955800"/>
            <a:ext cx="664210" cy="1778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37333"/>
                </a:solidFill>
                <a:latin typeface="Roboto"/>
              </a:rPr>
              <a:t>NOW · 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2197100"/>
            <a:ext cx="23495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Roboto"/>
              </a:rPr>
              <a:t>Foundation hardened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2413000"/>
            <a:ext cx="2349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All P0 findings resolved in code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2616200"/>
            <a:ext cx="23495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5000" y="2743200"/>
            <a:ext cx="88900" cy="889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" y="27178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Zero-trust identity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" y="28638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IAP JWT verified end to end; owner-only ticket access</a:t>
            </a:r>
          </a:p>
        </p:txBody>
      </p:sp>
      <p:sp>
        <p:nvSpPr>
          <p:cNvPr id="41" name="Oval 40"/>
          <p:cNvSpPr/>
          <p:nvPr/>
        </p:nvSpPr>
        <p:spPr>
          <a:xfrm>
            <a:off x="635000" y="3200400"/>
            <a:ext cx="88900" cy="889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" y="31750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Fail-closed routing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" y="33210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Schema-validated sentiment; unknown labels escalate</a:t>
            </a:r>
          </a:p>
        </p:txBody>
      </p:sp>
      <p:sp>
        <p:nvSpPr>
          <p:cNvPr id="44" name="Oval 43"/>
          <p:cNvSpPr/>
          <p:nvPr/>
        </p:nvSpPr>
        <p:spPr>
          <a:xfrm>
            <a:off x="635000" y="3657600"/>
            <a:ext cx="88900" cy="889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" y="36322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Production-safe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" y="37782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Fail-fast Cloud SQL config, no silent SQLite fallback</a:t>
            </a:r>
          </a:p>
        </p:txBody>
      </p:sp>
      <p:sp>
        <p:nvSpPr>
          <p:cNvPr id="47" name="Oval 46"/>
          <p:cNvSpPr/>
          <p:nvPr/>
        </p:nvSpPr>
        <p:spPr>
          <a:xfrm>
            <a:off x="635000" y="4114800"/>
            <a:ext cx="88900" cy="889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" y="40894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Human handoff rule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" y="42354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Escalated tickets are queued for people, not the LLM</a:t>
            </a:r>
          </a:p>
        </p:txBody>
      </p:sp>
      <p:sp>
        <p:nvSpPr>
          <p:cNvPr id="50" name="Oval 49"/>
          <p:cNvSpPr/>
          <p:nvPr/>
        </p:nvSpPr>
        <p:spPr>
          <a:xfrm>
            <a:off x="635000" y="4572000"/>
            <a:ext cx="88900" cy="889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" y="45466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Evaluation assets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" y="46926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100-ticket golden set, rubric evaluator, 178 tests</a:t>
            </a:r>
          </a:p>
        </p:txBody>
      </p:sp>
      <p:sp>
        <p:nvSpPr>
          <p:cNvPr id="53" name="Oval 52"/>
          <p:cNvSpPr/>
          <p:nvPr/>
        </p:nvSpPr>
        <p:spPr>
          <a:xfrm>
            <a:off x="635000" y="5029200"/>
            <a:ext cx="88900" cy="8890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" y="50038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Roll-out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" y="51498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Commit, redeploy agents + backend, apply IAM script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14700" y="1790700"/>
            <a:ext cx="2705100" cy="3733800"/>
          </a:xfrm>
          <a:prstGeom prst="roundRect">
            <a:avLst>
              <a:gd name="adj" fmla="val 375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14700" y="1790700"/>
            <a:ext cx="27051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492500" y="1955800"/>
            <a:ext cx="971296" cy="1778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A73E8"/>
                </a:solidFill>
                <a:latin typeface="Roboto"/>
              </a:rPr>
              <a:t>NEXT · 1–2 WEEKS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92500" y="2197100"/>
            <a:ext cx="23495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Roboto"/>
              </a:rPr>
              <a:t>Reliability &amp; quality gates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92500" y="2413000"/>
            <a:ext cx="2349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Make every change measurable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92500" y="2616200"/>
            <a:ext cx="23495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492500" y="2743200"/>
            <a:ext cx="88900" cy="8890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0" y="27178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CI pipeline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0" y="28638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Lint → tests → eval gate → staging → smoke test</a:t>
            </a:r>
          </a:p>
        </p:txBody>
      </p:sp>
      <p:sp>
        <p:nvSpPr>
          <p:cNvPr id="65" name="Oval 64"/>
          <p:cNvSpPr/>
          <p:nvPr/>
        </p:nvSpPr>
        <p:spPr>
          <a:xfrm>
            <a:off x="3492500" y="32004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0" y="31750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First eval baseline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0" y="33210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Run the golden set against live agents; record KPIs</a:t>
            </a:r>
          </a:p>
        </p:txBody>
      </p:sp>
      <p:sp>
        <p:nvSpPr>
          <p:cNvPr id="68" name="Oval 67"/>
          <p:cNvSpPr/>
          <p:nvPr/>
        </p:nvSpPr>
        <p:spPr>
          <a:xfrm>
            <a:off x="3492500" y="36576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0" y="36322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Circuit breaker v2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0" y="37782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Per-dependency breakers; count 5xx, 429, timeouts only</a:t>
            </a:r>
          </a:p>
        </p:txBody>
      </p:sp>
      <p:sp>
        <p:nvSpPr>
          <p:cNvPr id="71" name="Oval 70"/>
          <p:cNvSpPr/>
          <p:nvPr/>
        </p:nvSpPr>
        <p:spPr>
          <a:xfrm>
            <a:off x="3492500" y="41148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0" y="40894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Timeout budget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0" y="42354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Proxy 90 s &gt; backend 75 s &gt; per call 25 s, with jitter</a:t>
            </a:r>
          </a:p>
        </p:txBody>
      </p:sp>
      <p:sp>
        <p:nvSpPr>
          <p:cNvPr id="74" name="Oval 73"/>
          <p:cNvSpPr/>
          <p:nvPr/>
        </p:nvSpPr>
        <p:spPr>
          <a:xfrm>
            <a:off x="3492500" y="45720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0" y="45466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Lower latency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0" y="46926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Sentiment + FAQ in parallel; Flash vs. Pro benchmark</a:t>
            </a:r>
          </a:p>
        </p:txBody>
      </p:sp>
      <p:sp>
        <p:nvSpPr>
          <p:cNvPr id="77" name="Oval 76"/>
          <p:cNvSpPr/>
          <p:nvPr/>
        </p:nvSpPr>
        <p:spPr>
          <a:xfrm>
            <a:off x="3492500" y="50292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0" y="50038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UI fixes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0" y="51498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Ticket-ID race on first message; escape all output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72200" y="1790700"/>
            <a:ext cx="2705100" cy="3733800"/>
          </a:xfrm>
          <a:prstGeom prst="roundRect">
            <a:avLst>
              <a:gd name="adj" fmla="val 375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72200" y="1790700"/>
            <a:ext cx="2705100" cy="38100"/>
          </a:xfrm>
          <a:prstGeom prst="rect">
            <a:avLst/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350000" y="1955800"/>
            <a:ext cx="1073658" cy="17780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B06000"/>
                </a:solidFill>
                <a:latin typeface="Roboto"/>
              </a:rPr>
              <a:t>LATER · 1–2 MONTHS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50000" y="2197100"/>
            <a:ext cx="23495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Roboto"/>
              </a:rPr>
              <a:t>Production readiness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50000" y="2413000"/>
            <a:ext cx="2349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Run it like a product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350000" y="2616200"/>
            <a:ext cx="23495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50000" y="27432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15100" y="27178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Infrastructure as code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15100" y="28638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Cloud Run, IAM, IAP, secrets in Terraform; SHA-tagged images</a:t>
            </a:r>
          </a:p>
        </p:txBody>
      </p:sp>
      <p:sp>
        <p:nvSpPr>
          <p:cNvPr id="89" name="Oval 88"/>
          <p:cNvSpPr/>
          <p:nvPr/>
        </p:nvSpPr>
        <p:spPr>
          <a:xfrm>
            <a:off x="6350000" y="32004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15100" y="31750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Model Armor, end to end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15100" y="33210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Prompt-injection, jailbreak and PII screening in and out</a:t>
            </a:r>
          </a:p>
        </p:txBody>
      </p:sp>
      <p:sp>
        <p:nvSpPr>
          <p:cNvPr id="92" name="Oval 91"/>
          <p:cNvSpPr/>
          <p:nvPr/>
        </p:nvSpPr>
        <p:spPr>
          <a:xfrm>
            <a:off x="6350000" y="36576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515100" y="36322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Human-agent console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15100" y="37782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Escalation queue on Pub/Sub, notifications, replies</a:t>
            </a:r>
          </a:p>
        </p:txBody>
      </p:sp>
      <p:sp>
        <p:nvSpPr>
          <p:cNvPr id="95" name="Oval 94"/>
          <p:cNvSpPr/>
          <p:nvPr/>
        </p:nvSpPr>
        <p:spPr>
          <a:xfrm>
            <a:off x="6350000" y="41148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15100" y="40894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Data model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15100" y="42354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Alembic migrations, ticket audit events, assignment</a:t>
            </a:r>
          </a:p>
        </p:txBody>
      </p:sp>
      <p:sp>
        <p:nvSpPr>
          <p:cNvPr id="98" name="Oval 97"/>
          <p:cNvSpPr/>
          <p:nvPr/>
        </p:nvSpPr>
        <p:spPr>
          <a:xfrm>
            <a:off x="6350000" y="45720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15100" y="45466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Corpus curation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15100" y="46926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Drop low-information replies; scope answers to one brand</a:t>
            </a:r>
          </a:p>
        </p:txBody>
      </p:sp>
      <p:sp>
        <p:nvSpPr>
          <p:cNvPr id="101" name="Oval 100"/>
          <p:cNvSpPr/>
          <p:nvPr/>
        </p:nvSpPr>
        <p:spPr>
          <a:xfrm>
            <a:off x="6350000" y="50292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515100" y="50038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Hardened data tier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15100" y="51498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Private IP, backups + PITR, HA Cloud SQL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029700" y="1790700"/>
            <a:ext cx="2705100" cy="3733800"/>
          </a:xfrm>
          <a:prstGeom prst="roundRect">
            <a:avLst>
              <a:gd name="adj" fmla="val 375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0" y="1790700"/>
            <a:ext cx="2705100" cy="381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207500" y="1955800"/>
            <a:ext cx="920115" cy="1778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C5221F"/>
                </a:solidFill>
                <a:latin typeface="Roboto"/>
              </a:rPr>
              <a:t>FUTURE · VISION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207500" y="2197100"/>
            <a:ext cx="23495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Roboto"/>
              </a:rPr>
              <a:t>Beyond FAQ answers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07500" y="2413000"/>
            <a:ext cx="23495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Roboto"/>
              </a:rPr>
              <a:t>From answering to resolving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207500" y="2616200"/>
            <a:ext cx="23495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207500" y="27432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372600" y="27178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Streaming answers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72600" y="28638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Token streaming to the UI; conversation restore</a:t>
            </a:r>
          </a:p>
        </p:txBody>
      </p:sp>
      <p:sp>
        <p:nvSpPr>
          <p:cNvPr id="113" name="Oval 112"/>
          <p:cNvSpPr/>
          <p:nvPr/>
        </p:nvSpPr>
        <p:spPr>
          <a:xfrm>
            <a:off x="9207500" y="32004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72600" y="31750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Agentic actions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72600" y="33210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Order lookup, refunds, returns through approved tools</a:t>
            </a:r>
          </a:p>
        </p:txBody>
      </p:sp>
      <p:sp>
        <p:nvSpPr>
          <p:cNvPr id="116" name="Oval 115"/>
          <p:cNvSpPr/>
          <p:nvPr/>
        </p:nvSpPr>
        <p:spPr>
          <a:xfrm>
            <a:off x="9207500" y="36576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372600" y="36322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Agent assist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372600" y="37782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Draft replies and summaries for human specialists</a:t>
            </a:r>
          </a:p>
        </p:txBody>
      </p:sp>
      <p:sp>
        <p:nvSpPr>
          <p:cNvPr id="119" name="Oval 118"/>
          <p:cNvSpPr/>
          <p:nvPr/>
        </p:nvSpPr>
        <p:spPr>
          <a:xfrm>
            <a:off x="9207500" y="41148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372600" y="40894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Self-improving evals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72600" y="42354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Production failures flow back into the golden set</a:t>
            </a:r>
          </a:p>
        </p:txBody>
      </p:sp>
      <p:sp>
        <p:nvSpPr>
          <p:cNvPr id="122" name="Oval 121"/>
          <p:cNvSpPr/>
          <p:nvPr/>
        </p:nvSpPr>
        <p:spPr>
          <a:xfrm>
            <a:off x="9207500" y="45720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372600" y="45466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Multilingual, multi-brand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72600" y="46926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Per-brand corpora and language-aware routing</a:t>
            </a:r>
          </a:p>
        </p:txBody>
      </p:sp>
      <p:sp>
        <p:nvSpPr>
          <p:cNvPr id="125" name="Oval 124"/>
          <p:cNvSpPr/>
          <p:nvPr/>
        </p:nvSpPr>
        <p:spPr>
          <a:xfrm>
            <a:off x="9207500" y="5029200"/>
            <a:ext cx="88900" cy="88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372600" y="5003800"/>
            <a:ext cx="2184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202124"/>
                </a:solidFill>
                <a:latin typeface="Roboto"/>
              </a:rPr>
              <a:t>Enterprise distribution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372600" y="5149850"/>
            <a:ext cx="2184400" cy="241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Publish agents to Gemini Enterprise / Agent Registry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7200" y="5651500"/>
            <a:ext cx="11277600" cy="825500"/>
          </a:xfrm>
          <a:prstGeom prst="roundRect">
            <a:avLst>
              <a:gd name="adj" fmla="val 10769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35000" y="5842000"/>
            <a:ext cx="20320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Roboto"/>
              </a:rPr>
              <a:t>What success looks like</a:t>
            </a:r>
          </a:p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Targets from the TDD and evaluation plan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540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667000" y="5816600"/>
            <a:ext cx="1930400" cy="254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Roboto Mono"/>
              </a:rPr>
              <a:t>100%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67000" y="6096000"/>
            <a:ext cx="193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202124"/>
                </a:solidFill>
                <a:latin typeface="Roboto"/>
              </a:rPr>
              <a:t>of releases gated by CI + golden set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826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953000" y="5816600"/>
            <a:ext cx="1930400" cy="254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Roboto Mono"/>
              </a:rPr>
              <a:t>≥ 95%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953000" y="6096000"/>
            <a:ext cx="193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202124"/>
                </a:solidFill>
                <a:latin typeface="Roboto"/>
              </a:rPr>
              <a:t>routing accuracy (TDD north star)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112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39000" y="5816600"/>
            <a:ext cx="1930400" cy="254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Roboto Mono"/>
              </a:rPr>
              <a:t>≥ 85%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239000" y="6096000"/>
            <a:ext cx="193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202124"/>
                </a:solidFill>
                <a:latin typeface="Roboto"/>
              </a:rPr>
              <a:t>grounding recall on FAQ answers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398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525000" y="5816600"/>
            <a:ext cx="1930400" cy="254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Roboto Mono"/>
              </a:rPr>
              <a:t>≤ 3.0 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525000" y="6096000"/>
            <a:ext cx="193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202124"/>
                </a:solidFill>
                <a:latin typeface="Roboto"/>
              </a:rPr>
              <a:t>P95 end-to-end latency (proposed)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69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6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26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Roboto"/>
              </a:rPr>
              <a:t>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400"/>
            <a:ext cx="8890000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02124"/>
                </a:solidFill>
                <a:latin typeface="Roboto"/>
              </a:rPr>
              <a:t>AI-Driven </a:t>
            </a:r>
            <a:r>
              <a:rPr sz="2500" b="1">
                <a:solidFill>
                  <a:srgbClr val="1A73E8"/>
                </a:solidFill>
                <a:latin typeface="Roboto"/>
              </a:rPr>
              <a:t>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66800"/>
            <a:ext cx="825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Roboto"/>
              </a:rPr>
              <a:t>Agents take the repetitive work at every stage; engineers set direction, review and approve.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604000"/>
            <a:ext cx="112776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54800"/>
            <a:ext cx="508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5" b="0">
                <a:solidFill>
                  <a:srgbClr val="5F6368"/>
                </a:solidFill>
                <a:latin typeface="Roboto"/>
              </a:rPr>
              <a:t>FDE Support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4800" y="6654800"/>
            <a:ext cx="127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75" b="0">
                <a:solidFill>
                  <a:srgbClr val="5F6368"/>
                </a:solidFill>
                <a:latin typeface="Roboto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83800" y="749300"/>
            <a:ext cx="1651000" cy="2413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1A73E8"/>
                </a:solidFill>
                <a:latin typeface="Roboto"/>
              </a:rPr>
              <a:t>Agents propose · people approve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302000" cy="4127500"/>
          </a:xfrm>
          <a:prstGeom prst="roundRect">
            <a:avLst>
              <a:gd name="adj" fmla="val 307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000" y="1524000"/>
            <a:ext cx="715391" cy="1778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137333"/>
                </a:solidFill>
                <a:latin typeface="Roboto"/>
              </a:rPr>
              <a:t>PROVEN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1765300"/>
            <a:ext cx="2946400" cy="215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2124"/>
                </a:solidFill>
                <a:latin typeface="Roboto"/>
              </a:rPr>
              <a:t>Already AI-assisted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2006600"/>
            <a:ext cx="2946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75" b="0">
                <a:solidFill>
                  <a:srgbClr val="5F6368"/>
                </a:solidFill>
                <a:latin typeface="Roboto"/>
              </a:rPr>
              <a:t>What agents have delivered on this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2260600"/>
            <a:ext cx="8255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37333"/>
                </a:solidFill>
                <a:latin typeface="Roboto Mono"/>
              </a:rP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" y="2298700"/>
            <a:ext cx="2057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Roboto"/>
              </a:rPr>
              <a:t>Review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" y="2463800"/>
            <a:ext cx="2057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P0–P3 system analysis; all P0 fixed in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2743200"/>
            <a:ext cx="29464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2794000"/>
            <a:ext cx="8255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37333"/>
                </a:solidFill>
                <a:latin typeface="Roboto Mono"/>
              </a:rPr>
              <a:t>178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" y="2832100"/>
            <a:ext cx="2057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Roboto"/>
              </a:rPr>
              <a:t>Unit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" y="2997200"/>
            <a:ext cx="2057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Auth, resilience, DB config, agent clients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3276600"/>
            <a:ext cx="29464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3327400"/>
            <a:ext cx="8255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37333"/>
                </a:solidFill>
                <a:latin typeface="Roboto Mono"/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" y="3365500"/>
            <a:ext cx="2057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Roboto"/>
              </a:rPr>
              <a:t>Golden-set tickets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" y="3530600"/>
            <a:ext cx="2057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Plus a rubric evaluator and KPI targets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3810000"/>
            <a:ext cx="29464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3860800"/>
            <a:ext cx="8255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37333"/>
                </a:solidFill>
                <a:latin typeface="Roboto Mon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" y="3898900"/>
            <a:ext cx="2057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02124"/>
                </a:solidFill>
                <a:latin typeface="Roboto"/>
              </a:rPr>
              <a:t>Slides as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" y="4064000"/>
            <a:ext cx="20574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This deck, generated with python-pptx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000" y="4660900"/>
            <a:ext cx="2946400" cy="660400"/>
          </a:xfrm>
          <a:prstGeom prst="roundRect">
            <a:avLst>
              <a:gd name="adj" fmla="val 9615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300" y="4737100"/>
            <a:ext cx="27178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37333"/>
                </a:solidFill>
                <a:latin typeface="Roboto"/>
              </a:rPr>
              <a:t>Earlier build work</a:t>
            </a:r>
          </a:p>
          <a:p>
            <a:pPr algn="l"/>
            <a:r>
              <a:rPr sz="725" b="0">
                <a:solidFill>
                  <a:srgbClr val="202124"/>
                </a:solidFill>
                <a:latin typeface="Roboto"/>
              </a:rPr>
              <a:t>OpenTelemetry spans, Dockerfiles and Cloud Build pipelines were AI-generated (PRESENTATION.md)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1600" y="1371600"/>
            <a:ext cx="2523067" cy="2000250"/>
          </a:xfrm>
          <a:prstGeom prst="roundRect">
            <a:avLst>
              <a:gd name="adj" fmla="val 5079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64000" y="1524000"/>
            <a:ext cx="228600" cy="2286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1500" y="1524000"/>
            <a:ext cx="1900767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02124"/>
                </a:solidFill>
                <a:latin typeface="Roboto"/>
              </a:rPr>
              <a:t>Plan &amp; design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4000" y="1866900"/>
            <a:ext cx="2218267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73E8"/>
                </a:solidFill>
                <a:latin typeface="Roboto"/>
              </a:rPr>
              <a:t>AGENT DOES</a:t>
            </a:r>
          </a:p>
        </p:txBody>
      </p:sp>
      <p:sp>
        <p:nvSpPr>
          <p:cNvPr id="39" name="Oval 38"/>
          <p:cNvSpPr/>
          <p:nvPr/>
        </p:nvSpPr>
        <p:spPr>
          <a:xfrm>
            <a:off x="4076700" y="2082800"/>
            <a:ext cx="50800" cy="508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3700" y="203200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Draft TDDs, ADRs and plans from scoping docs</a:t>
            </a:r>
          </a:p>
        </p:txBody>
      </p:sp>
      <p:sp>
        <p:nvSpPr>
          <p:cNvPr id="41" name="Oval 40"/>
          <p:cNvSpPr/>
          <p:nvPr/>
        </p:nvSpPr>
        <p:spPr>
          <a:xfrm>
            <a:off x="4076700" y="2463800"/>
            <a:ext cx="50800" cy="508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3700" y="241300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Turn review findings into scoped tickets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4000" y="2927350"/>
            <a:ext cx="2218267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4000" y="3028950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1">
                <a:solidFill>
                  <a:srgbClr val="5F6368"/>
                </a:solidFill>
                <a:latin typeface="Roboto"/>
              </a:rPr>
              <a:t>HUMAN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7700" y="3028950"/>
            <a:ext cx="1067329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02124"/>
                </a:solidFill>
                <a:latin typeface="Roboto"/>
              </a:rPr>
              <a:t>Approves the plan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88529" y="3041650"/>
            <a:ext cx="693738" cy="1651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1A73E8"/>
                </a:solidFill>
                <a:latin typeface="Roboto"/>
              </a:rPr>
              <a:t>Antigravity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61667" y="1371600"/>
            <a:ext cx="2523067" cy="2000250"/>
          </a:xfrm>
          <a:prstGeom prst="roundRect">
            <a:avLst>
              <a:gd name="adj" fmla="val 5079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14067" y="1524000"/>
            <a:ext cx="228600" cy="22860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1567" y="1524000"/>
            <a:ext cx="1900767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02124"/>
                </a:solidFill>
                <a:latin typeface="Roboto"/>
              </a:rPr>
              <a:t>Build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14067" y="1866900"/>
            <a:ext cx="2218267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C5221F"/>
                </a:solidFill>
                <a:latin typeface="Roboto"/>
              </a:rPr>
              <a:t>AGENT DOES</a:t>
            </a:r>
          </a:p>
        </p:txBody>
      </p:sp>
      <p:sp>
        <p:nvSpPr>
          <p:cNvPr id="51" name="Oval 50"/>
          <p:cNvSpPr/>
          <p:nvPr/>
        </p:nvSpPr>
        <p:spPr>
          <a:xfrm>
            <a:off x="6726767" y="2082800"/>
            <a:ext cx="50800" cy="5080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3767" y="203200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Parallel agents implement tickets on isolated branches</a:t>
            </a:r>
          </a:p>
        </p:txBody>
      </p:sp>
      <p:sp>
        <p:nvSpPr>
          <p:cNvPr id="53" name="Oval 52"/>
          <p:cNvSpPr/>
          <p:nvPr/>
        </p:nvSpPr>
        <p:spPr>
          <a:xfrm>
            <a:off x="6726767" y="2463800"/>
            <a:ext cx="50800" cy="5080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3767" y="241300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Scaffold ADK agents, tools and Terraform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14067" y="2927350"/>
            <a:ext cx="2218267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14067" y="3028950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1">
                <a:solidFill>
                  <a:srgbClr val="5F6368"/>
                </a:solidFill>
                <a:latin typeface="Roboto"/>
              </a:rPr>
              <a:t>HUMAN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07767" y="3028950"/>
            <a:ext cx="1116542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02124"/>
                </a:solidFill>
                <a:latin typeface="Roboto"/>
              </a:rPr>
              <a:t>Reviews the PR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87808" y="3041650"/>
            <a:ext cx="644525" cy="1651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C5221F"/>
                </a:solidFill>
                <a:latin typeface="Roboto"/>
              </a:rPr>
              <a:t>agents-cli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11733" y="1371600"/>
            <a:ext cx="2523067" cy="2000250"/>
          </a:xfrm>
          <a:prstGeom prst="roundRect">
            <a:avLst>
              <a:gd name="adj" fmla="val 5079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364133" y="1524000"/>
            <a:ext cx="228600" cy="228600"/>
          </a:xfrm>
          <a:prstGeom prst="ellipse">
            <a:avLst/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81633" y="1524000"/>
            <a:ext cx="1900767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02124"/>
                </a:solidFill>
                <a:latin typeface="Roboto"/>
              </a:rPr>
              <a:t>Review &amp; secure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64133" y="1866900"/>
            <a:ext cx="2218267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B06000"/>
                </a:solidFill>
                <a:latin typeface="Roboto"/>
              </a:rPr>
              <a:t>AGENT DOES</a:t>
            </a:r>
          </a:p>
        </p:txBody>
      </p:sp>
      <p:sp>
        <p:nvSpPr>
          <p:cNvPr id="63" name="Oval 62"/>
          <p:cNvSpPr/>
          <p:nvPr/>
        </p:nvSpPr>
        <p:spPr>
          <a:xfrm>
            <a:off x="9376833" y="2082800"/>
            <a:ext cx="50800" cy="50800"/>
          </a:xfrm>
          <a:prstGeom prst="ellipse">
            <a:avLst/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3833" y="203200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AI code review on every pull request</a:t>
            </a:r>
          </a:p>
        </p:txBody>
      </p:sp>
      <p:sp>
        <p:nvSpPr>
          <p:cNvPr id="65" name="Oval 64"/>
          <p:cNvSpPr/>
          <p:nvPr/>
        </p:nvSpPr>
        <p:spPr>
          <a:xfrm>
            <a:off x="9376833" y="2463800"/>
            <a:ext cx="50800" cy="50800"/>
          </a:xfrm>
          <a:prstGeom prst="ellipse">
            <a:avLst/>
          </a:prstGeom>
          <a:solidFill>
            <a:srgbClr val="B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3833" y="241300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Security and dependency scans before merge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64133" y="2927350"/>
            <a:ext cx="2218267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64133" y="3028950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1">
                <a:solidFill>
                  <a:srgbClr val="5F6368"/>
                </a:solidFill>
                <a:latin typeface="Roboto"/>
              </a:rPr>
              <a:t>HUMAN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57833" y="3028950"/>
            <a:ext cx="1067329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02124"/>
                </a:solidFill>
                <a:latin typeface="Roboto"/>
              </a:rPr>
              <a:t>Signs off on risk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888662" y="3041650"/>
            <a:ext cx="693738" cy="16510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B06000"/>
                </a:solidFill>
                <a:latin typeface="Roboto"/>
              </a:rPr>
              <a:t>SecureCoder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11600" y="3498850"/>
            <a:ext cx="2523067" cy="2000250"/>
          </a:xfrm>
          <a:prstGeom prst="roundRect">
            <a:avLst>
              <a:gd name="adj" fmla="val 5079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064000" y="3651250"/>
            <a:ext cx="228600" cy="2286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500" y="3651250"/>
            <a:ext cx="1900767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02124"/>
                </a:solidFill>
                <a:latin typeface="Roboto"/>
              </a:rPr>
              <a:t>Test &amp; evaluate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64000" y="3994150"/>
            <a:ext cx="2218267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37333"/>
                </a:solidFill>
                <a:latin typeface="Roboto"/>
              </a:rPr>
              <a:t>AGENT DOES</a:t>
            </a:r>
          </a:p>
        </p:txBody>
      </p:sp>
      <p:sp>
        <p:nvSpPr>
          <p:cNvPr id="75" name="Oval 74"/>
          <p:cNvSpPr/>
          <p:nvPr/>
        </p:nvSpPr>
        <p:spPr>
          <a:xfrm>
            <a:off x="4076700" y="4210050"/>
            <a:ext cx="50800" cy="508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03700" y="415925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Generate unit tests and new golden-set cases</a:t>
            </a:r>
          </a:p>
        </p:txBody>
      </p:sp>
      <p:sp>
        <p:nvSpPr>
          <p:cNvPr id="77" name="Oval 76"/>
          <p:cNvSpPr/>
          <p:nvPr/>
        </p:nvSpPr>
        <p:spPr>
          <a:xfrm>
            <a:off x="4076700" y="4591050"/>
            <a:ext cx="50800" cy="50800"/>
          </a:xfrm>
          <a:prstGeom prst="ellipse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03700" y="454025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LLM judges score answers every night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64000" y="5054600"/>
            <a:ext cx="2218267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64000" y="5156200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1">
                <a:solidFill>
                  <a:srgbClr val="5F6368"/>
                </a:solidFill>
                <a:latin typeface="Roboto"/>
              </a:rPr>
              <a:t>HUMAN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57700" y="5156200"/>
            <a:ext cx="919692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02124"/>
                </a:solidFill>
                <a:latin typeface="Roboto"/>
              </a:rPr>
              <a:t>Owns KPI targets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440892" y="5168900"/>
            <a:ext cx="841375" cy="1651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137333"/>
                </a:solidFill>
                <a:latin typeface="Roboto"/>
              </a:rPr>
              <a:t>Vertex AI eval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561667" y="3498850"/>
            <a:ext cx="2523067" cy="2000250"/>
          </a:xfrm>
          <a:prstGeom prst="roundRect">
            <a:avLst>
              <a:gd name="adj" fmla="val 5079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714067" y="3651250"/>
            <a:ext cx="228600" cy="2286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31567" y="3651250"/>
            <a:ext cx="1900767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02124"/>
                </a:solidFill>
                <a:latin typeface="Roboto"/>
              </a:rPr>
              <a:t>Deploy &amp; operate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14067" y="3994150"/>
            <a:ext cx="2218267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73E8"/>
                </a:solidFill>
                <a:latin typeface="Roboto"/>
              </a:rPr>
              <a:t>AGENT DOES</a:t>
            </a:r>
          </a:p>
        </p:txBody>
      </p:sp>
      <p:sp>
        <p:nvSpPr>
          <p:cNvPr id="87" name="Oval 86"/>
          <p:cNvSpPr/>
          <p:nvPr/>
        </p:nvSpPr>
        <p:spPr>
          <a:xfrm>
            <a:off x="6726767" y="4210050"/>
            <a:ext cx="50800" cy="508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53767" y="415925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Triage incidents from traces and logs</a:t>
            </a:r>
          </a:p>
        </p:txBody>
      </p:sp>
      <p:sp>
        <p:nvSpPr>
          <p:cNvPr id="89" name="Oval 88"/>
          <p:cNvSpPr/>
          <p:nvPr/>
        </p:nvSpPr>
        <p:spPr>
          <a:xfrm>
            <a:off x="6726767" y="4591050"/>
            <a:ext cx="50800" cy="508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53767" y="454025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Propose fixes, rollbacks and runbooks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14067" y="5054600"/>
            <a:ext cx="2218267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14067" y="5156200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1">
                <a:solidFill>
                  <a:srgbClr val="5F6368"/>
                </a:solidFill>
                <a:latin typeface="Roboto"/>
              </a:rPr>
              <a:t>HUMAN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07767" y="5156200"/>
            <a:ext cx="1067329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02124"/>
                </a:solidFill>
                <a:latin typeface="Roboto"/>
              </a:rPr>
              <a:t>Approves deploys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38596" y="5168900"/>
            <a:ext cx="693738" cy="1651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1A73E8"/>
                </a:solidFill>
                <a:latin typeface="Roboto"/>
              </a:rPr>
              <a:t>Cloud Trace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211733" y="3498850"/>
            <a:ext cx="2523067" cy="2000250"/>
          </a:xfrm>
          <a:prstGeom prst="roundRect">
            <a:avLst>
              <a:gd name="adj" fmla="val 5079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364133" y="3651250"/>
            <a:ext cx="228600" cy="22860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81633" y="3651250"/>
            <a:ext cx="1900767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02124"/>
                </a:solidFill>
                <a:latin typeface="Roboto"/>
              </a:rPr>
              <a:t>Optimise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64133" y="3994150"/>
            <a:ext cx="2218267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C5221F"/>
                </a:solidFill>
                <a:latin typeface="Roboto"/>
              </a:rPr>
              <a:t>AGENT DOES</a:t>
            </a:r>
          </a:p>
        </p:txBody>
      </p:sp>
      <p:sp>
        <p:nvSpPr>
          <p:cNvPr id="99" name="Oval 98"/>
          <p:cNvSpPr/>
          <p:nvPr/>
        </p:nvSpPr>
        <p:spPr>
          <a:xfrm>
            <a:off x="9376833" y="4210050"/>
            <a:ext cx="50800" cy="5080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503833" y="415925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Tune prompts and models against the eval set</a:t>
            </a:r>
          </a:p>
        </p:txBody>
      </p:sp>
      <p:sp>
        <p:nvSpPr>
          <p:cNvPr id="101" name="Oval 100"/>
          <p:cNvSpPr/>
          <p:nvPr/>
        </p:nvSpPr>
        <p:spPr>
          <a:xfrm>
            <a:off x="9376833" y="4591050"/>
            <a:ext cx="50800" cy="5080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503833" y="4540250"/>
            <a:ext cx="2078567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202124"/>
                </a:solidFill>
                <a:latin typeface="Roboto"/>
              </a:rPr>
              <a:t>Find cost and latency savings each release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364133" y="5054600"/>
            <a:ext cx="2218267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64133" y="5156200"/>
            <a:ext cx="3810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1">
                <a:solidFill>
                  <a:srgbClr val="5F6368"/>
                </a:solidFill>
                <a:latin typeface="Roboto"/>
              </a:rPr>
              <a:t>HUMAN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57833" y="5156200"/>
            <a:ext cx="870479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202124"/>
                </a:solidFill>
                <a:latin typeface="Roboto"/>
              </a:rPr>
              <a:t>Picks trade-offs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691812" y="5168900"/>
            <a:ext cx="890588" cy="1651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25" b="1">
                <a:solidFill>
                  <a:srgbClr val="C5221F"/>
                </a:solidFill>
                <a:latin typeface="Roboto"/>
              </a:rPr>
              <a:t>agents-cli eval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57200" y="5651500"/>
            <a:ext cx="11277600" cy="825500"/>
          </a:xfrm>
          <a:prstGeom prst="roundRect">
            <a:avLst>
              <a:gd name="adj" fmla="val 10769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000" y="5842000"/>
            <a:ext cx="18415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Roboto"/>
              </a:rPr>
              <a:t>Guardrails</a:t>
            </a:r>
          </a:p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Humans stay in the loop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540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667000" y="5842000"/>
            <a:ext cx="19304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06000"/>
                </a:solidFill>
                <a:latin typeface="Roboto"/>
              </a:rPr>
              <a:t>Gated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667000" y="6019800"/>
            <a:ext cx="193040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202124"/>
                </a:solidFill>
                <a:latin typeface="Roboto"/>
              </a:rPr>
              <a:t>Every agent change passes PR review, CI and the eval gate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826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953000" y="5842000"/>
            <a:ext cx="19304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06000"/>
                </a:solidFill>
                <a:latin typeface="Roboto"/>
              </a:rPr>
              <a:t>Least privilege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53000" y="6019800"/>
            <a:ext cx="193040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202124"/>
                </a:solidFill>
                <a:latin typeface="Roboto"/>
              </a:rPr>
              <a:t>Scoped agent credentials; no production secrets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112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239000" y="5842000"/>
            <a:ext cx="19304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06000"/>
                </a:solidFill>
                <a:latin typeface="Roboto"/>
              </a:rPr>
              <a:t>Traceable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239000" y="6019800"/>
            <a:ext cx="193040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202124"/>
                </a:solidFill>
                <a:latin typeface="Roboto"/>
              </a:rPr>
              <a:t>Plans, prompts and diffs kept with each change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398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525000" y="5842000"/>
            <a:ext cx="19304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06000"/>
                </a:solidFill>
                <a:latin typeface="Roboto"/>
              </a:rPr>
              <a:t>Measured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25000" y="6019800"/>
            <a:ext cx="1930400" cy="29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202124"/>
                </a:solidFill>
                <a:latin typeface="Roboto"/>
              </a:rPr>
              <a:t>Track lead time, change-failure rate and eval KPIs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69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6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355600"/>
            <a:ext cx="114300" cy="381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26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6368"/>
                </a:solidFill>
                <a:latin typeface="Roboto"/>
              </a:rPr>
              <a:t>GOVERNANCE &amp; 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0400"/>
            <a:ext cx="8890000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02124"/>
                </a:solidFill>
                <a:latin typeface="Roboto"/>
              </a:rPr>
              <a:t>Security, Compliance &amp; </a:t>
            </a:r>
            <a:r>
              <a:rPr sz="2500" b="1">
                <a:solidFill>
                  <a:srgbClr val="1A73E8"/>
                </a:solidFill>
                <a:latin typeface="Roboto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66800"/>
            <a:ext cx="8255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F6368"/>
                </a:solidFill>
                <a:latin typeface="Roboto"/>
              </a:rPr>
              <a:t>Zero-trust network perimeter, real-time PII redaction, and self-healing fault tolerance.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604000"/>
            <a:ext cx="112776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54800"/>
            <a:ext cx="508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75" b="0">
                <a:solidFill>
                  <a:srgbClr val="5F6368"/>
                </a:solidFill>
                <a:latin typeface="Roboto"/>
              </a:rPr>
              <a:t>FDE Support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4800" y="6654800"/>
            <a:ext cx="127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75" b="0">
                <a:solidFill>
                  <a:srgbClr val="5F6368"/>
                </a:solidFill>
                <a:latin typeface="Roboto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15500" y="749300"/>
            <a:ext cx="2019300" cy="2413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C5221F"/>
                </a:solidFill>
                <a:latin typeface="Roboto"/>
              </a:rPr>
              <a:t>Zero-Trust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3657600" cy="4127500"/>
          </a:xfrm>
          <a:prstGeom prst="roundRect">
            <a:avLst>
              <a:gd name="adj" fmla="val 2777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371600"/>
            <a:ext cx="36576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" y="1524000"/>
            <a:ext cx="1002792" cy="1778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1A73E8"/>
                </a:solidFill>
                <a:latin typeface="Roboto"/>
              </a:rPr>
              <a:t>ZERO-TRUST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765300"/>
            <a:ext cx="33528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Roboto"/>
              </a:rPr>
              <a:t>Identity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981200"/>
            <a:ext cx="33528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End-to-end cryptographic verification and perimeter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184400"/>
            <a:ext cx="33528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600" y="2273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9600" y="2362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77692" y="2349500"/>
            <a:ext cx="483108" cy="1524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1A73E8"/>
                </a:solidFill>
                <a:latin typeface="Roboto"/>
              </a:rPr>
              <a:t>IAP 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2349500"/>
            <a:ext cx="260299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IAP Cryptographic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2527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x-goog-iap-jwt-assertion verified on frontend &amp; backend; blocks identity spoofing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" y="3035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9600" y="3124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52496" y="3111500"/>
            <a:ext cx="908304" cy="1524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1A73E8"/>
                </a:solidFill>
                <a:latin typeface="Roboto"/>
              </a:rPr>
              <a:t>Tenant Isolation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3111500"/>
            <a:ext cx="2177796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Owner-Only Authorization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3289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Ticket reads, chat, and resolution restricted strictly to authenticated ticket owners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" y="3797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9600" y="3886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24936" y="3873500"/>
            <a:ext cx="435864" cy="1524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1A73E8"/>
                </a:solidFill>
                <a:latin typeface="Roboto"/>
              </a:rPr>
              <a:t>VPC-SC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900" y="3873500"/>
            <a:ext cx="2650236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VPC Service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" y="4051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Zero-trust network perimeter restricts API egress and protects cloud resources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600" y="4559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9600" y="4648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952496" y="4635500"/>
            <a:ext cx="908304" cy="1524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1A73E8"/>
                </a:solidFill>
                <a:latin typeface="Roboto"/>
              </a:rPr>
              <a:t>Service Accounts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3900" y="4635500"/>
            <a:ext cx="2177796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Least-Privilege IAM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900" y="4813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Service accounts bounded strictly to run.invoker on destination endpoints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67200" y="1371600"/>
            <a:ext cx="3657600" cy="4127500"/>
          </a:xfrm>
          <a:prstGeom prst="roundRect">
            <a:avLst>
              <a:gd name="adj" fmla="val 2777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1371600"/>
            <a:ext cx="3657600" cy="381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19600" y="1524000"/>
            <a:ext cx="1097280" cy="1778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C5221F"/>
                </a:solidFill>
                <a:latin typeface="Roboto"/>
              </a:rPr>
              <a:t>DATA PRIVACY &amp;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9600" y="1765300"/>
            <a:ext cx="33528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Roboto"/>
              </a:rPr>
              <a:t>Compliance &amp; DLP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9600" y="1981200"/>
            <a:ext cx="33528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Real-time PII redaction, fail-closed routing, and audit trails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19600" y="2184400"/>
            <a:ext cx="33528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19600" y="2273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419600" y="2362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98716" y="2349500"/>
            <a:ext cx="672084" cy="1524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C5221F"/>
                </a:solidFill>
                <a:latin typeface="Roboto"/>
              </a:rPr>
              <a:t>Model Armor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33900" y="2349500"/>
            <a:ext cx="2414016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Model Armor DLP Redaction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33900" y="2527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Ingress/egress PII sanitization (SSNs, cards with Luhn check, emails) before LLMs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19600" y="3035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419600" y="3124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762496" y="3111500"/>
            <a:ext cx="908304" cy="1524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C5221F"/>
                </a:solidFill>
                <a:latin typeface="Roboto"/>
              </a:rPr>
              <a:t>Schema Validated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33900" y="3111500"/>
            <a:ext cx="2177796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Fail-Closed Routing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33900" y="3289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Structured Pydantic schema for sentiment; invalid/malformed outputs escalate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19600" y="3797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419600" y="3886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093204" y="3873500"/>
            <a:ext cx="577596" cy="1524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C5221F"/>
                </a:solidFill>
                <a:latin typeface="Roboto"/>
              </a:rPr>
              <a:t>Cloud SQL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33900" y="3873500"/>
            <a:ext cx="2508504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Production DB Enforcement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3900" y="4051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Fail-fast config requires mounted secrets &amp; IAM connector; rejects unencrypted SQLite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19600" y="4559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419600" y="4648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40448" y="4635500"/>
            <a:ext cx="530352" cy="15240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C5221F"/>
                </a:solidFill>
                <a:latin typeface="Roboto"/>
              </a:rPr>
              <a:t>BigQuery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33900" y="4635500"/>
            <a:ext cx="2555748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Audit Trail &amp; Analytics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33900" y="4813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Cloud Logging sink to BigQuery Agent Analytics; complete audit trail with zero PII retention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77200" y="1371600"/>
            <a:ext cx="3657600" cy="4127500"/>
          </a:xfrm>
          <a:prstGeom prst="roundRect">
            <a:avLst>
              <a:gd name="adj" fmla="val 2777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77200" y="1371600"/>
            <a:ext cx="3657600" cy="38100"/>
          </a:xfrm>
          <a:prstGeom prst="rect">
            <a:avLst/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229600" y="1524000"/>
            <a:ext cx="955548" cy="1778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137333"/>
                </a:solidFill>
                <a:latin typeface="Roboto"/>
              </a:rPr>
              <a:t>HIGH AVAILABILITY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1765300"/>
            <a:ext cx="33528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124"/>
                </a:solidFill>
                <a:latin typeface="Roboto"/>
              </a:rPr>
              <a:t>Fault Tolerance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1981200"/>
            <a:ext cx="33528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Cascading failure prevention, graceful fallbacks, and budget controls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0" y="2184400"/>
            <a:ext cx="3352800" cy="6350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229600" y="2273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229600" y="2362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619740" y="2349500"/>
            <a:ext cx="861060" cy="1524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137333"/>
                </a:solidFill>
                <a:latin typeface="Roboto"/>
              </a:rPr>
              <a:t>Circuit Breaker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43900" y="234950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Circuit Breaker Isolation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43900" y="2527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Isolates downstream dependencies; trips on 3 failures / 30s with single-probe cooldown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29600" y="3035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229600" y="3124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761472" y="3111500"/>
            <a:ext cx="719328" cy="1524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137333"/>
                </a:solidFill>
                <a:latin typeface="Roboto"/>
              </a:rPr>
              <a:t>Auto Handoff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43900" y="3111500"/>
            <a:ext cx="236677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Soft-Fallback Escalation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43900" y="3289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LLM timeouts/errors gracefully route tickets to human support queue without breaking UX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29600" y="3797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229600" y="3886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572496" y="3873500"/>
            <a:ext cx="908304" cy="1524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137333"/>
                </a:solidFill>
                <a:latin typeface="Roboto"/>
              </a:rPr>
              <a:t>Backoff + Jitter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43900" y="3873500"/>
            <a:ext cx="2177796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Timeout Budgeting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43900" y="4051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Outside-in layered timeouts (Proxy 90s &gt; Backend 75s &gt; Agent 25s) with exponential retry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229600" y="4559300"/>
            <a:ext cx="3352800" cy="6858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229600" y="4648200"/>
            <a:ext cx="31750" cy="508000"/>
          </a:xfrm>
          <a:prstGeom prst="roundRect">
            <a:avLst>
              <a:gd name="adj" fmla="val 40000"/>
            </a:avLst>
          </a:prstGeom>
          <a:solidFill>
            <a:srgbClr val="13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903204" y="4635500"/>
            <a:ext cx="577596" cy="15240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137333"/>
                </a:solidFill>
                <a:latin typeface="Roboto"/>
              </a:rPr>
              <a:t>Cloud Run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43900" y="4635500"/>
            <a:ext cx="2508504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1">
                <a:solidFill>
                  <a:srgbClr val="202124"/>
                </a:solidFill>
                <a:latin typeface="Roboto"/>
              </a:rPr>
              <a:t>Stateless Auto-Scaling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43900" y="4813300"/>
            <a:ext cx="3238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F6368"/>
                </a:solidFill>
                <a:latin typeface="Roboto"/>
              </a:rPr>
              <a:t>Serverless scale-to-zero microservices with cached IAM tokens &amp; connection pooling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5651500"/>
            <a:ext cx="11277600" cy="825500"/>
          </a:xfrm>
          <a:prstGeom prst="roundRect">
            <a:avLst>
              <a:gd name="adj" fmla="val 10769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5000" y="5842000"/>
            <a:ext cx="18415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124"/>
                </a:solidFill>
                <a:latin typeface="Roboto"/>
              </a:rPr>
              <a:t>Security &amp; Compliance</a:t>
            </a:r>
          </a:p>
          <a:p>
            <a:pPr algn="l"/>
            <a:r>
              <a:rPr sz="725" b="0">
                <a:solidFill>
                  <a:srgbClr val="5F6368"/>
                </a:solidFill>
                <a:latin typeface="Roboto"/>
              </a:rPr>
              <a:t>Enterprise governance built into every layer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540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641600" y="5816600"/>
            <a:ext cx="1981200" cy="2413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Roboto Mono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41600" y="6070600"/>
            <a:ext cx="19812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202124"/>
                </a:solidFill>
                <a:latin typeface="Roboto"/>
              </a:rPr>
              <a:t>Raw PII Leaked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41600" y="6197600"/>
            <a:ext cx="19812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5" b="0">
                <a:solidFill>
                  <a:srgbClr val="5F6368"/>
                </a:solidFill>
                <a:latin typeface="Roboto"/>
              </a:rPr>
              <a:t>DLP redaction before model boundary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826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927600" y="5816600"/>
            <a:ext cx="1981200" cy="2413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Roboto Mono"/>
              </a:rPr>
              <a:t>100%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27600" y="6070600"/>
            <a:ext cx="19812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202124"/>
                </a:solidFill>
                <a:latin typeface="Roboto"/>
              </a:rPr>
              <a:t>Authenticated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27600" y="6197600"/>
            <a:ext cx="19812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5" b="0">
                <a:solidFill>
                  <a:srgbClr val="5F6368"/>
                </a:solidFill>
                <a:latin typeface="Roboto"/>
              </a:rPr>
              <a:t>IAP JWT cryptographic verification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112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13600" y="5816600"/>
            <a:ext cx="1981200" cy="2413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Roboto Mono"/>
              </a:rPr>
              <a:t>Fail-Closed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13600" y="6070600"/>
            <a:ext cx="19812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202124"/>
                </a:solidFill>
                <a:latin typeface="Roboto"/>
              </a:rPr>
              <a:t>Safe Escalation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13600" y="6197600"/>
            <a:ext cx="19812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5" b="0">
                <a:solidFill>
                  <a:srgbClr val="5F6368"/>
                </a:solidFill>
                <a:latin typeface="Roboto"/>
              </a:rPr>
              <a:t>Automatic human handoff on low confidence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398000" y="5765800"/>
            <a:ext cx="2184400" cy="5969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499600" y="5816600"/>
            <a:ext cx="1981200" cy="2413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Roboto Mono"/>
              </a:rPr>
              <a:t>&lt; 30s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99600" y="6070600"/>
            <a:ext cx="19812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>
                <a:solidFill>
                  <a:srgbClr val="202124"/>
                </a:solidFill>
                <a:latin typeface="Roboto"/>
              </a:rPr>
              <a:t>Breaker Recovery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99600" y="6197600"/>
            <a:ext cx="1981200" cy="13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5" b="0">
                <a:solidFill>
                  <a:srgbClr val="5F6368"/>
                </a:solidFill>
                <a:latin typeface="Roboto"/>
              </a:rPr>
              <a:t>Isolated probe cooldown prevents cascades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